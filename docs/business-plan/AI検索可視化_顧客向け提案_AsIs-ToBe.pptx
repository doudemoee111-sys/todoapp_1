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冒頭は「困っていることの言語化」から入る。売り込みではなく、相手がまだ気づいていない現象を先に説明する。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ここは相手に自己診断させるパート。うなずきが出た項目を覚えておき、後半の事例と結びつける。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このスライドが提案の中心。ここで「順位ではなく引用」という視点の転換を必ず言語化する。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数値の約束はここではしない。無料診断で現在地を測ってから合意する、という順番を明言する。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出典：jinrai.co.jp「GEO対策の成功事例5選」／connected-one.world「GEO対策の成功事例8選」ほか。詳細は巻末の参考資料一覧。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868680"/>
            <a:ext cx="201168" cy="201168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5039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士業事務所さま向け　ご提案書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その問い合わせ、</a:t>
            </a:r>
            <a:endParaRPr lang="en-US" sz="46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4600" b="1" dirty="0">
                <a:solidFill>
                  <a:srgbClr val="E0A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AIに奪われていませんか？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いま、見込み客の6割はGoogleで検索してもサイトを見ずに離脱しています。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答えているのはAIです。そのAIが「御社を挙げるかどうか」を、私たちが可視化して改善します。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4983480"/>
            <a:ext cx="10058400" cy="822960"/>
          </a:xfrm>
          <a:prstGeom prst="roundRect">
            <a:avLst>
              <a:gd name="adj" fmla="val 8889"/>
            </a:avLst>
          </a:prstGeom>
          <a:solidFill>
            <a:srgbClr val="212C4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498348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AI検索可視化サービス　│　まずは無料のAI可視性診断から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310896" cy="310896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24128" y="4754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WHAT'S HAPPENING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いま、検索で何が起きているか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2615184" cy="2468880"/>
          </a:xfrm>
          <a:prstGeom prst="roundRect">
            <a:avLst>
              <a:gd name="adj" fmla="val 2222"/>
            </a:avLst>
          </a:prstGeom>
          <a:solidFill>
            <a:srgbClr val="212C48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029968"/>
            <a:ext cx="21762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A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86384" y="283464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ゼロクリック率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6384" y="320040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Google検索の約6割が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サイトを見ずに終わる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1568" y="1828800"/>
            <a:ext cx="2615184" cy="2468880"/>
          </a:xfrm>
          <a:prstGeom prst="roundRect">
            <a:avLst>
              <a:gd name="adj" fmla="val 2222"/>
            </a:avLst>
          </a:prstGeom>
          <a:solidFill>
            <a:srgbClr val="212C48"/>
          </a:solidFill>
          <a:ln/>
        </p:spPr>
      </p:sp>
      <p:sp>
        <p:nvSpPr>
          <p:cNvPr id="11" name="Text 9"/>
          <p:cNvSpPr/>
          <p:nvPr/>
        </p:nvSpPr>
        <p:spPr>
          <a:xfrm>
            <a:off x="3621024" y="2029968"/>
            <a:ext cx="21762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A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−40%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621024" y="283464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順位が同じでもCTRは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21024" y="320040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1位のままなのに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クリックが減っている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6208" y="1828800"/>
            <a:ext cx="2615184" cy="2468880"/>
          </a:xfrm>
          <a:prstGeom prst="roundRect">
            <a:avLst>
              <a:gd name="adj" fmla="val 2222"/>
            </a:avLst>
          </a:prstGeom>
          <a:solidFill>
            <a:srgbClr val="212C48"/>
          </a:solidFill>
          <a:ln/>
        </p:spPr>
      </p:sp>
      <p:sp>
        <p:nvSpPr>
          <p:cNvPr id="15" name="Text 13"/>
          <p:cNvSpPr/>
          <p:nvPr/>
        </p:nvSpPr>
        <p:spPr>
          <a:xfrm>
            <a:off x="6455664" y="2029968"/>
            <a:ext cx="21762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A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55倍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55664" y="283464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AI検索の利用量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55664" y="320040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2024年4月比で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セッションが+5,535%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70848" y="1828800"/>
            <a:ext cx="2615184" cy="2468880"/>
          </a:xfrm>
          <a:prstGeom prst="roundRect">
            <a:avLst>
              <a:gd name="adj" fmla="val 2222"/>
            </a:avLst>
          </a:prstGeom>
          <a:solidFill>
            <a:srgbClr val="212C48"/>
          </a:solidFill>
          <a:ln/>
        </p:spPr>
      </p:sp>
      <p:sp>
        <p:nvSpPr>
          <p:cNvPr id="19" name="Text 17"/>
          <p:cNvSpPr/>
          <p:nvPr/>
        </p:nvSpPr>
        <p:spPr>
          <a:xfrm>
            <a:off x="9290304" y="2029968"/>
            <a:ext cx="21762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A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25倍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290304" y="283464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AI経由のCVR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90304" y="320040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従来SEO経由と比べた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成約率の差（支援会社公表値）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617720"/>
            <a:ext cx="11027664" cy="960120"/>
          </a:xfrm>
          <a:prstGeom prst="roundRect">
            <a:avLst>
              <a:gd name="adj" fmla="val 5714"/>
            </a:avLst>
          </a:prstGeom>
          <a:solidFill>
            <a:srgbClr val="2E3A5A"/>
          </a:solidFill>
          <a:ln/>
        </p:spPr>
      </p:sp>
      <p:sp>
        <p:nvSpPr>
          <p:cNvPr id="23" name="Text 21"/>
          <p:cNvSpPr/>
          <p:nvPr/>
        </p:nvSpPr>
        <p:spPr>
          <a:xfrm>
            <a:off x="877824" y="4617720"/>
            <a:ext cx="10405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つまり、</a:t>
            </a:r>
            <a:pPr indent="0" marL="0">
              <a:lnSpc>
                <a:spcPts val="2500"/>
              </a:lnSpc>
              <a:buNone/>
            </a:pPr>
            <a:r>
              <a:rPr lang="en-US" sz="1500" b="1" dirty="0">
                <a:solidFill>
                  <a:srgbClr val="E0A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「SEOは順調なのに問い合わせだけが減る」</a:t>
            </a:r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という状態が、いま全国の事務所で同時に起きています。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630936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B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出典：博報堂DYグループ oneder「2026年版AI検索白書」／Uravation／各支援会社公表データ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310896" cy="310896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24128" y="4754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AS-IS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こんな症状が出ていませんか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11027664" cy="658368"/>
          </a:xfrm>
          <a:prstGeom prst="roundRect">
            <a:avLst>
              <a:gd name="adj" fmla="val 6944"/>
            </a:avLst>
          </a:prstGeom>
          <a:solidFill>
            <a:srgbClr val="EDEFF4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993392"/>
            <a:ext cx="329184" cy="329184"/>
          </a:xfrm>
          <a:prstGeom prst="ellipse">
            <a:avLst/>
          </a:prstGeom>
          <a:solidFill>
            <a:srgbClr val="5C6478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3312" y="1828800"/>
            <a:ext cx="9930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検索順位は落ちていないのに、問い合わせ件数だけが減っている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2560320"/>
            <a:ext cx="11027664" cy="658368"/>
          </a:xfrm>
          <a:prstGeom prst="roundRect">
            <a:avLst>
              <a:gd name="adj" fmla="val 6944"/>
            </a:avLst>
          </a:prstGeom>
          <a:solidFill>
            <a:srgbClr val="EDEFF4"/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" y="2724912"/>
            <a:ext cx="329184" cy="329184"/>
          </a:xfrm>
          <a:prstGeom prst="ellipse">
            <a:avLst/>
          </a:prstGeom>
          <a:solidFill>
            <a:srgbClr val="5C6478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2560320"/>
            <a:ext cx="9930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ホームページのアクセス数が、去年の同じ月より明らかに少ない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66928" y="3291840"/>
            <a:ext cx="11027664" cy="658368"/>
          </a:xfrm>
          <a:prstGeom prst="roundRect">
            <a:avLst>
              <a:gd name="adj" fmla="val 6944"/>
            </a:avLst>
          </a:prstGeom>
          <a:solidFill>
            <a:srgbClr val="EDEFF4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3456432"/>
            <a:ext cx="329184" cy="329184"/>
          </a:xfrm>
          <a:prstGeom prst="ellipse">
            <a:avLst/>
          </a:prstGeom>
          <a:solidFill>
            <a:srgbClr val="5C6478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53312" y="3291840"/>
            <a:ext cx="9930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「先生の事務所、ChatGPTで聞いたら出てこなかった」と言われたことがある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66928" y="4023360"/>
            <a:ext cx="11027664" cy="658368"/>
          </a:xfrm>
          <a:prstGeom prst="roundRect">
            <a:avLst>
              <a:gd name="adj" fmla="val 6944"/>
            </a:avLst>
          </a:prstGeom>
          <a:solidFill>
            <a:srgbClr val="EDEFF4"/>
          </a:solidFill>
          <a:ln/>
        </p:spPr>
      </p:sp>
      <p:sp>
        <p:nvSpPr>
          <p:cNvPr id="19" name="Shape 17"/>
          <p:cNvSpPr/>
          <p:nvPr/>
        </p:nvSpPr>
        <p:spPr>
          <a:xfrm>
            <a:off x="841248" y="4187952"/>
            <a:ext cx="329184" cy="329184"/>
          </a:xfrm>
          <a:prstGeom prst="ellipse">
            <a:avLst/>
          </a:prstGeom>
          <a:solidFill>
            <a:srgbClr val="5C6478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187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53312" y="4023360"/>
            <a:ext cx="9930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広告費を足して件数を維持しているが、獲得単価が上がり続けている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66928" y="4754880"/>
            <a:ext cx="11027664" cy="658368"/>
          </a:xfrm>
          <a:prstGeom prst="roundRect">
            <a:avLst>
              <a:gd name="adj" fmla="val 6944"/>
            </a:avLst>
          </a:prstGeom>
          <a:solidFill>
            <a:srgbClr val="EDEFF4"/>
          </a:solidFill>
          <a:ln/>
        </p:spPr>
      </p:sp>
      <p:sp>
        <p:nvSpPr>
          <p:cNvPr id="23" name="Shape 21"/>
          <p:cNvSpPr/>
          <p:nvPr/>
        </p:nvSpPr>
        <p:spPr>
          <a:xfrm>
            <a:off x="841248" y="4919472"/>
            <a:ext cx="329184" cy="329184"/>
          </a:xfrm>
          <a:prstGeom prst="ellipse">
            <a:avLst/>
          </a:prstGeom>
          <a:solidFill>
            <a:srgbClr val="5C6478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4919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53312" y="4754880"/>
            <a:ext cx="9930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何が原因か分からないまま、SEO会社への支払いだけが続いている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66928" y="5596128"/>
            <a:ext cx="11027664" cy="749808"/>
          </a:xfrm>
          <a:prstGeom prst="roundRect">
            <a:avLst>
              <a:gd name="adj" fmla="val 7317"/>
            </a:avLst>
          </a:prstGeom>
          <a:solidFill>
            <a:srgbClr val="FBF1DE"/>
          </a:solidFill>
          <a:ln/>
        </p:spPr>
      </p:sp>
      <p:sp>
        <p:nvSpPr>
          <p:cNvPr id="27" name="Text 25"/>
          <p:cNvSpPr/>
          <p:nvPr/>
        </p:nvSpPr>
        <p:spPr>
          <a:xfrm>
            <a:off x="896112" y="5596128"/>
            <a:ext cx="103692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1つでも当てはまるなら、原因はSEOではなくAI検索側にあります。次のページで、現状と改善後を並べます。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310896" cy="310896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24128" y="4754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AS-IS → TO-BE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現状と、導入後に起きる変化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074920" cy="3977640"/>
          </a:xfrm>
          <a:prstGeom prst="roundRect">
            <a:avLst>
              <a:gd name="adj" fmla="val 1379"/>
            </a:avLst>
          </a:prstGeom>
          <a:solidFill>
            <a:srgbClr val="EDEFF4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002536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C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AS-IS ／ 現状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7824" y="2331720"/>
            <a:ext cx="4453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AIの答えに、御社がいない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96112" y="2880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25296" y="28803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「相続に強い税理士は？」への答えに載らない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96112" y="34107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25296" y="34107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何位なのか、誰が挙がっているのか分からない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96112" y="394106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25296" y="394106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サイトを直しても効果があったか測れない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6112" y="44714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25296" y="447141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対策できるのは検索順位だけ（＝もう効かない）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96112" y="50017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25296" y="500176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問い合わせが減った理由を説明できない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788152" y="3383280"/>
            <a:ext cx="530352" cy="603504"/>
          </a:xfrm>
          <a:prstGeom prst="chevron">
            <a:avLst/>
          </a:prstGeom>
          <a:solidFill>
            <a:srgbClr val="E0A03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64808" y="1783080"/>
            <a:ext cx="5074920" cy="3977640"/>
          </a:xfrm>
          <a:prstGeom prst="roundRect">
            <a:avLst>
              <a:gd name="adj" fmla="val 1379"/>
            </a:avLst>
          </a:prstGeom>
          <a:solidFill>
            <a:srgbClr val="FBF1DE"/>
          </a:solidFill>
          <a:ln/>
        </p:spPr>
      </p:sp>
      <p:sp>
        <p:nvSpPr>
          <p:cNvPr id="21" name="Text 19"/>
          <p:cNvSpPr/>
          <p:nvPr/>
        </p:nvSpPr>
        <p:spPr>
          <a:xfrm>
            <a:off x="6775704" y="2002536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TO-BE ／ 導入後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75704" y="2331720"/>
            <a:ext cx="4453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AIが、御社を名指しで挙げる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793992" y="2880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23176" y="28803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主要な質問200問で引用されるかを毎月測定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93992" y="34107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23176" y="34107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競合と比べた「AI上での順位」が数字で出る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793992" y="394106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23176" y="394106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直した箇所と引用率の変化がひも付いて見える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793992" y="44714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23176" y="447141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AI・検索・地図の3経路をまとめて対策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793992" y="50017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23176" y="500176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減った理由も増えた理由も説明できる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5943600"/>
            <a:ext cx="11027664" cy="640080"/>
          </a:xfrm>
          <a:prstGeom prst="roundRect">
            <a:avLst>
              <a:gd name="adj" fmla="val 8571"/>
            </a:avLst>
          </a:prstGeom>
          <a:solidFill>
            <a:srgbClr val="141A2E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5943600"/>
            <a:ext cx="10369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変わるのは「順位を上げる」ではなく、AIが答えを作るときの引用元に御社が入ること。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310896" cy="310896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24128" y="4754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CHANGE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変化①　集客の入口が増える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41248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58768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AS-IS ／ 現状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90688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TO-BE ／ 導入後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32918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39312" y="2048256"/>
            <a:ext cx="3931920" cy="804672"/>
          </a:xfrm>
          <a:prstGeom prst="roundRect">
            <a:avLst>
              <a:gd name="adj" fmla="val 5682"/>
            </a:avLst>
          </a:prstGeom>
          <a:solidFill>
            <a:srgbClr val="EDEFF4"/>
          </a:solidFill>
          <a:ln/>
        </p:spPr>
      </p:sp>
      <p:sp>
        <p:nvSpPr>
          <p:cNvPr id="11" name="Shape 9"/>
          <p:cNvSpPr/>
          <p:nvPr/>
        </p:nvSpPr>
        <p:spPr>
          <a:xfrm>
            <a:off x="7571232" y="2048256"/>
            <a:ext cx="3986784" cy="804672"/>
          </a:xfrm>
          <a:prstGeom prst="roundRect">
            <a:avLst>
              <a:gd name="adj" fmla="val 5682"/>
            </a:avLst>
          </a:prstGeom>
          <a:solidFill>
            <a:srgbClr val="FBF1DE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048256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見込み客が使う入口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58768" y="2048256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Google検索のみを想定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05472" y="2322576"/>
            <a:ext cx="274320" cy="256032"/>
          </a:xfrm>
          <a:prstGeom prst="chevron">
            <a:avLst/>
          </a:prstGeom>
          <a:solidFill>
            <a:srgbClr val="E0A03A"/>
          </a:solidFill>
          <a:ln/>
        </p:spPr>
      </p:sp>
      <p:sp>
        <p:nvSpPr>
          <p:cNvPr id="15" name="Text 13"/>
          <p:cNvSpPr/>
          <p:nvPr/>
        </p:nvSpPr>
        <p:spPr>
          <a:xfrm>
            <a:off x="7790688" y="2048256"/>
            <a:ext cx="3621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Google＋ChatGPT・Gemini＋地図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2926080"/>
            <a:ext cx="32918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639312" y="2926080"/>
            <a:ext cx="3931920" cy="804672"/>
          </a:xfrm>
          <a:prstGeom prst="roundRect">
            <a:avLst>
              <a:gd name="adj" fmla="val 5682"/>
            </a:avLst>
          </a:prstGeom>
          <a:solidFill>
            <a:srgbClr val="EDEFF4"/>
          </a:solidFill>
          <a:ln/>
        </p:spPr>
      </p:sp>
      <p:sp>
        <p:nvSpPr>
          <p:cNvPr id="18" name="Shape 16"/>
          <p:cNvSpPr/>
          <p:nvPr/>
        </p:nvSpPr>
        <p:spPr>
          <a:xfrm>
            <a:off x="7571232" y="2926080"/>
            <a:ext cx="3986784" cy="804672"/>
          </a:xfrm>
          <a:prstGeom prst="roundRect">
            <a:avLst>
              <a:gd name="adj" fmla="val 5682"/>
            </a:avLst>
          </a:prstGeom>
          <a:solidFill>
            <a:srgbClr val="FBF1DE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292608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指名される瞬間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58768" y="292608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検索結果の一覧に並ぶ（選ばれるかは運）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05472" y="3200400"/>
            <a:ext cx="274320" cy="256032"/>
          </a:xfrm>
          <a:prstGeom prst="chevron">
            <a:avLst/>
          </a:prstGeom>
          <a:solidFill>
            <a:srgbClr val="E0A03A"/>
          </a:solidFill>
          <a:ln/>
        </p:spPr>
      </p:sp>
      <p:sp>
        <p:nvSpPr>
          <p:cNvPr id="22" name="Text 20"/>
          <p:cNvSpPr/>
          <p:nvPr/>
        </p:nvSpPr>
        <p:spPr>
          <a:xfrm>
            <a:off x="7790688" y="2926080"/>
            <a:ext cx="3621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AIが「この事務所です」と1〜3件に絞って挙げる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3803904"/>
            <a:ext cx="32918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639312" y="3803904"/>
            <a:ext cx="3931920" cy="804672"/>
          </a:xfrm>
          <a:prstGeom prst="roundRect">
            <a:avLst>
              <a:gd name="adj" fmla="val 5682"/>
            </a:avLst>
          </a:prstGeom>
          <a:solidFill>
            <a:srgbClr val="EDEFF4"/>
          </a:solidFill>
          <a:ln/>
        </p:spPr>
      </p:sp>
      <p:sp>
        <p:nvSpPr>
          <p:cNvPr id="25" name="Shape 23"/>
          <p:cNvSpPr/>
          <p:nvPr/>
        </p:nvSpPr>
        <p:spPr>
          <a:xfrm>
            <a:off x="7571232" y="3803904"/>
            <a:ext cx="3986784" cy="804672"/>
          </a:xfrm>
          <a:prstGeom prst="roundRect">
            <a:avLst>
              <a:gd name="adj" fmla="val 5682"/>
            </a:avLst>
          </a:prstGeom>
          <a:solidFill>
            <a:srgbClr val="FBF1DE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3803904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競合との比較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58768" y="3803904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10件横並びの中の1つ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05472" y="4078224"/>
            <a:ext cx="274320" cy="256032"/>
          </a:xfrm>
          <a:prstGeom prst="chevron">
            <a:avLst/>
          </a:prstGeom>
          <a:solidFill>
            <a:srgbClr val="E0A03A"/>
          </a:solidFill>
          <a:ln/>
        </p:spPr>
      </p:sp>
      <p:sp>
        <p:nvSpPr>
          <p:cNvPr id="29" name="Text 27"/>
          <p:cNvSpPr/>
          <p:nvPr/>
        </p:nvSpPr>
        <p:spPr>
          <a:xfrm>
            <a:off x="7790688" y="3803904"/>
            <a:ext cx="3621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AIが挙げる少数の中に入れば実質ほぼ独占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4681728"/>
            <a:ext cx="32918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3639312" y="4681728"/>
            <a:ext cx="3931920" cy="804672"/>
          </a:xfrm>
          <a:prstGeom prst="roundRect">
            <a:avLst>
              <a:gd name="adj" fmla="val 5682"/>
            </a:avLst>
          </a:prstGeom>
          <a:solidFill>
            <a:srgbClr val="EDEFF4"/>
          </a:solidFill>
          <a:ln/>
        </p:spPr>
      </p:sp>
      <p:sp>
        <p:nvSpPr>
          <p:cNvPr id="32" name="Shape 30"/>
          <p:cNvSpPr/>
          <p:nvPr/>
        </p:nvSpPr>
        <p:spPr>
          <a:xfrm>
            <a:off x="7571232" y="4681728"/>
            <a:ext cx="3986784" cy="804672"/>
          </a:xfrm>
          <a:prstGeom prst="roundRect">
            <a:avLst>
              <a:gd name="adj" fmla="val 5682"/>
            </a:avLst>
          </a:prstGeom>
          <a:solidFill>
            <a:srgbClr val="FBF1DE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" y="4681728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問い合わせの質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58768" y="468172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相見積もり前提の一括依頼が多い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205472" y="4956048"/>
            <a:ext cx="274320" cy="256032"/>
          </a:xfrm>
          <a:prstGeom prst="chevron">
            <a:avLst/>
          </a:prstGeom>
          <a:solidFill>
            <a:srgbClr val="E0A03A"/>
          </a:solidFill>
          <a:ln/>
        </p:spPr>
      </p:sp>
      <p:sp>
        <p:nvSpPr>
          <p:cNvPr id="36" name="Text 34"/>
          <p:cNvSpPr/>
          <p:nvPr/>
        </p:nvSpPr>
        <p:spPr>
          <a:xfrm>
            <a:off x="7790688" y="4681728"/>
            <a:ext cx="3621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推薦された状態で来るため比較検討が済んでいる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66928" y="5532120"/>
            <a:ext cx="11027664" cy="786384"/>
          </a:xfrm>
          <a:prstGeom prst="roundRect">
            <a:avLst>
              <a:gd name="adj" fmla="val 6977"/>
            </a:avLst>
          </a:prstGeom>
          <a:solidFill>
            <a:srgbClr val="FBF1DE"/>
          </a:solidFill>
          <a:ln/>
        </p:spPr>
      </p:sp>
      <p:sp>
        <p:nvSpPr>
          <p:cNvPr id="38" name="Text 36"/>
          <p:cNvSpPr/>
          <p:nvPr/>
        </p:nvSpPr>
        <p:spPr>
          <a:xfrm>
            <a:off x="896112" y="5532120"/>
            <a:ext cx="1036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AI経由の問い合わせは成約率が高い傾向が報告されています（従来SEO比で最大25倍という支援会社の公表値あり）。件数だけでなく「決まりやすさ」が変わります。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310896" cy="310896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24128" y="4754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CHANGE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変化②　手間とコストが下がる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41248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58768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AS-IS ／ 現状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90688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TO-BE ／ 導入後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32918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39312" y="2048256"/>
            <a:ext cx="3931920" cy="804672"/>
          </a:xfrm>
          <a:prstGeom prst="roundRect">
            <a:avLst>
              <a:gd name="adj" fmla="val 5682"/>
            </a:avLst>
          </a:prstGeom>
          <a:solidFill>
            <a:srgbClr val="EDEFF4"/>
          </a:solidFill>
          <a:ln/>
        </p:spPr>
      </p:sp>
      <p:sp>
        <p:nvSpPr>
          <p:cNvPr id="11" name="Shape 9"/>
          <p:cNvSpPr/>
          <p:nvPr/>
        </p:nvSpPr>
        <p:spPr>
          <a:xfrm>
            <a:off x="7571232" y="2048256"/>
            <a:ext cx="3986784" cy="804672"/>
          </a:xfrm>
          <a:prstGeom prst="roundRect">
            <a:avLst>
              <a:gd name="adj" fmla="val 5682"/>
            </a:avLst>
          </a:prstGeom>
          <a:solidFill>
            <a:srgbClr val="FBF1DE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048256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先生の作業時間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58768" y="2048256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ブログ記事のネタ出しと執筆に月10時間以上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05472" y="2322576"/>
            <a:ext cx="274320" cy="256032"/>
          </a:xfrm>
          <a:prstGeom prst="chevron">
            <a:avLst/>
          </a:prstGeom>
          <a:solidFill>
            <a:srgbClr val="E0A03A"/>
          </a:solidFill>
          <a:ln/>
        </p:spPr>
      </p:sp>
      <p:sp>
        <p:nvSpPr>
          <p:cNvPr id="15" name="Text 13"/>
          <p:cNvSpPr/>
          <p:nvPr/>
        </p:nvSpPr>
        <p:spPr>
          <a:xfrm>
            <a:off x="7790688" y="2048256"/>
            <a:ext cx="3621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AIが草案を作り、先生は監修だけ（月1〜2時間）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2926080"/>
            <a:ext cx="32918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639312" y="2926080"/>
            <a:ext cx="3931920" cy="804672"/>
          </a:xfrm>
          <a:prstGeom prst="roundRect">
            <a:avLst>
              <a:gd name="adj" fmla="val 5682"/>
            </a:avLst>
          </a:prstGeom>
          <a:solidFill>
            <a:srgbClr val="EDEFF4"/>
          </a:solidFill>
          <a:ln/>
        </p:spPr>
      </p:sp>
      <p:sp>
        <p:nvSpPr>
          <p:cNvPr id="18" name="Shape 16"/>
          <p:cNvSpPr/>
          <p:nvPr/>
        </p:nvSpPr>
        <p:spPr>
          <a:xfrm>
            <a:off x="7571232" y="2926080"/>
            <a:ext cx="3986784" cy="804672"/>
          </a:xfrm>
          <a:prstGeom prst="roundRect">
            <a:avLst>
              <a:gd name="adj" fmla="val 5682"/>
            </a:avLst>
          </a:prstGeom>
          <a:solidFill>
            <a:srgbClr val="FBF1DE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292608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外注費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58768" y="292608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SEO会社＋記事外注＋広告で月20〜40万円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05472" y="3200400"/>
            <a:ext cx="274320" cy="256032"/>
          </a:xfrm>
          <a:prstGeom prst="chevron">
            <a:avLst/>
          </a:prstGeom>
          <a:solidFill>
            <a:srgbClr val="E0A03A"/>
          </a:solidFill>
          <a:ln/>
        </p:spPr>
      </p:sp>
      <p:sp>
        <p:nvSpPr>
          <p:cNvPr id="22" name="Text 20"/>
          <p:cNvSpPr/>
          <p:nvPr/>
        </p:nvSpPr>
        <p:spPr>
          <a:xfrm>
            <a:off x="7790688" y="2926080"/>
            <a:ext cx="3621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月4.98万円〜。広告依存を減らして総額を圧縮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3803904"/>
            <a:ext cx="32918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639312" y="3803904"/>
            <a:ext cx="3931920" cy="804672"/>
          </a:xfrm>
          <a:prstGeom prst="roundRect">
            <a:avLst>
              <a:gd name="adj" fmla="val 5682"/>
            </a:avLst>
          </a:prstGeom>
          <a:solidFill>
            <a:srgbClr val="EDEFF4"/>
          </a:solidFill>
          <a:ln/>
        </p:spPr>
      </p:sp>
      <p:sp>
        <p:nvSpPr>
          <p:cNvPr id="25" name="Shape 23"/>
          <p:cNvSpPr/>
          <p:nvPr/>
        </p:nvSpPr>
        <p:spPr>
          <a:xfrm>
            <a:off x="7571232" y="3803904"/>
            <a:ext cx="3986784" cy="804672"/>
          </a:xfrm>
          <a:prstGeom prst="roundRect">
            <a:avLst>
              <a:gd name="adj" fmla="val 5682"/>
            </a:avLst>
          </a:prstGeom>
          <a:solidFill>
            <a:srgbClr val="FBF1DE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3803904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報告資料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58768" y="3803904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順位表だけ。何をすればいいか分からない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05472" y="4078224"/>
            <a:ext cx="274320" cy="256032"/>
          </a:xfrm>
          <a:prstGeom prst="chevron">
            <a:avLst/>
          </a:prstGeom>
          <a:solidFill>
            <a:srgbClr val="E0A03A"/>
          </a:solidFill>
          <a:ln/>
        </p:spPr>
      </p:sp>
      <p:sp>
        <p:nvSpPr>
          <p:cNvPr id="29" name="Text 27"/>
          <p:cNvSpPr/>
          <p:nvPr/>
        </p:nvSpPr>
        <p:spPr>
          <a:xfrm>
            <a:off x="7790688" y="3803904"/>
            <a:ext cx="3621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引用状況＋やるべきことが指示書として毎月届く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4681728"/>
            <a:ext cx="32918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3639312" y="4681728"/>
            <a:ext cx="3931920" cy="804672"/>
          </a:xfrm>
          <a:prstGeom prst="roundRect">
            <a:avLst>
              <a:gd name="adj" fmla="val 5682"/>
            </a:avLst>
          </a:prstGeom>
          <a:solidFill>
            <a:srgbClr val="EDEFF4"/>
          </a:solidFill>
          <a:ln/>
        </p:spPr>
      </p:sp>
      <p:sp>
        <p:nvSpPr>
          <p:cNvPr id="32" name="Shape 30"/>
          <p:cNvSpPr/>
          <p:nvPr/>
        </p:nvSpPr>
        <p:spPr>
          <a:xfrm>
            <a:off x="7571232" y="4681728"/>
            <a:ext cx="3986784" cy="804672"/>
          </a:xfrm>
          <a:prstGeom prst="roundRect">
            <a:avLst>
              <a:gd name="adj" fmla="val 5682"/>
            </a:avLst>
          </a:prstGeom>
          <a:solidFill>
            <a:srgbClr val="FBF1DE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" y="4681728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人の増員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58768" y="468172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Web担当を採用しないと回らない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205472" y="4956048"/>
            <a:ext cx="274320" cy="256032"/>
          </a:xfrm>
          <a:prstGeom prst="chevron">
            <a:avLst/>
          </a:prstGeom>
          <a:solidFill>
            <a:srgbClr val="E0A03A"/>
          </a:solidFill>
          <a:ln/>
        </p:spPr>
      </p:sp>
      <p:sp>
        <p:nvSpPr>
          <p:cNvPr id="36" name="Text 34"/>
          <p:cNvSpPr/>
          <p:nvPr/>
        </p:nvSpPr>
        <p:spPr>
          <a:xfrm>
            <a:off x="7790688" y="4681728"/>
            <a:ext cx="3621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採用不要。仕組み側が自動で回る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66928" y="5532120"/>
            <a:ext cx="11027664" cy="786384"/>
          </a:xfrm>
          <a:prstGeom prst="roundRect">
            <a:avLst>
              <a:gd name="adj" fmla="val 6977"/>
            </a:avLst>
          </a:prstGeom>
          <a:solidFill>
            <a:srgbClr val="141A2E"/>
          </a:solidFill>
          <a:ln/>
        </p:spPr>
      </p:sp>
      <p:sp>
        <p:nvSpPr>
          <p:cNvPr id="38" name="Text 36"/>
          <p:cNvSpPr/>
          <p:nvPr/>
        </p:nvSpPr>
        <p:spPr>
          <a:xfrm>
            <a:off x="896112" y="5532120"/>
            <a:ext cx="1036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「デジタル化・AI導入補助金2026」の対象になれば、補助率1/2〜4/5・最大450万円。実質負担はさらに下がります。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310896" cy="310896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24128" y="4754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CHANGE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変化③　経営の数字がこう動く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41248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58768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AS-IS ／ 現状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90688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A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TO-BE ／ 導入後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066544"/>
            <a:ext cx="11027664" cy="786384"/>
          </a:xfrm>
          <a:prstGeom prst="roundRect">
            <a:avLst>
              <a:gd name="adj" fmla="val 5814"/>
            </a:avLst>
          </a:prstGeom>
          <a:solidFill>
            <a:srgbClr val="212C48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66544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AI検索での引用率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58768" y="2066544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2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測っていない（0%扱い）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24928" y="2350008"/>
            <a:ext cx="256032" cy="237744"/>
          </a:xfrm>
          <a:prstGeom prst="chevron">
            <a:avLst/>
          </a:prstGeom>
          <a:solidFill>
            <a:srgbClr val="E0A03A"/>
          </a:solidFill>
          <a:ln/>
        </p:spPr>
      </p:sp>
      <p:sp>
        <p:nvSpPr>
          <p:cNvPr id="13" name="Text 11"/>
          <p:cNvSpPr/>
          <p:nvPr/>
        </p:nvSpPr>
        <p:spPr>
          <a:xfrm>
            <a:off x="7790688" y="2066544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主要200問中の引用率を毎月可視化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2926080"/>
            <a:ext cx="11027664" cy="786384"/>
          </a:xfrm>
          <a:prstGeom prst="roundRect">
            <a:avLst>
              <a:gd name="adj" fmla="val 5814"/>
            </a:avLst>
          </a:prstGeom>
          <a:solidFill>
            <a:srgbClr val="212C48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292608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新規問い合わせ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858768" y="2926080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2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前年割れが続いている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24928" y="3209544"/>
            <a:ext cx="256032" cy="237744"/>
          </a:xfrm>
          <a:prstGeom prst="chevron">
            <a:avLst/>
          </a:prstGeom>
          <a:solidFill>
            <a:srgbClr val="E0A03A"/>
          </a:solidFill>
          <a:ln/>
        </p:spPr>
      </p:sp>
      <p:sp>
        <p:nvSpPr>
          <p:cNvPr id="18" name="Text 16"/>
          <p:cNvSpPr/>
          <p:nvPr/>
        </p:nvSpPr>
        <p:spPr>
          <a:xfrm>
            <a:off x="7790688" y="2926080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AI経由という新チャネルが上乗せされる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785616"/>
            <a:ext cx="11027664" cy="786384"/>
          </a:xfrm>
          <a:prstGeom prst="roundRect">
            <a:avLst>
              <a:gd name="adj" fmla="val 5814"/>
            </a:avLst>
          </a:prstGeom>
          <a:solidFill>
            <a:srgbClr val="212C48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3785616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顧客獲得単価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858768" y="3785616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2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広告依存で上昇中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24928" y="4069080"/>
            <a:ext cx="256032" cy="237744"/>
          </a:xfrm>
          <a:prstGeom prst="chevron">
            <a:avLst/>
          </a:prstGeom>
          <a:solidFill>
            <a:srgbClr val="E0A03A"/>
          </a:solidFill>
          <a:ln/>
        </p:spPr>
      </p:sp>
      <p:sp>
        <p:nvSpPr>
          <p:cNvPr id="23" name="Text 21"/>
          <p:cNvSpPr/>
          <p:nvPr/>
        </p:nvSpPr>
        <p:spPr>
          <a:xfrm>
            <a:off x="7790688" y="3785616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自然流入が戻り、単価が下がる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645152"/>
            <a:ext cx="11027664" cy="786384"/>
          </a:xfrm>
          <a:prstGeom prst="roundRect">
            <a:avLst>
              <a:gd name="adj" fmla="val 5814"/>
            </a:avLst>
          </a:prstGeom>
          <a:solidFill>
            <a:srgbClr val="212C48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4645152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説明責任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858768" y="4645152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2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「なぜ減ったか」に答えられない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424928" y="4928616"/>
            <a:ext cx="256032" cy="237744"/>
          </a:xfrm>
          <a:prstGeom prst="chevron">
            <a:avLst/>
          </a:prstGeom>
          <a:solidFill>
            <a:srgbClr val="E0A03A"/>
          </a:solidFill>
          <a:ln/>
        </p:spPr>
      </p:sp>
      <p:sp>
        <p:nvSpPr>
          <p:cNvPr id="28" name="Text 26"/>
          <p:cNvSpPr/>
          <p:nvPr/>
        </p:nvSpPr>
        <p:spPr>
          <a:xfrm>
            <a:off x="7790688" y="4645152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月次レポートで打ち手と結果が対応づく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5614416"/>
            <a:ext cx="11027664" cy="676656"/>
          </a:xfrm>
          <a:prstGeom prst="roundRect">
            <a:avLst>
              <a:gd name="adj" fmla="val 8108"/>
            </a:avLst>
          </a:prstGeom>
          <a:solidFill>
            <a:srgbClr val="2E3A5A"/>
          </a:solidFill>
          <a:ln/>
        </p:spPr>
      </p:sp>
      <p:sp>
        <p:nvSpPr>
          <p:cNvPr id="30" name="Text 28"/>
          <p:cNvSpPr/>
          <p:nvPr/>
        </p:nvSpPr>
        <p:spPr>
          <a:xfrm>
            <a:off x="877824" y="5614416"/>
            <a:ext cx="10405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いちばん大きな変化は「説明できるようになる」ことです。打ち手と結果が毎月ひも付き、判断ができるようになります。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310896" cy="310896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24128" y="4754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私たちが毎月やること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529584" cy="3200400"/>
          </a:xfrm>
          <a:prstGeom prst="roundRect">
            <a:avLst>
              <a:gd name="adj" fmla="val 1714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52400" dist="25400" dir="5400000">
              <a:srgbClr val="9AA6BE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011680"/>
            <a:ext cx="475488" cy="475488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44752" y="2011680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測る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41248" y="2670048"/>
            <a:ext cx="29809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御社の見込み客が実際に聞く質問を200問用意し、ChatGPT・Gemini・AI Overviewsに毎月投げます。御社と競合が何回引用されたかを記録します。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1248" y="4370832"/>
            <a:ext cx="2980944" cy="402336"/>
          </a:xfrm>
          <a:prstGeom prst="roundRect">
            <a:avLst>
              <a:gd name="adj" fmla="val 11364"/>
            </a:avLst>
          </a:prstGeom>
          <a:solidFill>
            <a:srgbClr val="E0A03A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4370832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現在地が数字になる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34256" y="1783080"/>
            <a:ext cx="3529584" cy="3200400"/>
          </a:xfrm>
          <a:prstGeom prst="roundRect">
            <a:avLst>
              <a:gd name="adj" fmla="val 1714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52400" dist="25400" dir="5400000">
              <a:srgbClr val="9AA6BE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8576" y="2011680"/>
            <a:ext cx="475488" cy="475488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15" name="Text 13"/>
          <p:cNvSpPr/>
          <p:nvPr/>
        </p:nvSpPr>
        <p:spPr>
          <a:xfrm>
            <a:off x="4608576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2011680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直す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08576" y="2670048"/>
            <a:ext cx="29809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引用されない原因（不足している説明・FAQ・構造化データ・第三者からの言及）を特定し、追加する文章とタグをこちらで作成します。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08576" y="4370832"/>
            <a:ext cx="2980944" cy="402336"/>
          </a:xfrm>
          <a:prstGeom prst="roundRect">
            <a:avLst>
              <a:gd name="adj" fmla="val 11364"/>
            </a:avLst>
          </a:prstGeom>
          <a:solidFill>
            <a:srgbClr val="E0A03A"/>
          </a:solidFill>
          <a:ln/>
        </p:spPr>
      </p:sp>
      <p:sp>
        <p:nvSpPr>
          <p:cNvPr id="19" name="Text 17"/>
          <p:cNvSpPr/>
          <p:nvPr/>
        </p:nvSpPr>
        <p:spPr>
          <a:xfrm>
            <a:off x="4608576" y="4370832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作業は先生の監修だけ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01584" y="1783080"/>
            <a:ext cx="3529584" cy="3200400"/>
          </a:xfrm>
          <a:prstGeom prst="roundRect">
            <a:avLst>
              <a:gd name="adj" fmla="val 1714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52400" dist="25400" dir="5400000">
              <a:srgbClr val="9AA6BE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75904" y="2011680"/>
            <a:ext cx="475488" cy="475488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22" name="Text 20"/>
          <p:cNvSpPr/>
          <p:nvPr/>
        </p:nvSpPr>
        <p:spPr>
          <a:xfrm>
            <a:off x="8375904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79408" y="2011680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見せる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375904" y="2670048"/>
            <a:ext cx="29809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先月からどう変わったかを1枚のレポートにしてお送りします。引用率・指名検索数・問い合わせ数まで追いかけます。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75904" y="4370832"/>
            <a:ext cx="2980944" cy="402336"/>
          </a:xfrm>
          <a:prstGeom prst="roundRect">
            <a:avLst>
              <a:gd name="adj" fmla="val 11364"/>
            </a:avLst>
          </a:prstGeom>
          <a:solidFill>
            <a:srgbClr val="E0A03A"/>
          </a:solidFill>
          <a:ln/>
        </p:spPr>
      </p:sp>
      <p:sp>
        <p:nvSpPr>
          <p:cNvPr id="26" name="Text 24"/>
          <p:cNvSpPr/>
          <p:nvPr/>
        </p:nvSpPr>
        <p:spPr>
          <a:xfrm>
            <a:off x="8375904" y="4370832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効果が説明できる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5230368"/>
            <a:ext cx="11027664" cy="786384"/>
          </a:xfrm>
          <a:prstGeom prst="roundRect">
            <a:avLst>
              <a:gd name="adj" fmla="val 6977"/>
            </a:avLst>
          </a:prstGeom>
          <a:solidFill>
            <a:srgbClr val="141A2E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5230368"/>
            <a:ext cx="1036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先生にお願いするのは、月1回30分の確認と、専門家としての監修だけです。記事の執筆も、タグの設定も、こちらで行います。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310896" cy="310896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24128" y="4754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CASE STUDIES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実際に出ている成果（公表事例）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529584" cy="3291840"/>
          </a:xfrm>
          <a:prstGeom prst="roundRect">
            <a:avLst>
              <a:gd name="adj" fmla="val 1667"/>
            </a:avLst>
          </a:prstGeom>
          <a:solidFill>
            <a:srgbClr val="F1F4F9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97510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CASE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286000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6倍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41248" y="3127248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AI経由の問い合わせ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1248" y="3511296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「AI対策（LLMO）90日プログラム」の支援先で、AI経由の問い合わせが半年で約6倍、売上は8倍ペースに。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1248" y="459028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株式会社ルーシー（バズ部）公表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34256" y="1783080"/>
            <a:ext cx="3529584" cy="3291840"/>
          </a:xfrm>
          <a:prstGeom prst="roundRect">
            <a:avLst>
              <a:gd name="adj" fmla="val 1667"/>
            </a:avLst>
          </a:prstGeom>
          <a:solidFill>
            <a:srgbClr val="F1F4F9"/>
          </a:solidFill>
          <a:ln/>
        </p:spPr>
      </p:sp>
      <p:sp>
        <p:nvSpPr>
          <p:cNvPr id="13" name="Text 11"/>
          <p:cNvSpPr/>
          <p:nvPr/>
        </p:nvSpPr>
        <p:spPr>
          <a:xfrm>
            <a:off x="4608576" y="197510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CASE 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08576" y="2286000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10倍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608576" y="3127248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問い合わせ件数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08576" y="3511296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2025年10月〜2026年2月の期間で、AI経由の流入が約6倍、問い合わせが約10倍。引用の初動は早ければ約1か月から。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08576" y="459028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支援会社公表事例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01584" y="1783080"/>
            <a:ext cx="3529584" cy="3291840"/>
          </a:xfrm>
          <a:prstGeom prst="roundRect">
            <a:avLst>
              <a:gd name="adj" fmla="val 1667"/>
            </a:avLst>
          </a:prstGeom>
          <a:solidFill>
            <a:srgbClr val="F1F4F9"/>
          </a:solidFill>
          <a:ln/>
        </p:spPr>
      </p:sp>
      <p:sp>
        <p:nvSpPr>
          <p:cNvPr id="19" name="Text 17"/>
          <p:cNvSpPr/>
          <p:nvPr/>
        </p:nvSpPr>
        <p:spPr>
          <a:xfrm>
            <a:off x="8375904" y="197510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CASE 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75904" y="2286000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2倍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375904" y="3127248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商談数（6か月）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75904" y="3511296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GEO対策の導入6か月で商談数が2倍に。別の企業では売上130%増を達成した事例も報告されている。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75904" y="459028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複数の支援会社公表事例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" y="5285232"/>
            <a:ext cx="11027664" cy="786384"/>
          </a:xfrm>
          <a:prstGeom prst="roundRect">
            <a:avLst>
              <a:gd name="adj" fmla="val 6977"/>
            </a:avLst>
          </a:prstGeom>
          <a:solidFill>
            <a:srgbClr val="F8E9E5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5285232"/>
            <a:ext cx="1036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いずれも支援会社が自社サイトで公表している事例で、第三者による検証を経たものではありません。御社での成果をお約束するものではなく、まず無料診断で現在地を測ることをおすすめします。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" y="630936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A0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出典：ai-search.techsuite.co.jp／jinrai.co.jp／start-link.jp ほか（詳細は巻末の参考資料一覧）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310896" cy="310896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24128" y="4754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CASE STUDIES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士業・店舗ビジネスでの事例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394960" cy="2651760"/>
          </a:xfrm>
          <a:prstGeom prst="roundRect">
            <a:avLst>
              <a:gd name="adj" fmla="val 2069"/>
            </a:avLst>
          </a:prstGeom>
          <a:solidFill>
            <a:srgbClr val="F1F4F9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01168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士業：ChatGPT経由で受任まで到達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" y="2542032"/>
            <a:ext cx="4773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「ChatGPT経由で問い合わせがあり、そのまま受任につながった」という士業事務所の実例が報告されています。AI検索は既に実際の集客チャネルとして機能し始めています。2025年以降、AI Overviewsが士業分野でも拡大し、「AIに引用される事務所かどうか」が新規問い合わせ数に直結する局面に入りました。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4041648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集客大陸（seo-best.jp）公表事例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99632" y="1783080"/>
            <a:ext cx="5394960" cy="2651760"/>
          </a:xfrm>
          <a:prstGeom prst="roundRect">
            <a:avLst>
              <a:gd name="adj" fmla="val 2069"/>
            </a:avLst>
          </a:prstGeom>
          <a:solidFill>
            <a:srgbClr val="F1F4F9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201168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多店舗：情報の一元管理で引用率が向上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10528" y="2542032"/>
            <a:ext cx="4773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複数店舗の美容室・飲食店で、Googleマップ・SNS・ホームページの情報を一元管理して整合性を担保したところ、AI検索からの引用率が向上し、マップ経由のルート検索と新規予約・来店が増加しました。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10528" y="4041648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支援会社公表事例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4663440"/>
            <a:ext cx="11027664" cy="1371600"/>
          </a:xfrm>
          <a:prstGeom prst="roundRect">
            <a:avLst>
              <a:gd name="adj" fmla="val 4000"/>
            </a:avLst>
          </a:prstGeom>
          <a:solidFill>
            <a:srgbClr val="FBF1DE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79145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経営者はいま、AIにこう聞いています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5120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「うちの会社規模で月1万円台の税理士、誰がいい？」「相続に強い税理士事務所は？」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こうした自然文の質問に、AIが具体的な事務所名を挙げて答えます。その答えに入っているかどうかが、顧問先獲得の土台になります。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310896" cy="310896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" y="4754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PATTERN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成果を出した事例に共通する3つのこと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901952"/>
            <a:ext cx="493776" cy="493776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01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35024" y="1828800"/>
            <a:ext cx="10149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新しく作るのではなく、既存ページを作り直した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35024" y="2286000"/>
            <a:ext cx="10149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成果を出した企業の共通点は、記事の新規量産ではなく、いま持っているページへのFAQスキーマ追加・冒頭への直接回答文の配置・著者情報の充実。既存資産の作り直しから着手しています。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273552"/>
            <a:ext cx="493776" cy="493776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2735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35024" y="3200400"/>
            <a:ext cx="10149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自分たちしか出せないデータを公開した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35024" y="3657600"/>
            <a:ext cx="10149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一次データ（自社調査・実績数値・料金の内訳）はAIが引用したがる素材です。どこにでもある一般論のページは引用されません。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645152"/>
            <a:ext cx="493776" cy="493776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6451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35024" y="4572000"/>
            <a:ext cx="10149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第三者からの言及を増やした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335024" y="5029200"/>
            <a:ext cx="10149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自社サイトの中だけでは足りません。業界メディア・士業ポータル・Googleビジネスプロフィールなど、外からの言及がAIの判断材料になります。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5907024"/>
            <a:ext cx="11027664" cy="585216"/>
          </a:xfrm>
          <a:prstGeom prst="roundRect">
            <a:avLst>
              <a:gd name="adj" fmla="val 9375"/>
            </a:avLst>
          </a:prstGeom>
          <a:solidFill>
            <a:srgbClr val="212C48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5907024"/>
            <a:ext cx="10405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A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特別な技術も大きな予算も不要。この3つを地道に積み上げた企業が成果を出しています。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310896" cy="310896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" y="4754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HOW IT STARTS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導入の流れ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2724912" cy="2926080"/>
          </a:xfrm>
          <a:prstGeom prst="roundRect">
            <a:avLst>
              <a:gd name="adj" fmla="val 2013"/>
            </a:avLst>
          </a:prstGeom>
          <a:solidFill>
            <a:srgbClr val="FBF1D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7510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 ／ 今週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228600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無料の可視性診断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04672" y="2980944"/>
            <a:ext cx="2249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御社名と主要サービスを伺い、AIに聞いた結果をレポートでお返しします。費用は無料です。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11296" y="1783080"/>
            <a:ext cx="2724912" cy="2926080"/>
          </a:xfrm>
          <a:prstGeom prst="roundRect">
            <a:avLst>
              <a:gd name="adj" fmla="val 2013"/>
            </a:avLst>
          </a:prstGeom>
          <a:solidFill>
            <a:srgbClr val="F1F4F9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97510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 ／ 1か月目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49040" y="228600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現在地の確定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749040" y="2980944"/>
            <a:ext cx="2249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引用されない原因を特定し、優先度の高い箇所から着手。早ければ1か月で初動が出ます。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55664" y="1783080"/>
            <a:ext cx="2724912" cy="2926080"/>
          </a:xfrm>
          <a:prstGeom prst="roundRect">
            <a:avLst>
              <a:gd name="adj" fmla="val 2013"/>
            </a:avLst>
          </a:prstGeom>
          <a:solidFill>
            <a:srgbClr val="F1F4F9"/>
          </a:solidFill>
          <a:ln/>
        </p:spPr>
      </p:sp>
      <p:sp>
        <p:nvSpPr>
          <p:cNvPr id="15" name="Text 13"/>
          <p:cNvSpPr/>
          <p:nvPr/>
        </p:nvSpPr>
        <p:spPr>
          <a:xfrm>
            <a:off x="6693408" y="197510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 ／ 2〜3か月目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93408" y="228600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改善の反映と定着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93408" y="2980944"/>
            <a:ext cx="2249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FAQ・構造化データ・第三者言及を順に整備。毎月レポートで変化を確認します。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400032" y="1783080"/>
            <a:ext cx="2724912" cy="2926080"/>
          </a:xfrm>
          <a:prstGeom prst="roundRect">
            <a:avLst>
              <a:gd name="adj" fmla="val 2013"/>
            </a:avLst>
          </a:prstGeom>
          <a:solidFill>
            <a:srgbClr val="F1F4F9"/>
          </a:solidFill>
          <a:ln/>
        </p:spPr>
      </p:sp>
      <p:sp>
        <p:nvSpPr>
          <p:cNvPr id="19" name="Text 17"/>
          <p:cNvSpPr/>
          <p:nvPr/>
        </p:nvSpPr>
        <p:spPr>
          <a:xfrm>
            <a:off x="9637776" y="197510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 ／ 4か月目〜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37776" y="228600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運用と横展開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637776" y="2980944"/>
            <a:ext cx="2249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取れた質問を広げ、地図・指名検索まで最適化。問い合わせの数と質を積み上げます。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10128" y="3017520"/>
            <a:ext cx="274320" cy="384048"/>
          </a:xfrm>
          <a:prstGeom prst="chevron">
            <a:avLst/>
          </a:prstGeom>
          <a:solidFill>
            <a:srgbClr val="E0A03A"/>
          </a:solidFill>
          <a:ln/>
        </p:spPr>
      </p:sp>
      <p:sp>
        <p:nvSpPr>
          <p:cNvPr id="23" name="Shape 21"/>
          <p:cNvSpPr/>
          <p:nvPr/>
        </p:nvSpPr>
        <p:spPr>
          <a:xfrm>
            <a:off x="6254496" y="3017520"/>
            <a:ext cx="274320" cy="384048"/>
          </a:xfrm>
          <a:prstGeom prst="chevron">
            <a:avLst/>
          </a:prstGeom>
          <a:solidFill>
            <a:srgbClr val="E0A03A"/>
          </a:solidFill>
          <a:ln/>
        </p:spPr>
      </p:sp>
      <p:sp>
        <p:nvSpPr>
          <p:cNvPr id="24" name="Shape 22"/>
          <p:cNvSpPr/>
          <p:nvPr/>
        </p:nvSpPr>
        <p:spPr>
          <a:xfrm>
            <a:off x="9198864" y="3017520"/>
            <a:ext cx="274320" cy="384048"/>
          </a:xfrm>
          <a:prstGeom prst="chevron">
            <a:avLst/>
          </a:prstGeom>
          <a:solidFill>
            <a:srgbClr val="E0A03A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4956048"/>
            <a:ext cx="11027664" cy="822960"/>
          </a:xfrm>
          <a:prstGeom prst="roundRect">
            <a:avLst>
              <a:gd name="adj" fmla="val 6667"/>
            </a:avLst>
          </a:prstGeom>
          <a:solidFill>
            <a:srgbClr val="141A2E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4956048"/>
            <a:ext cx="10369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 の診断は無料です。結果を見てから、続けるかどうかをお決めください。契約の縛りはありません。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310896" cy="310896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" y="4754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PRICING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料金プラン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529584" cy="2834640"/>
          </a:xfrm>
          <a:prstGeom prst="roundRect">
            <a:avLst>
              <a:gd name="adj" fmla="val 1935"/>
            </a:avLst>
          </a:prstGeom>
          <a:solidFill>
            <a:srgbClr val="F1F4F9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97510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Light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243230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 49,800円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9536" y="3017520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" y="301752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毎月のAI引用状況の測定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" y="3474720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" y="347472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競合との比較レポート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9536" y="3931920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" y="393192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改善指示書の提供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34256" y="1783080"/>
            <a:ext cx="3529584" cy="2834640"/>
          </a:xfrm>
          <a:prstGeom prst="roundRect">
            <a:avLst>
              <a:gd name="adj" fmla="val 1935"/>
            </a:avLst>
          </a:prstGeom>
          <a:solidFill>
            <a:srgbClr val="FBF1DE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1975104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0A0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9751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おすすめ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08576" y="197510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Standard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08576" y="243230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 149,800円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26864" y="3017520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01184" y="301752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Lightの内容すべて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26864" y="3474720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01184" y="347472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コンテンツ・FAQの制作代行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26864" y="3931920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01184" y="393192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構造化データの実装まで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01584" y="1783080"/>
            <a:ext cx="3529584" cy="2834640"/>
          </a:xfrm>
          <a:prstGeom prst="roundRect">
            <a:avLst>
              <a:gd name="adj" fmla="val 1935"/>
            </a:avLst>
          </a:prstGeom>
          <a:solidFill>
            <a:srgbClr val="F1F4F9"/>
          </a:solidFill>
          <a:ln/>
        </p:spPr>
      </p:sp>
      <p:sp>
        <p:nvSpPr>
          <p:cNvPr id="27" name="Text 25"/>
          <p:cNvSpPr/>
          <p:nvPr/>
        </p:nvSpPr>
        <p:spPr>
          <a:xfrm>
            <a:off x="8375904" y="197510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375904" y="243230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 298,000円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394192" y="3017520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68512" y="301752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Standardの内容すべて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94192" y="3474720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68512" y="347472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競合の継続追跡・多拠点対応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94192" y="3931920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68512" y="393192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月次オンライン報告会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" y="48006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・初期費用0円。最低契約期間の縛りはありません（1か月単位）。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66928" y="522122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・「デジタル化・AI導入補助金2026」の対象になれば補助率1/2〜4/5・最大450万円。申請のご支援も可能です。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66928" y="56418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・順位保証・成果保証はいたしません（AI検索の仕様上、保証できるものではないためです）。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310896" cy="310896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" y="4754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まずは、御社の現在地を見てみませんか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11027664" cy="2103120"/>
          </a:xfrm>
          <a:prstGeom prst="roundRect">
            <a:avLst>
              <a:gd name="adj" fmla="val 3478"/>
            </a:avLst>
          </a:prstGeom>
          <a:solidFill>
            <a:srgbClr val="212C48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103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 AI可視性診断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24128" y="2724912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御社名と主要サービスをお伺いするだけで結構です。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見込み客が実際に聞くであろう質問をAIに投げ、御社と競合が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何回引用されたかをレポートにしてお返しします。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80960" y="2286000"/>
            <a:ext cx="1234440" cy="1280160"/>
          </a:xfrm>
          <a:prstGeom prst="roundRect">
            <a:avLst>
              <a:gd name="adj" fmla="val 4444"/>
            </a:avLst>
          </a:prstGeom>
          <a:solidFill>
            <a:srgbClr val="2E3A5A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24323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ヒアリング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0" y="27432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15分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052560" y="2286000"/>
            <a:ext cx="1234440" cy="1280160"/>
          </a:xfrm>
          <a:prstGeom prst="roundRect">
            <a:avLst>
              <a:gd name="adj" fmla="val 4444"/>
            </a:avLst>
          </a:prstGeom>
          <a:solidFill>
            <a:srgbClr val="2E3A5A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0" y="24323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費用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0" y="27432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424160" y="2286000"/>
            <a:ext cx="1234440" cy="1280160"/>
          </a:xfrm>
          <a:prstGeom prst="roundRect">
            <a:avLst>
              <a:gd name="adj" fmla="val 4444"/>
            </a:avLst>
          </a:prstGeom>
          <a:solidFill>
            <a:srgbClr val="2E3A5A"/>
          </a:solidFill>
          <a:ln/>
        </p:spPr>
      </p:sp>
      <p:sp>
        <p:nvSpPr>
          <p:cNvPr id="16" name="Text 14"/>
          <p:cNvSpPr/>
          <p:nvPr/>
        </p:nvSpPr>
        <p:spPr>
          <a:xfrm>
            <a:off x="10424160" y="24323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BE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納品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515600" y="27432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5営業日以内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422452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0A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診断レポートでお見せする3つのこと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608576"/>
            <a:ext cx="11027664" cy="493776"/>
          </a:xfrm>
          <a:prstGeom prst="roundRect">
            <a:avLst>
              <a:gd name="adj" fmla="val 9259"/>
            </a:avLst>
          </a:prstGeom>
          <a:solidFill>
            <a:srgbClr val="212C48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4709160"/>
            <a:ext cx="292608" cy="292608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61872" y="4608576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主要な質問で、御社が何回引用されたか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5175504"/>
            <a:ext cx="11027664" cy="493776"/>
          </a:xfrm>
          <a:prstGeom prst="roundRect">
            <a:avLst>
              <a:gd name="adj" fmla="val 9259"/>
            </a:avLst>
          </a:prstGeom>
          <a:solidFill>
            <a:srgbClr val="212C48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5276088"/>
            <a:ext cx="292608" cy="292608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5276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61872" y="5175504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同じ質問で、どの競合が何回挙がっているか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66928" y="5742432"/>
            <a:ext cx="11027664" cy="493776"/>
          </a:xfrm>
          <a:prstGeom prst="roundRect">
            <a:avLst>
              <a:gd name="adj" fmla="val 9259"/>
            </a:avLst>
          </a:prstGeom>
          <a:solidFill>
            <a:srgbClr val="212C48"/>
          </a:solidFill>
          <a:ln/>
        </p:spPr>
      </p:sp>
      <p:sp>
        <p:nvSpPr>
          <p:cNvPr id="28" name="Shape 26"/>
          <p:cNvSpPr/>
          <p:nvPr/>
        </p:nvSpPr>
        <p:spPr>
          <a:xfrm>
            <a:off x="804672" y="5843016"/>
            <a:ext cx="292608" cy="292608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5843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61872" y="5742432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引用されない原因として何が不足しているか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310896" cy="310896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" y="4754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参考資料・出典一覧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719072"/>
            <a:ext cx="11027664" cy="365760"/>
          </a:xfrm>
          <a:prstGeom prst="roundRect">
            <a:avLst>
              <a:gd name="adj" fmla="val 7500"/>
            </a:avLst>
          </a:prstGeom>
          <a:solidFill>
            <a:srgbClr val="F1F4F9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7190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市場データ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83664" y="17190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博報堂DYグループ oneder「2026年版AI検索白書が示すゼロクリックの実態」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79408" y="17190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oneder.hakuhodody-one.co.jp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121408"/>
            <a:ext cx="11027664" cy="3657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1214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市場データ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83664" y="21214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博報堂DYグループ oneder「AI検索エンジンのトラフィック推移と動向（2026年4月）」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79408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oneder.hakuhodody-one.co.jp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2523744"/>
            <a:ext cx="11027664" cy="365760"/>
          </a:xfrm>
          <a:prstGeom prst="roundRect">
            <a:avLst>
              <a:gd name="adj" fmla="val 7500"/>
            </a:avLst>
          </a:prstGeom>
          <a:solidFill>
            <a:srgbClr val="F1F4F9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5237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市場データ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83664" y="252374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Uravation「AI検索で流入60%消失｜ゼロクリック時代の5つの対策」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79408" y="25237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uravation.com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2926080"/>
            <a:ext cx="11027664" cy="3657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29260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市場規模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83664" y="2926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IDC Japan「国内AI市場は今後4年で約3倍に成長」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79408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idc.com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3328416"/>
            <a:ext cx="11027664" cy="365760"/>
          </a:xfrm>
          <a:prstGeom prst="roundRect">
            <a:avLst>
              <a:gd name="adj" fmla="val 7500"/>
            </a:avLst>
          </a:prstGeom>
          <a:solidFill>
            <a:srgbClr val="F1F4F9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33284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成功事例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83664" y="332841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AI検索パートナーズ「税理士事務所のAI検索集客とは？」（ルーシー／バズ部の事例を含む）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79408" y="33284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ai-search.techsuite.co.jp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" y="3730752"/>
            <a:ext cx="11027664" cy="3657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37307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成功事例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83664" y="373075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株式会社仁頼「GEO対策（AIO/LLMO）の成功事例5選」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79408" y="37307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jinrai.co.jp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4133088"/>
            <a:ext cx="11027664" cy="365760"/>
          </a:xfrm>
          <a:prstGeom prst="roundRect">
            <a:avLst>
              <a:gd name="adj" fmla="val 7500"/>
            </a:avLst>
          </a:prstGeom>
          <a:solidFill>
            <a:srgbClr val="F1F4F9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41330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成功事例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83664" y="413308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connected-one「GEO対策の成功事例8選｜海外企業がAIに引用された施策と数字」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79408" y="41330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connected-one.world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4535424"/>
            <a:ext cx="11027664" cy="3657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86384" y="45354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成功事例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83664" y="453542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集客大陸「【士業の成功事例】ChatGPT経由で受任に至った！」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979408" y="45354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seo-best.jp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" y="4937760"/>
            <a:ext cx="11027664" cy="365760"/>
          </a:xfrm>
          <a:prstGeom prst="roundRect">
            <a:avLst>
              <a:gd name="adj" fmla="val 7500"/>
            </a:avLst>
          </a:prstGeom>
          <a:solidFill>
            <a:srgbClr val="F1F4F9"/>
          </a:solidFill>
          <a:ln/>
        </p:spPr>
      </p:sp>
      <p:sp>
        <p:nvSpPr>
          <p:cNvPr id="39" name="Text 37"/>
          <p:cNvSpPr/>
          <p:nvPr/>
        </p:nvSpPr>
        <p:spPr>
          <a:xfrm>
            <a:off x="786384" y="4937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成功事例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883664" y="4937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start-link「GEO対策（生成AI検索最適化）完全ガイド」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979408" y="4937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start-link.jp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6928" y="5340096"/>
            <a:ext cx="11027664" cy="3657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786384" y="53400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料金相場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883664" y="534009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SEデザイン「LLMO対策の費用相場はいくら？」／メディアリーチ「LLMO対策の費用比較」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979408" y="53400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sedesign.co.jp ほか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" y="5742432"/>
            <a:ext cx="11027664" cy="365760"/>
          </a:xfrm>
          <a:prstGeom prst="roundRect">
            <a:avLst>
              <a:gd name="adj" fmla="val 7500"/>
            </a:avLst>
          </a:prstGeom>
          <a:solidFill>
            <a:srgbClr val="F1F4F9"/>
          </a:solidFill>
          <a:ln/>
        </p:spPr>
      </p:sp>
      <p:sp>
        <p:nvSpPr>
          <p:cNvPr id="47" name="Text 45"/>
          <p:cNvSpPr/>
          <p:nvPr/>
        </p:nvSpPr>
        <p:spPr>
          <a:xfrm>
            <a:off x="786384" y="57424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6C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補助金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883664" y="57424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中小企業庁「デジタル化・AI導入補助金2026」公募要領・制度概要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979408" y="5742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chusho.meti.go.jp / it-shien.smrj.go.jp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6928" y="6144768"/>
            <a:ext cx="11027664" cy="457200"/>
          </a:xfrm>
          <a:prstGeom prst="roundRect">
            <a:avLst>
              <a:gd name="adj" fmla="val 10000"/>
            </a:avLst>
          </a:prstGeom>
          <a:solidFill>
            <a:srgbClr val="F8E9E5"/>
          </a:solidFill>
          <a:ln/>
        </p:spPr>
      </p:sp>
      <p:sp>
        <p:nvSpPr>
          <p:cNvPr id="51" name="Text 49"/>
          <p:cNvSpPr/>
          <p:nvPr/>
        </p:nvSpPr>
        <p:spPr>
          <a:xfrm>
            <a:off x="841248" y="6144768"/>
            <a:ext cx="10479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成功事例として掲載した数値は、いずれも各支援会社が自社サイトで公表しているもので、第三者による検証を経ていません。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AI検索可視化サービス ご提案（As-Is / To-Be）</dc:title>
  <dc:subject>PptxGenJS Presentation</dc:subject>
  <dc:creator>AI検索可視化サービス</dc:creator>
  <cp:lastModifiedBy>AI検索可視化サービス</cp:lastModifiedBy>
  <cp:revision>1</cp:revision>
  <dcterms:created xsi:type="dcterms:W3CDTF">2026-08-23T04:00:54Z</dcterms:created>
  <dcterms:modified xsi:type="dcterms:W3CDTF">2026-08-23T04:00:54Z</dcterms:modified>
</cp:coreProperties>
</file>