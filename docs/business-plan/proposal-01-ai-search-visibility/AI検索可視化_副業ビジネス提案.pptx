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667088"/>
                </a:solidFill>
                <a:latin typeface="Yu Gothic"/>
              </a:defRPr>
            </a:pPr>
            <a:r>
              <a:rPr sz="1150" b="0" i="0" u="none" strike="noStrike">
                <a:solidFill>
                  <a:srgbClr val="667088"/>
                </a:solidFill>
                <a:latin typeface="Yu Gothic"/>
              </a:rPr>
              <a:t>月商の推移（万円）　※18か月時点 月商1,128万円 ＝ 年商1億3,536万円</a:t>
            </a:r>
          </a:p>
        </c:rich>
      </c:tx>
      <c:layout/>
      <c:overlay val="0"/>
    </c:title>
    <c:autoTitleDeleted val="0"/>
    <c:plotArea>
      <c:layout/>
      <c:barChart>
        <c:barDir val="col"/>
        <c:grouping val="stacked"/>
        <c:varyColors val="0"/>
        <c:ser>
          <c:idx val="0"/>
          <c:order val="0"/>
          <c:tx>
            <c:strRef>
              <c:f>Sheet1!$B$1</c:f>
              <c:strCache>
                <c:ptCount val="1"/>
                <c:pt idx="0">
                  <c:v>サービスMRR</c:v>
                </c:pt>
              </c:strCache>
            </c:strRef>
          </c:tx>
          <c:spPr>
            <a:solidFill>
              <a:srgbClr val="2E3A5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3か月</c:v>
                  </c:pt>
                  <c:pt idx="1">
                    <c:v>6か月</c:v>
                  </c:pt>
                  <c:pt idx="2">
                    <c:v>12か月</c:v>
                  </c:pt>
                  <c:pt idx="3">
                    <c:v>18か月</c:v>
                  </c:pt>
                  <c:pt idx="4">
                    <c:v>24か月</c:v>
                  </c:pt>
                </c:lvl>
              </c:multiLvlStrCache>
            </c:multiLvlStrRef>
          </c:cat>
          <c:val>
            <c:numRef>
              <c:f>Sheet1!$B$2:$B$6</c:f>
              <c:numCache>
                <c:formatCode>General</c:formatCode>
                <c:ptCount val="5"/>
                <c:pt idx="0">
                  <c:v>72</c:v>
                </c:pt>
                <c:pt idx="1">
                  <c:v>180</c:v>
                </c:pt>
                <c:pt idx="2">
                  <c:v>390</c:v>
                </c:pt>
                <c:pt idx="3">
                  <c:v>540</c:v>
                </c:pt>
                <c:pt idx="4">
                  <c:v>700</c:v>
                </c:pt>
              </c:numCache>
            </c:numRef>
          </c:val>
        </c:ser>
        <c:ser>
          <c:idx val="1"/>
          <c:order val="1"/>
          <c:tx>
            <c:strRef>
              <c:f>Sheet1!$C$1</c:f>
              <c:strCache>
                <c:ptCount val="1"/>
                <c:pt idx="0">
                  <c:v>SaaS MRR</c:v>
                </c:pt>
              </c:strCache>
            </c:strRef>
          </c:tx>
          <c:spPr>
            <a:solidFill>
              <a:srgbClr val="E0A0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3か月</c:v>
                  </c:pt>
                  <c:pt idx="1">
                    <c:v>6か月</c:v>
                  </c:pt>
                  <c:pt idx="2">
                    <c:v>12か月</c:v>
                  </c:pt>
                  <c:pt idx="3">
                    <c:v>18か月</c:v>
                  </c:pt>
                  <c:pt idx="4">
                    <c:v>24か月</c:v>
                  </c:pt>
                </c:lvl>
              </c:multiLvlStrCache>
            </c:multiLvlStrRef>
          </c:cat>
          <c:val>
            <c:numRef>
              <c:f>Sheet1!$C$2:$C$6</c:f>
              <c:numCache>
                <c:formatCode>General</c:formatCode>
                <c:ptCount val="5"/>
                <c:pt idx="0">
                  <c:v>0</c:v>
                </c:pt>
                <c:pt idx="1">
                  <c:v>29</c:v>
                </c:pt>
                <c:pt idx="2">
                  <c:v>196</c:v>
                </c:pt>
                <c:pt idx="3">
                  <c:v>588</c:v>
                </c:pt>
                <c:pt idx="4">
                  <c:v>1176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42B3D"/>
                </a:solidFill>
                <a:latin typeface="Yu Gothic"/>
              </a:defRPr>
            </a:pPr>
            <a:endParaRPr lang="en-US"/>
          </a:p>
        </c:txPr>
        <c:crossAx val="2094734552"/>
        <c:crosses val="autoZero"/>
        <c:auto val="1"/>
        <c:lblAlgn val="ctr"/>
        <c:noMultiLvlLbl val="1"/>
      </c:catAx>
      <c:valAx>
        <c:axId val="2094734552"/>
        <c:scaling>
          <c:orientation val="minMax"/>
          <c:max val="2000"/>
        </c:scaling>
        <c:delete val="0"/>
        <c:axPos val="l"/>
        <c:majorGridlines>
          <c:spPr>
            <a:ln w="12700" cap="flat">
              <a:solidFill>
                <a:srgbClr val="E4EA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67088"/>
                </a:solidFill>
                <a:latin typeface="Yu Gothic"/>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42B3D"/>
              </a:solidFill>
              <a:latin typeface="Yu Gothic"/>
              <a:cs typeface="Yu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ChatGPT・Gemini・AI Overviewsに自社が引用されているかを診断し、引用されるよう直す月額サービス。納品工程をAIで全自動化し1人で運営する事業案。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いきなりSaaSを作ると初売上まで6〜12か月かかり、3か月要件を満たせない。サービス先行なら4〜6週間で初売上が立つ。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5条件すべてに◎で適合する案として本提案を選んでいる。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各項目5点満点。Bのマイクロ SaaS は条件適合こそ高いが3か月では売上が立たないため、フェーズ2として吸収する。Cは月額3,980円まで価格が崩れており自前SaaSでは戦えないので、アップセル商材として仕入れる。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この3点が同時に成立するのはA案だけ。特に1つ目が3か月要件と低投資要件を同時に解決している。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技術スタックはNext.js + Supabase + Vercel、n8n、Claude API + OpenAI API、Stripe、Resend。すべて既存の低コストサービス。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最初の一手は3番。1日で需要を検証できる。ここで反応が出れば、そのまま無料診断レポートの雛形になる。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E"/>
        </a:solidFill>
      </p:bgPr>
    </p:bg>
    <p:spTree>
      <p:nvGrpSpPr>
        <p:cNvPr id="1" name=""/>
        <p:cNvGrpSpPr/>
        <p:nvPr/>
      </p:nvGrpSpPr>
      <p:grpSpPr>
        <a:xfrm>
          <a:off x="0" y="0"/>
          <a:ext cx="0" cy="0"/>
          <a:chOff x="0" y="0"/>
          <a:chExt cx="0" cy="0"/>
        </a:xfrm>
      </p:grpSpPr>
      <p:sp>
        <p:nvSpPr>
          <p:cNvPr id="2" name="Shape 0"/>
          <p:cNvSpPr/>
          <p:nvPr/>
        </p:nvSpPr>
        <p:spPr>
          <a:xfrm>
            <a:off x="566928" y="868680"/>
            <a:ext cx="201168" cy="201168"/>
          </a:xfrm>
          <a:prstGeom prst="ellipse">
            <a:avLst/>
          </a:prstGeom>
          <a:solidFill>
            <a:srgbClr val="E0A03A"/>
          </a:solidFill>
          <a:ln/>
        </p:spPr>
      </p:sp>
      <p:sp>
        <p:nvSpPr>
          <p:cNvPr id="3" name="Text 1"/>
          <p:cNvSpPr/>
          <p:nvPr/>
        </p:nvSpPr>
        <p:spPr>
          <a:xfrm>
            <a:off x="914400" y="850392"/>
            <a:ext cx="9144000" cy="237744"/>
          </a:xfrm>
          <a:prstGeom prst="rect">
            <a:avLst/>
          </a:prstGeom>
          <a:noFill/>
          <a:ln/>
        </p:spPr>
        <p:txBody>
          <a:bodyPr wrap="square" lIns="0" tIns="0" rIns="0" bIns="0" rtlCol="0" anchor="ctr"/>
          <a:lstStyle/>
          <a:p>
            <a:pPr indent="0" marL="0">
              <a:buNone/>
            </a:pPr>
            <a:r>
              <a:rPr lang="en-US" sz="1200" b="1" spc="200" kern="0" dirty="0">
                <a:solidFill>
                  <a:srgbClr val="A9BEE3"/>
                </a:solidFill>
                <a:latin typeface="Yu Gothic" pitchFamily="34" charset="0"/>
                <a:ea typeface="Yu Gothic" pitchFamily="34" charset="-122"/>
                <a:cs typeface="Yu Gothic" pitchFamily="34" charset="-120"/>
              </a:rPr>
              <a:t>副業ビジネス提案書　│　2026.08.23　│　調査・分析 Claude Code</a:t>
            </a:r>
            <a:endParaRPr lang="en-US" sz="1200" dirty="0"/>
          </a:p>
        </p:txBody>
      </p:sp>
      <p:sp>
        <p:nvSpPr>
          <p:cNvPr id="4" name="Text 2"/>
          <p:cNvSpPr/>
          <p:nvPr/>
        </p:nvSpPr>
        <p:spPr>
          <a:xfrm>
            <a:off x="566928" y="1737360"/>
            <a:ext cx="10424160" cy="1828800"/>
          </a:xfrm>
          <a:prstGeom prst="rect">
            <a:avLst/>
          </a:prstGeom>
          <a:noFill/>
          <a:ln/>
        </p:spPr>
        <p:txBody>
          <a:bodyPr wrap="square" lIns="0" tIns="0" rIns="0" bIns="0" rtlCol="0" anchor="t"/>
          <a:lstStyle/>
          <a:p>
            <a:pPr indent="0" marL="0">
              <a:lnSpc>
                <a:spcPts val="6000"/>
              </a:lnSpc>
              <a:buNone/>
            </a:pPr>
            <a:r>
              <a:rPr lang="en-US" sz="4600" b="1" dirty="0">
                <a:solidFill>
                  <a:srgbClr val="FFFFFF"/>
                </a:solidFill>
                <a:latin typeface="Yu Gothic" pitchFamily="34" charset="0"/>
                <a:ea typeface="Yu Gothic" pitchFamily="34" charset="-122"/>
                <a:cs typeface="Yu Gothic" pitchFamily="34" charset="-120"/>
              </a:rPr>
              <a:t>検索順位は1位のまま、</a:t>
            </a:r>
            <a:endParaRPr lang="en-US" sz="4600" dirty="0"/>
          </a:p>
          <a:p>
            <a:pPr indent="0" marL="0">
              <a:lnSpc>
                <a:spcPts val="6000"/>
              </a:lnSpc>
              <a:buNone/>
            </a:pPr>
            <a:r>
              <a:rPr lang="en-US" sz="4600" b="1" dirty="0">
                <a:solidFill>
                  <a:srgbClr val="E0A03A"/>
                </a:solidFill>
                <a:latin typeface="Yu Gothic" pitchFamily="34" charset="0"/>
                <a:ea typeface="Yu Gothic" pitchFamily="34" charset="-122"/>
                <a:cs typeface="Yu Gothic" pitchFamily="34" charset="-120"/>
              </a:rPr>
              <a:t>問い合わせだけが半分になった。</a:t>
            </a:r>
            <a:endParaRPr lang="en-US" sz="4600" dirty="0"/>
          </a:p>
        </p:txBody>
      </p:sp>
      <p:sp>
        <p:nvSpPr>
          <p:cNvPr id="5" name="Text 3"/>
          <p:cNvSpPr/>
          <p:nvPr/>
        </p:nvSpPr>
        <p:spPr>
          <a:xfrm>
            <a:off x="566928" y="3703320"/>
            <a:ext cx="8778240" cy="914400"/>
          </a:xfrm>
          <a:prstGeom prst="rect">
            <a:avLst/>
          </a:prstGeom>
          <a:noFill/>
          <a:ln/>
        </p:spPr>
        <p:txBody>
          <a:bodyPr wrap="square" lIns="0" tIns="0" rIns="0" bIns="0" rtlCol="0" anchor="ctr"/>
          <a:lstStyle/>
          <a:p>
            <a:pPr indent="0" marL="0">
              <a:lnSpc>
                <a:spcPts val="2600"/>
              </a:lnSpc>
              <a:buNone/>
            </a:pPr>
            <a:r>
              <a:rPr lang="en-US" sz="1600" dirty="0">
                <a:solidFill>
                  <a:srgbClr val="A9BEE3"/>
                </a:solidFill>
                <a:latin typeface="Yu Gothic" pitchFamily="34" charset="0"/>
                <a:ea typeface="Yu Gothic" pitchFamily="34" charset="-122"/>
                <a:cs typeface="Yu Gothic" pitchFamily="34" charset="-120"/>
              </a:rPr>
              <a:t>その原因を説明でき、直せる人間が足りていない。</a:t>
            </a:r>
            <a:endParaRPr lang="en-US" sz="1600" dirty="0"/>
          </a:p>
          <a:p>
            <a:pPr indent="0" marL="0">
              <a:lnSpc>
                <a:spcPts val="2600"/>
              </a:lnSpc>
              <a:buNone/>
            </a:pPr>
            <a:r>
              <a:rPr lang="en-US" sz="1600" dirty="0">
                <a:solidFill>
                  <a:srgbClr val="A9BEE3"/>
                </a:solidFill>
                <a:latin typeface="Yu Gothic" pitchFamily="34" charset="0"/>
                <a:ea typeface="Yu Gothic" pitchFamily="34" charset="-122"/>
                <a:cs typeface="Yu Gothic" pitchFamily="34" charset="-120"/>
              </a:rPr>
              <a:t>ここに、初期投資23万円・従業員ゼロで参入できる余地がある。</a:t>
            </a:r>
            <a:endParaRPr lang="en-US" sz="1600" dirty="0"/>
          </a:p>
        </p:txBody>
      </p:sp>
      <p:sp>
        <p:nvSpPr>
          <p:cNvPr id="6" name="Shape 4"/>
          <p:cNvSpPr/>
          <p:nvPr/>
        </p:nvSpPr>
        <p:spPr>
          <a:xfrm>
            <a:off x="566928" y="4892040"/>
            <a:ext cx="9601200" cy="786384"/>
          </a:xfrm>
          <a:prstGeom prst="roundRect">
            <a:avLst>
              <a:gd name="adj" fmla="val 9302"/>
            </a:avLst>
          </a:prstGeom>
          <a:solidFill>
            <a:srgbClr val="212C48"/>
          </a:solidFill>
          <a:ln/>
        </p:spPr>
      </p:sp>
      <p:sp>
        <p:nvSpPr>
          <p:cNvPr id="7" name="Text 5"/>
          <p:cNvSpPr/>
          <p:nvPr/>
        </p:nvSpPr>
        <p:spPr>
          <a:xfrm>
            <a:off x="877824" y="4892040"/>
            <a:ext cx="9006840" cy="786384"/>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AI検索可視化（GEO / LLMO）プロダクタイズド・サービス → SaaS化</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A2E"/>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0</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A9BEE3"/>
                </a:solidFill>
                <a:latin typeface="Yu Gothic" pitchFamily="34" charset="0"/>
                <a:ea typeface="Yu Gothic" pitchFamily="34" charset="-122"/>
                <a:cs typeface="Yu Gothic" pitchFamily="34" charset="-120"/>
              </a:rPr>
              <a:t>CONCLUSION</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結論：2段ロケットで組み立てる</a:t>
            </a:r>
            <a:endParaRPr lang="en-US" sz="3200" dirty="0"/>
          </a:p>
        </p:txBody>
      </p:sp>
      <p:sp>
        <p:nvSpPr>
          <p:cNvPr id="6" name="Text 4"/>
          <p:cNvSpPr/>
          <p:nvPr/>
        </p:nvSpPr>
        <p:spPr>
          <a:xfrm>
            <a:off x="566928" y="1828800"/>
            <a:ext cx="10881360" cy="822960"/>
          </a:xfrm>
          <a:prstGeom prst="rect">
            <a:avLst/>
          </a:prstGeom>
          <a:noFill/>
          <a:ln/>
        </p:spPr>
        <p:txBody>
          <a:bodyPr wrap="square" lIns="0" tIns="0" rIns="0" bIns="0" rtlCol="0" anchor="ctr"/>
          <a:lstStyle/>
          <a:p>
            <a:pPr indent="0" marL="0">
              <a:lnSpc>
                <a:spcPts val="3000"/>
              </a:lnSpc>
              <a:buNone/>
            </a:pPr>
            <a:r>
              <a:rPr lang="en-US" sz="1900" b="1" dirty="0">
                <a:solidFill>
                  <a:srgbClr val="FFFFFF"/>
                </a:solidFill>
                <a:latin typeface="Yu Gothic" pitchFamily="34" charset="0"/>
                <a:ea typeface="Yu Gothic" pitchFamily="34" charset="-122"/>
                <a:cs typeface="Yu Gothic" pitchFamily="34" charset="-120"/>
              </a:rPr>
              <a:t>「AI検索に自社が引用されているか」を診断し、引用されるように直す月額サービスを、</a:t>
            </a:r>
            <a:endParaRPr lang="en-US" sz="1900" dirty="0"/>
          </a:p>
          <a:p>
            <a:pPr indent="0" marL="0">
              <a:lnSpc>
                <a:spcPts val="3000"/>
              </a:lnSpc>
              <a:buNone/>
            </a:pPr>
            <a:r>
              <a:rPr lang="en-US" sz="1900" b="1" dirty="0">
                <a:solidFill>
                  <a:srgbClr val="E0A03A"/>
                </a:solidFill>
                <a:latin typeface="Yu Gothic" pitchFamily="34" charset="0"/>
                <a:ea typeface="Yu Gothic" pitchFamily="34" charset="-122"/>
                <a:cs typeface="Yu Gothic" pitchFamily="34" charset="-120"/>
              </a:rPr>
              <a:t>納品工程をAIで完全自動化して1人で運営する。</a:t>
            </a:r>
            <a:endParaRPr lang="en-US" sz="1900" dirty="0"/>
          </a:p>
        </p:txBody>
      </p:sp>
      <p:sp>
        <p:nvSpPr>
          <p:cNvPr id="7" name="Shape 5"/>
          <p:cNvSpPr/>
          <p:nvPr/>
        </p:nvSpPr>
        <p:spPr>
          <a:xfrm>
            <a:off x="566928" y="2880360"/>
            <a:ext cx="4846320" cy="2423160"/>
          </a:xfrm>
          <a:prstGeom prst="roundRect">
            <a:avLst>
              <a:gd name="adj" fmla="val 2264"/>
            </a:avLst>
          </a:prstGeom>
          <a:solidFill>
            <a:srgbClr val="212C48"/>
          </a:solidFill>
          <a:ln/>
        </p:spPr>
      </p:sp>
      <p:sp>
        <p:nvSpPr>
          <p:cNvPr id="8" name="Text 6"/>
          <p:cNvSpPr/>
          <p:nvPr/>
        </p:nvSpPr>
        <p:spPr>
          <a:xfrm>
            <a:off x="914400" y="3136392"/>
            <a:ext cx="4151376" cy="256032"/>
          </a:xfrm>
          <a:prstGeom prst="rect">
            <a:avLst/>
          </a:prstGeom>
          <a:noFill/>
          <a:ln/>
        </p:spPr>
        <p:txBody>
          <a:bodyPr wrap="square" lIns="0" tIns="0" rIns="0" bIns="0" rtlCol="0" anchor="ctr"/>
          <a:lstStyle/>
          <a:p>
            <a:pPr indent="0" marL="0">
              <a:buNone/>
            </a:pPr>
            <a:r>
              <a:rPr lang="en-US" sz="1150" b="1" spc="150" kern="0" dirty="0">
                <a:solidFill>
                  <a:srgbClr val="E0A03A"/>
                </a:solidFill>
                <a:latin typeface="Yu Gothic" pitchFamily="34" charset="0"/>
                <a:ea typeface="Yu Gothic" pitchFamily="34" charset="-122"/>
                <a:cs typeface="Yu Gothic" pitchFamily="34" charset="-120"/>
              </a:rPr>
              <a:t>PHASE 1 ─ 0〜3か月</a:t>
            </a:r>
            <a:endParaRPr lang="en-US" sz="1150" dirty="0"/>
          </a:p>
        </p:txBody>
      </p:sp>
      <p:sp>
        <p:nvSpPr>
          <p:cNvPr id="9" name="Text 7"/>
          <p:cNvSpPr/>
          <p:nvPr/>
        </p:nvSpPr>
        <p:spPr>
          <a:xfrm>
            <a:off x="914400" y="3483864"/>
            <a:ext cx="4151376" cy="402336"/>
          </a:xfrm>
          <a:prstGeom prst="rect">
            <a:avLst/>
          </a:prstGeom>
          <a:noFill/>
          <a:ln/>
        </p:spPr>
        <p:txBody>
          <a:bodyPr wrap="square" lIns="0" tIns="0" rIns="0" bIns="0" rtlCol="0" anchor="ctr"/>
          <a:lstStyle/>
          <a:p>
            <a:pPr indent="0" marL="0">
              <a:buNone/>
            </a:pPr>
            <a:r>
              <a:rPr lang="en-US" sz="1900" b="1" dirty="0">
                <a:solidFill>
                  <a:srgbClr val="FFFFFF"/>
                </a:solidFill>
                <a:latin typeface="Yu Gothic" pitchFamily="34" charset="0"/>
                <a:ea typeface="Yu Gothic" pitchFamily="34" charset="-122"/>
                <a:cs typeface="Yu Gothic" pitchFamily="34" charset="-120"/>
              </a:rPr>
              <a:t>高単価サービスで現金を作る</a:t>
            </a:r>
            <a:endParaRPr lang="en-US" sz="1900" dirty="0"/>
          </a:p>
        </p:txBody>
      </p:sp>
      <p:sp>
        <p:nvSpPr>
          <p:cNvPr id="10" name="Text 8"/>
          <p:cNvSpPr/>
          <p:nvPr/>
        </p:nvSpPr>
        <p:spPr>
          <a:xfrm>
            <a:off x="914400" y="3977640"/>
            <a:ext cx="4151376" cy="1097280"/>
          </a:xfrm>
          <a:prstGeom prst="rect">
            <a:avLst/>
          </a:prstGeom>
          <a:noFill/>
          <a:ln/>
        </p:spPr>
        <p:txBody>
          <a:bodyPr wrap="square" lIns="0" tIns="0" rIns="0" bIns="0" rtlCol="0" anchor="ctr"/>
          <a:lstStyle/>
          <a:p>
            <a:pPr indent="0" marL="0">
              <a:lnSpc>
                <a:spcPts val="2200"/>
              </a:lnSpc>
              <a:buNone/>
            </a:pPr>
            <a:r>
              <a:rPr lang="en-US" sz="1300" dirty="0">
                <a:solidFill>
                  <a:srgbClr val="A9BEE3"/>
                </a:solidFill>
                <a:latin typeface="Yu Gothic" pitchFamily="34" charset="0"/>
                <a:ea typeface="Yu Gothic" pitchFamily="34" charset="-122"/>
                <a:cs typeface="Yu Gothic" pitchFamily="34" charset="-120"/>
              </a:rPr>
              <a:t>月5〜30万円のプロダクタイズド・サービス。</a:t>
            </a:r>
            <a:endParaRPr lang="en-US" sz="1300" dirty="0"/>
          </a:p>
          <a:p>
            <a:pPr indent="0" marL="0">
              <a:lnSpc>
                <a:spcPts val="2200"/>
              </a:lnSpc>
              <a:buNone/>
            </a:pPr>
            <a:r>
              <a:rPr lang="en-US" sz="1300" dirty="0">
                <a:solidFill>
                  <a:srgbClr val="A9BEE3"/>
                </a:solidFill>
                <a:latin typeface="Yu Gothic" pitchFamily="34" charset="0"/>
                <a:ea typeface="Yu Gothic" pitchFamily="34" charset="-122"/>
                <a:cs typeface="Yu Gothic" pitchFamily="34" charset="-120"/>
              </a:rPr>
              <a:t>手作業で全力納品し、品質基準と</a:t>
            </a:r>
            <a:endParaRPr lang="en-US" sz="1300" dirty="0"/>
          </a:p>
          <a:p>
            <a:pPr indent="0" marL="0">
              <a:lnSpc>
                <a:spcPts val="2200"/>
              </a:lnSpc>
              <a:buNone/>
            </a:pPr>
            <a:r>
              <a:rPr lang="en-US" sz="1300" dirty="0">
                <a:solidFill>
                  <a:srgbClr val="A9BEE3"/>
                </a:solidFill>
                <a:latin typeface="Yu Gothic" pitchFamily="34" charset="0"/>
                <a:ea typeface="Yu Gothic" pitchFamily="34" charset="-122"/>
                <a:cs typeface="Yu Gothic" pitchFamily="34" charset="-120"/>
              </a:rPr>
              <a:t>「本当の顧客課題」を先に手に入れる。</a:t>
            </a:r>
            <a:endParaRPr lang="en-US" sz="1300" dirty="0"/>
          </a:p>
        </p:txBody>
      </p:sp>
      <p:sp>
        <p:nvSpPr>
          <p:cNvPr id="11" name="Shape 9"/>
          <p:cNvSpPr/>
          <p:nvPr/>
        </p:nvSpPr>
        <p:spPr>
          <a:xfrm>
            <a:off x="6053328" y="2880360"/>
            <a:ext cx="4846320" cy="2423160"/>
          </a:xfrm>
          <a:prstGeom prst="roundRect">
            <a:avLst>
              <a:gd name="adj" fmla="val 2264"/>
            </a:avLst>
          </a:prstGeom>
          <a:solidFill>
            <a:srgbClr val="212C48"/>
          </a:solidFill>
          <a:ln/>
        </p:spPr>
      </p:sp>
      <p:sp>
        <p:nvSpPr>
          <p:cNvPr id="12" name="Text 10"/>
          <p:cNvSpPr/>
          <p:nvPr/>
        </p:nvSpPr>
        <p:spPr>
          <a:xfrm>
            <a:off x="6400800" y="3136392"/>
            <a:ext cx="4151376" cy="256032"/>
          </a:xfrm>
          <a:prstGeom prst="rect">
            <a:avLst/>
          </a:prstGeom>
          <a:noFill/>
          <a:ln/>
        </p:spPr>
        <p:txBody>
          <a:bodyPr wrap="square" lIns="0" tIns="0" rIns="0" bIns="0" rtlCol="0" anchor="ctr"/>
          <a:lstStyle/>
          <a:p>
            <a:pPr indent="0" marL="0">
              <a:buNone/>
            </a:pPr>
            <a:r>
              <a:rPr lang="en-US" sz="1150" b="1" spc="150" kern="0" dirty="0">
                <a:solidFill>
                  <a:srgbClr val="E0A03A"/>
                </a:solidFill>
                <a:latin typeface="Yu Gothic" pitchFamily="34" charset="0"/>
                <a:ea typeface="Yu Gothic" pitchFamily="34" charset="-122"/>
                <a:cs typeface="Yu Gothic" pitchFamily="34" charset="-120"/>
              </a:rPr>
              <a:t>PHASE 2 ─ 4か月〜</a:t>
            </a:r>
            <a:endParaRPr lang="en-US" sz="1150" dirty="0"/>
          </a:p>
        </p:txBody>
      </p:sp>
      <p:sp>
        <p:nvSpPr>
          <p:cNvPr id="13" name="Text 11"/>
          <p:cNvSpPr/>
          <p:nvPr/>
        </p:nvSpPr>
        <p:spPr>
          <a:xfrm>
            <a:off x="6400800" y="3483864"/>
            <a:ext cx="4151376" cy="402336"/>
          </a:xfrm>
          <a:prstGeom prst="rect">
            <a:avLst/>
          </a:prstGeom>
          <a:noFill/>
          <a:ln/>
        </p:spPr>
        <p:txBody>
          <a:bodyPr wrap="square" lIns="0" tIns="0" rIns="0" bIns="0" rtlCol="0" anchor="ctr"/>
          <a:lstStyle/>
          <a:p>
            <a:pPr indent="0" marL="0">
              <a:buNone/>
            </a:pPr>
            <a:r>
              <a:rPr lang="en-US" sz="1900" b="1" dirty="0">
                <a:solidFill>
                  <a:srgbClr val="FFFFFF"/>
                </a:solidFill>
                <a:latin typeface="Yu Gothic" pitchFamily="34" charset="0"/>
                <a:ea typeface="Yu Gothic" pitchFamily="34" charset="-122"/>
                <a:cs typeface="Yu Gothic" pitchFamily="34" charset="-120"/>
              </a:rPr>
              <a:t>同じエンジンをSaaSに載せる</a:t>
            </a:r>
            <a:endParaRPr lang="en-US" sz="1900" dirty="0"/>
          </a:p>
        </p:txBody>
      </p:sp>
      <p:sp>
        <p:nvSpPr>
          <p:cNvPr id="14" name="Text 12"/>
          <p:cNvSpPr/>
          <p:nvPr/>
        </p:nvSpPr>
        <p:spPr>
          <a:xfrm>
            <a:off x="6400800" y="3977640"/>
            <a:ext cx="4151376" cy="1097280"/>
          </a:xfrm>
          <a:prstGeom prst="rect">
            <a:avLst/>
          </a:prstGeom>
          <a:noFill/>
          <a:ln/>
        </p:spPr>
        <p:txBody>
          <a:bodyPr wrap="square" lIns="0" tIns="0" rIns="0" bIns="0" rtlCol="0" anchor="ctr"/>
          <a:lstStyle/>
          <a:p>
            <a:pPr indent="0" marL="0">
              <a:lnSpc>
                <a:spcPts val="2200"/>
              </a:lnSpc>
              <a:buNone/>
            </a:pPr>
            <a:r>
              <a:rPr lang="en-US" sz="1300" dirty="0">
                <a:solidFill>
                  <a:srgbClr val="A9BEE3"/>
                </a:solidFill>
                <a:latin typeface="Yu Gothic" pitchFamily="34" charset="0"/>
                <a:ea typeface="Yu Gothic" pitchFamily="34" charset="-122"/>
                <a:cs typeface="Yu Gothic" pitchFamily="34" charset="-120"/>
              </a:rPr>
              <a:t>自動化した診断パイプラインを</a:t>
            </a:r>
            <a:endParaRPr lang="en-US" sz="1300" dirty="0"/>
          </a:p>
          <a:p>
            <a:pPr indent="0" marL="0">
              <a:lnSpc>
                <a:spcPts val="2200"/>
              </a:lnSpc>
              <a:buNone/>
            </a:pPr>
            <a:r>
              <a:rPr lang="en-US" sz="1300" dirty="0">
                <a:solidFill>
                  <a:srgbClr val="A9BEE3"/>
                </a:solidFill>
                <a:latin typeface="Yu Gothic" pitchFamily="34" charset="0"/>
                <a:ea typeface="Yu Gothic" pitchFamily="34" charset="-122"/>
                <a:cs typeface="Yu Gothic" pitchFamily="34" charset="-120"/>
              </a:rPr>
              <a:t>セルフサーブSaaS（月9,800円〜）に転用。</a:t>
            </a:r>
            <a:endParaRPr lang="en-US" sz="1300" dirty="0"/>
          </a:p>
          <a:p>
            <a:pPr indent="0" marL="0">
              <a:lnSpc>
                <a:spcPts val="2200"/>
              </a:lnSpc>
              <a:buNone/>
            </a:pPr>
            <a:r>
              <a:rPr lang="en-US" sz="1300" dirty="0">
                <a:solidFill>
                  <a:srgbClr val="A9BEE3"/>
                </a:solidFill>
                <a:latin typeface="Yu Gothic" pitchFamily="34" charset="0"/>
                <a:ea typeface="Yu Gothic" pitchFamily="34" charset="-122"/>
                <a:cs typeface="Yu Gothic" pitchFamily="34" charset="-120"/>
              </a:rPr>
              <a:t>従業員不在のまま売上だけを伸ばす。</a:t>
            </a:r>
            <a:endParaRPr lang="en-US" sz="1300" dirty="0"/>
          </a:p>
        </p:txBody>
      </p:sp>
      <p:sp>
        <p:nvSpPr>
          <p:cNvPr id="15" name="Shape 13"/>
          <p:cNvSpPr/>
          <p:nvPr/>
        </p:nvSpPr>
        <p:spPr>
          <a:xfrm>
            <a:off x="5504688" y="3840480"/>
            <a:ext cx="457200" cy="502920"/>
          </a:xfrm>
          <a:prstGeom prst="chevron">
            <a:avLst/>
          </a:prstGeom>
          <a:solidFill>
            <a:srgbClr val="E0A03A"/>
          </a:solidFill>
          <a:ln/>
        </p:spPr>
      </p:sp>
      <p:sp>
        <p:nvSpPr>
          <p:cNvPr id="16" name="Text 14"/>
          <p:cNvSpPr/>
          <p:nvPr/>
        </p:nvSpPr>
        <p:spPr>
          <a:xfrm>
            <a:off x="566928" y="5623560"/>
            <a:ext cx="10881360" cy="365760"/>
          </a:xfrm>
          <a:prstGeom prst="rect">
            <a:avLst/>
          </a:prstGeom>
          <a:noFill/>
          <a:ln/>
        </p:spPr>
        <p:txBody>
          <a:bodyPr wrap="square" lIns="0" tIns="0" rIns="0" bIns="0" rtlCol="0" anchor="ctr"/>
          <a:lstStyle/>
          <a:p>
            <a:pPr indent="0" marL="0">
              <a:buNone/>
            </a:pPr>
            <a:r>
              <a:rPr lang="en-US" sz="1350" dirty="0">
                <a:solidFill>
                  <a:srgbClr val="A9BEE3"/>
                </a:solidFill>
                <a:latin typeface="Yu Gothic" pitchFamily="34" charset="0"/>
                <a:ea typeface="Yu Gothic" pitchFamily="34" charset="-122"/>
                <a:cs typeface="Yu Gothic" pitchFamily="34" charset="-120"/>
              </a:rPr>
              <a:t>サービスが顧客課題を教え、SaaSが従業員不在のまま売上を伸ばす — この役割分担が本案の骨格。</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1</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REQUIREMENTS</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ご提示の5条件との適合性</a:t>
            </a:r>
            <a:endParaRPr lang="en-US" sz="3200" dirty="0"/>
          </a:p>
        </p:txBody>
      </p:sp>
      <p:sp>
        <p:nvSpPr>
          <p:cNvPr id="6" name="Shape 4"/>
          <p:cNvSpPr/>
          <p:nvPr/>
        </p:nvSpPr>
        <p:spPr>
          <a:xfrm>
            <a:off x="566928" y="1783080"/>
            <a:ext cx="11027664" cy="694944"/>
          </a:xfrm>
          <a:prstGeom prst="roundRect">
            <a:avLst>
              <a:gd name="adj" fmla="val 6579"/>
            </a:avLst>
          </a:prstGeom>
          <a:solidFill>
            <a:srgbClr val="F1F4F9"/>
          </a:solidFill>
          <a:ln/>
        </p:spPr>
      </p:sp>
      <p:sp>
        <p:nvSpPr>
          <p:cNvPr id="7" name="Shape 5"/>
          <p:cNvSpPr/>
          <p:nvPr/>
        </p:nvSpPr>
        <p:spPr>
          <a:xfrm>
            <a:off x="841248" y="1956816"/>
            <a:ext cx="347472" cy="347472"/>
          </a:xfrm>
          <a:prstGeom prst="ellipse">
            <a:avLst/>
          </a:prstGeom>
          <a:solidFill>
            <a:srgbClr val="E0A03A"/>
          </a:solidFill>
          <a:ln/>
        </p:spPr>
      </p:sp>
      <p:sp>
        <p:nvSpPr>
          <p:cNvPr id="8" name="Text 6"/>
          <p:cNvSpPr/>
          <p:nvPr/>
        </p:nvSpPr>
        <p:spPr>
          <a:xfrm>
            <a:off x="841248" y="1956816"/>
            <a:ext cx="347472" cy="347472"/>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a:t>
            </a:r>
            <a:endParaRPr lang="en-US" sz="1300" dirty="0"/>
          </a:p>
        </p:txBody>
      </p:sp>
      <p:sp>
        <p:nvSpPr>
          <p:cNvPr id="9" name="Text 7"/>
          <p:cNvSpPr/>
          <p:nvPr/>
        </p:nvSpPr>
        <p:spPr>
          <a:xfrm>
            <a:off x="1353312" y="1783080"/>
            <a:ext cx="3200400" cy="694944"/>
          </a:xfrm>
          <a:prstGeom prst="rect">
            <a:avLst/>
          </a:prstGeom>
          <a:noFill/>
          <a:ln/>
        </p:spPr>
        <p:txBody>
          <a:bodyPr wrap="square" lIns="0" tIns="0" rIns="0" bIns="0" rtlCol="0" anchor="ctr"/>
          <a:lstStyle/>
          <a:p>
            <a:pPr indent="0" marL="0">
              <a:buNone/>
            </a:pPr>
            <a:r>
              <a:rPr lang="en-US" sz="1400" b="1" dirty="0">
                <a:solidFill>
                  <a:srgbClr val="141A2E"/>
                </a:solidFill>
                <a:latin typeface="Yu Gothic" pitchFamily="34" charset="0"/>
                <a:ea typeface="Yu Gothic" pitchFamily="34" charset="-122"/>
                <a:cs typeface="Yu Gothic" pitchFamily="34" charset="-120"/>
              </a:rPr>
              <a:t>AI活用・自動化・従業員不在</a:t>
            </a:r>
            <a:endParaRPr lang="en-US" sz="1400" dirty="0"/>
          </a:p>
        </p:txBody>
      </p:sp>
      <p:sp>
        <p:nvSpPr>
          <p:cNvPr id="10" name="Text 8"/>
          <p:cNvSpPr/>
          <p:nvPr/>
        </p:nvSpPr>
        <p:spPr>
          <a:xfrm>
            <a:off x="4681728" y="1783080"/>
            <a:ext cx="6638544" cy="694944"/>
          </a:xfrm>
          <a:prstGeom prst="rect">
            <a:avLst/>
          </a:prstGeom>
          <a:noFill/>
          <a:ln/>
        </p:spPr>
        <p:txBody>
          <a:bodyPr wrap="square" lIns="0" tIns="0" rIns="0" bIns="0" rtlCol="0" anchor="ctr"/>
          <a:lstStyle/>
          <a:p>
            <a:pPr indent="0" marL="0">
              <a:buNone/>
            </a:pPr>
            <a:r>
              <a:rPr lang="en-US" sz="1250" dirty="0">
                <a:solidFill>
                  <a:srgbClr val="242B3D"/>
                </a:solidFill>
                <a:latin typeface="Yu Gothic" pitchFamily="34" charset="0"/>
                <a:ea typeface="Yu Gothic" pitchFamily="34" charset="-122"/>
                <a:cs typeface="Yu Gothic" pitchFamily="34" charset="-120"/>
              </a:rPr>
              <a:t>診断→分析→生成→納品→営業の全工程をLLMパイプライン化。人間は商談と例外対応のみ</a:t>
            </a:r>
            <a:endParaRPr lang="en-US" sz="1250" dirty="0"/>
          </a:p>
        </p:txBody>
      </p:sp>
      <p:sp>
        <p:nvSpPr>
          <p:cNvPr id="11" name="Shape 9"/>
          <p:cNvSpPr/>
          <p:nvPr/>
        </p:nvSpPr>
        <p:spPr>
          <a:xfrm>
            <a:off x="566928" y="2551176"/>
            <a:ext cx="11027664" cy="694944"/>
          </a:xfrm>
          <a:prstGeom prst="roundRect">
            <a:avLst>
              <a:gd name="adj" fmla="val 6579"/>
            </a:avLst>
          </a:prstGeom>
          <a:solidFill>
            <a:srgbClr val="FFFFFF"/>
          </a:solidFill>
          <a:ln/>
        </p:spPr>
      </p:sp>
      <p:sp>
        <p:nvSpPr>
          <p:cNvPr id="12" name="Shape 10"/>
          <p:cNvSpPr/>
          <p:nvPr/>
        </p:nvSpPr>
        <p:spPr>
          <a:xfrm>
            <a:off x="841248" y="2724912"/>
            <a:ext cx="347472" cy="347472"/>
          </a:xfrm>
          <a:prstGeom prst="ellipse">
            <a:avLst/>
          </a:prstGeom>
          <a:solidFill>
            <a:srgbClr val="E0A03A"/>
          </a:solidFill>
          <a:ln/>
        </p:spPr>
      </p:sp>
      <p:sp>
        <p:nvSpPr>
          <p:cNvPr id="13" name="Text 11"/>
          <p:cNvSpPr/>
          <p:nvPr/>
        </p:nvSpPr>
        <p:spPr>
          <a:xfrm>
            <a:off x="841248" y="2724912"/>
            <a:ext cx="347472" cy="347472"/>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a:t>
            </a:r>
            <a:endParaRPr lang="en-US" sz="1300" dirty="0"/>
          </a:p>
        </p:txBody>
      </p:sp>
      <p:sp>
        <p:nvSpPr>
          <p:cNvPr id="14" name="Text 12"/>
          <p:cNvSpPr/>
          <p:nvPr/>
        </p:nvSpPr>
        <p:spPr>
          <a:xfrm>
            <a:off x="1353312" y="2551176"/>
            <a:ext cx="3200400" cy="694944"/>
          </a:xfrm>
          <a:prstGeom prst="rect">
            <a:avLst/>
          </a:prstGeom>
          <a:noFill/>
          <a:ln/>
        </p:spPr>
        <p:txBody>
          <a:bodyPr wrap="square" lIns="0" tIns="0" rIns="0" bIns="0" rtlCol="0" anchor="ctr"/>
          <a:lstStyle/>
          <a:p>
            <a:pPr indent="0" marL="0">
              <a:buNone/>
            </a:pPr>
            <a:r>
              <a:rPr lang="en-US" sz="1400" b="1" dirty="0">
                <a:solidFill>
                  <a:srgbClr val="141A2E"/>
                </a:solidFill>
                <a:latin typeface="Yu Gothic" pitchFamily="34" charset="0"/>
                <a:ea typeface="Yu Gothic" pitchFamily="34" charset="-122"/>
                <a:cs typeface="Yu Gothic" pitchFamily="34" charset="-120"/>
              </a:rPr>
              <a:t>年商1億以上のマーケット</a:t>
            </a:r>
            <a:endParaRPr lang="en-US" sz="1400" dirty="0"/>
          </a:p>
        </p:txBody>
      </p:sp>
      <p:sp>
        <p:nvSpPr>
          <p:cNvPr id="15" name="Text 13"/>
          <p:cNvSpPr/>
          <p:nvPr/>
        </p:nvSpPr>
        <p:spPr>
          <a:xfrm>
            <a:off x="4681728" y="2551176"/>
            <a:ext cx="6638544" cy="694944"/>
          </a:xfrm>
          <a:prstGeom prst="rect">
            <a:avLst/>
          </a:prstGeom>
          <a:noFill/>
          <a:ln/>
        </p:spPr>
        <p:txBody>
          <a:bodyPr wrap="square" lIns="0" tIns="0" rIns="0" bIns="0" rtlCol="0" anchor="ctr"/>
          <a:lstStyle/>
          <a:p>
            <a:pPr indent="0" marL="0">
              <a:buNone/>
            </a:pPr>
            <a:r>
              <a:rPr lang="en-US" sz="1250" dirty="0">
                <a:solidFill>
                  <a:srgbClr val="242B3D"/>
                </a:solidFill>
                <a:latin typeface="Yu Gothic" pitchFamily="34" charset="0"/>
                <a:ea typeface="Yu Gothic" pitchFamily="34" charset="-122"/>
                <a:cs typeface="Yu Gothic" pitchFamily="34" charset="-120"/>
              </a:rPr>
              <a:t>国内AI市場は2025年 2.37兆円 → 2029年 6.89兆円（CAGR 36.0%／IDC）</a:t>
            </a:r>
            <a:endParaRPr lang="en-US" sz="1250" dirty="0"/>
          </a:p>
        </p:txBody>
      </p:sp>
      <p:sp>
        <p:nvSpPr>
          <p:cNvPr id="16" name="Shape 14"/>
          <p:cNvSpPr/>
          <p:nvPr/>
        </p:nvSpPr>
        <p:spPr>
          <a:xfrm>
            <a:off x="566928" y="3319272"/>
            <a:ext cx="11027664" cy="694944"/>
          </a:xfrm>
          <a:prstGeom prst="roundRect">
            <a:avLst>
              <a:gd name="adj" fmla="val 6579"/>
            </a:avLst>
          </a:prstGeom>
          <a:solidFill>
            <a:srgbClr val="F1F4F9"/>
          </a:solidFill>
          <a:ln/>
        </p:spPr>
      </p:sp>
      <p:sp>
        <p:nvSpPr>
          <p:cNvPr id="17" name="Shape 15"/>
          <p:cNvSpPr/>
          <p:nvPr/>
        </p:nvSpPr>
        <p:spPr>
          <a:xfrm>
            <a:off x="841248" y="3493008"/>
            <a:ext cx="347472" cy="347472"/>
          </a:xfrm>
          <a:prstGeom prst="ellipse">
            <a:avLst/>
          </a:prstGeom>
          <a:solidFill>
            <a:srgbClr val="E0A03A"/>
          </a:solidFill>
          <a:ln/>
        </p:spPr>
      </p:sp>
      <p:sp>
        <p:nvSpPr>
          <p:cNvPr id="18" name="Text 16"/>
          <p:cNvSpPr/>
          <p:nvPr/>
        </p:nvSpPr>
        <p:spPr>
          <a:xfrm>
            <a:off x="841248" y="3493008"/>
            <a:ext cx="347472" cy="347472"/>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a:t>
            </a:r>
            <a:endParaRPr lang="en-US" sz="1300" dirty="0"/>
          </a:p>
        </p:txBody>
      </p:sp>
      <p:sp>
        <p:nvSpPr>
          <p:cNvPr id="19" name="Text 17"/>
          <p:cNvSpPr/>
          <p:nvPr/>
        </p:nvSpPr>
        <p:spPr>
          <a:xfrm>
            <a:off x="1353312" y="3319272"/>
            <a:ext cx="3200400" cy="694944"/>
          </a:xfrm>
          <a:prstGeom prst="rect">
            <a:avLst/>
          </a:prstGeom>
          <a:noFill/>
          <a:ln/>
        </p:spPr>
        <p:txBody>
          <a:bodyPr wrap="square" lIns="0" tIns="0" rIns="0" bIns="0" rtlCol="0" anchor="ctr"/>
          <a:lstStyle/>
          <a:p>
            <a:pPr indent="0" marL="0">
              <a:buNone/>
            </a:pPr>
            <a:r>
              <a:rPr lang="en-US" sz="1400" b="1" dirty="0">
                <a:solidFill>
                  <a:srgbClr val="141A2E"/>
                </a:solidFill>
                <a:latin typeface="Yu Gothic" pitchFamily="34" charset="0"/>
                <a:ea typeface="Yu Gothic" pitchFamily="34" charset="-122"/>
                <a:cs typeface="Yu Gothic" pitchFamily="34" charset="-120"/>
              </a:rPr>
              <a:t>3か月以内に軌道に乗る</a:t>
            </a:r>
            <a:endParaRPr lang="en-US" sz="1400" dirty="0"/>
          </a:p>
        </p:txBody>
      </p:sp>
      <p:sp>
        <p:nvSpPr>
          <p:cNvPr id="20" name="Text 18"/>
          <p:cNvSpPr/>
          <p:nvPr/>
        </p:nvSpPr>
        <p:spPr>
          <a:xfrm>
            <a:off x="4681728" y="3319272"/>
            <a:ext cx="6638544" cy="694944"/>
          </a:xfrm>
          <a:prstGeom prst="rect">
            <a:avLst/>
          </a:prstGeom>
          <a:noFill/>
          <a:ln/>
        </p:spPr>
        <p:txBody>
          <a:bodyPr wrap="square" lIns="0" tIns="0" rIns="0" bIns="0" rtlCol="0" anchor="ctr"/>
          <a:lstStyle/>
          <a:p>
            <a:pPr indent="0" marL="0">
              <a:buNone/>
            </a:pPr>
            <a:r>
              <a:rPr lang="en-US" sz="1250" dirty="0">
                <a:solidFill>
                  <a:srgbClr val="242B3D"/>
                </a:solidFill>
                <a:latin typeface="Yu Gothic" pitchFamily="34" charset="0"/>
                <a:ea typeface="Yu Gothic" pitchFamily="34" charset="-122"/>
                <a:cs typeface="Yu Gothic" pitchFamily="34" charset="-120"/>
              </a:rPr>
              <a:t>無料診断レポートを自動生成してアウトバウンド。商材が営業ツールを兼ねる</a:t>
            </a:r>
            <a:endParaRPr lang="en-US" sz="1250" dirty="0"/>
          </a:p>
        </p:txBody>
      </p:sp>
      <p:sp>
        <p:nvSpPr>
          <p:cNvPr id="21" name="Shape 19"/>
          <p:cNvSpPr/>
          <p:nvPr/>
        </p:nvSpPr>
        <p:spPr>
          <a:xfrm>
            <a:off x="566928" y="4087368"/>
            <a:ext cx="11027664" cy="694944"/>
          </a:xfrm>
          <a:prstGeom prst="roundRect">
            <a:avLst>
              <a:gd name="adj" fmla="val 6579"/>
            </a:avLst>
          </a:prstGeom>
          <a:solidFill>
            <a:srgbClr val="FFFFFF"/>
          </a:solidFill>
          <a:ln/>
        </p:spPr>
      </p:sp>
      <p:sp>
        <p:nvSpPr>
          <p:cNvPr id="22" name="Shape 20"/>
          <p:cNvSpPr/>
          <p:nvPr/>
        </p:nvSpPr>
        <p:spPr>
          <a:xfrm>
            <a:off x="841248" y="4261104"/>
            <a:ext cx="347472" cy="347472"/>
          </a:xfrm>
          <a:prstGeom prst="ellipse">
            <a:avLst/>
          </a:prstGeom>
          <a:solidFill>
            <a:srgbClr val="E0A03A"/>
          </a:solidFill>
          <a:ln/>
        </p:spPr>
      </p:sp>
      <p:sp>
        <p:nvSpPr>
          <p:cNvPr id="23" name="Text 21"/>
          <p:cNvSpPr/>
          <p:nvPr/>
        </p:nvSpPr>
        <p:spPr>
          <a:xfrm>
            <a:off x="841248" y="4261104"/>
            <a:ext cx="347472" cy="347472"/>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a:t>
            </a:r>
            <a:endParaRPr lang="en-US" sz="1300" dirty="0"/>
          </a:p>
        </p:txBody>
      </p:sp>
      <p:sp>
        <p:nvSpPr>
          <p:cNvPr id="24" name="Text 22"/>
          <p:cNvSpPr/>
          <p:nvPr/>
        </p:nvSpPr>
        <p:spPr>
          <a:xfrm>
            <a:off x="1353312" y="4087368"/>
            <a:ext cx="3200400" cy="694944"/>
          </a:xfrm>
          <a:prstGeom prst="rect">
            <a:avLst/>
          </a:prstGeom>
          <a:noFill/>
          <a:ln/>
        </p:spPr>
        <p:txBody>
          <a:bodyPr wrap="square" lIns="0" tIns="0" rIns="0" bIns="0" rtlCol="0" anchor="ctr"/>
          <a:lstStyle/>
          <a:p>
            <a:pPr indent="0" marL="0">
              <a:buNone/>
            </a:pPr>
            <a:r>
              <a:rPr lang="en-US" sz="1400" b="1" dirty="0">
                <a:solidFill>
                  <a:srgbClr val="141A2E"/>
                </a:solidFill>
                <a:latin typeface="Yu Gothic" pitchFamily="34" charset="0"/>
                <a:ea typeface="Yu Gothic" pitchFamily="34" charset="-122"/>
                <a:cs typeface="Yu Gothic" pitchFamily="34" charset="-120"/>
              </a:rPr>
              <a:t>初期投資が低い</a:t>
            </a:r>
            <a:endParaRPr lang="en-US" sz="1400" dirty="0"/>
          </a:p>
        </p:txBody>
      </p:sp>
      <p:sp>
        <p:nvSpPr>
          <p:cNvPr id="25" name="Text 23"/>
          <p:cNvSpPr/>
          <p:nvPr/>
        </p:nvSpPr>
        <p:spPr>
          <a:xfrm>
            <a:off x="4681728" y="4087368"/>
            <a:ext cx="6638544" cy="694944"/>
          </a:xfrm>
          <a:prstGeom prst="rect">
            <a:avLst/>
          </a:prstGeom>
          <a:noFill/>
          <a:ln/>
        </p:spPr>
        <p:txBody>
          <a:bodyPr wrap="square" lIns="0" tIns="0" rIns="0" bIns="0" rtlCol="0" anchor="ctr"/>
          <a:lstStyle/>
          <a:p>
            <a:pPr indent="0" marL="0">
              <a:buNone/>
            </a:pPr>
            <a:r>
              <a:rPr lang="en-US" sz="1250" dirty="0">
                <a:solidFill>
                  <a:srgbClr val="242B3D"/>
                </a:solidFill>
                <a:latin typeface="Yu Gothic" pitchFamily="34" charset="0"/>
                <a:ea typeface="Yu Gothic" pitchFamily="34" charset="-122"/>
                <a:cs typeface="Yu Gothic" pitchFamily="34" charset="-120"/>
              </a:rPr>
              <a:t>在庫・設備・人件費ゼロ。3か月累計 23万4,000円</a:t>
            </a:r>
            <a:endParaRPr lang="en-US" sz="1250" dirty="0"/>
          </a:p>
        </p:txBody>
      </p:sp>
      <p:sp>
        <p:nvSpPr>
          <p:cNvPr id="26" name="Shape 24"/>
          <p:cNvSpPr/>
          <p:nvPr/>
        </p:nvSpPr>
        <p:spPr>
          <a:xfrm>
            <a:off x="566928" y="4855464"/>
            <a:ext cx="11027664" cy="694944"/>
          </a:xfrm>
          <a:prstGeom prst="roundRect">
            <a:avLst>
              <a:gd name="adj" fmla="val 6579"/>
            </a:avLst>
          </a:prstGeom>
          <a:solidFill>
            <a:srgbClr val="F1F4F9"/>
          </a:solidFill>
          <a:ln/>
        </p:spPr>
      </p:sp>
      <p:sp>
        <p:nvSpPr>
          <p:cNvPr id="27" name="Shape 25"/>
          <p:cNvSpPr/>
          <p:nvPr/>
        </p:nvSpPr>
        <p:spPr>
          <a:xfrm>
            <a:off x="841248" y="5029200"/>
            <a:ext cx="347472" cy="347472"/>
          </a:xfrm>
          <a:prstGeom prst="ellipse">
            <a:avLst/>
          </a:prstGeom>
          <a:solidFill>
            <a:srgbClr val="E0A03A"/>
          </a:solidFill>
          <a:ln/>
        </p:spPr>
      </p:sp>
      <p:sp>
        <p:nvSpPr>
          <p:cNvPr id="28" name="Text 26"/>
          <p:cNvSpPr/>
          <p:nvPr/>
        </p:nvSpPr>
        <p:spPr>
          <a:xfrm>
            <a:off x="841248" y="5029200"/>
            <a:ext cx="347472" cy="347472"/>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a:t>
            </a:r>
            <a:endParaRPr lang="en-US" sz="1300" dirty="0"/>
          </a:p>
        </p:txBody>
      </p:sp>
      <p:sp>
        <p:nvSpPr>
          <p:cNvPr id="29" name="Text 27"/>
          <p:cNvSpPr/>
          <p:nvPr/>
        </p:nvSpPr>
        <p:spPr>
          <a:xfrm>
            <a:off x="1353312" y="4855464"/>
            <a:ext cx="3200400" cy="694944"/>
          </a:xfrm>
          <a:prstGeom prst="rect">
            <a:avLst/>
          </a:prstGeom>
          <a:noFill/>
          <a:ln/>
        </p:spPr>
        <p:txBody>
          <a:bodyPr wrap="square" lIns="0" tIns="0" rIns="0" bIns="0" rtlCol="0" anchor="ctr"/>
          <a:lstStyle/>
          <a:p>
            <a:pPr indent="0" marL="0">
              <a:buNone/>
            </a:pPr>
            <a:r>
              <a:rPr lang="en-US" sz="1400" b="1" dirty="0">
                <a:solidFill>
                  <a:srgbClr val="141A2E"/>
                </a:solidFill>
                <a:latin typeface="Yu Gothic" pitchFamily="34" charset="0"/>
                <a:ea typeface="Yu Gothic" pitchFamily="34" charset="-122"/>
                <a:cs typeface="Yu Gothic" pitchFamily="34" charset="-120"/>
              </a:rPr>
              <a:t>伸びており今後も期待</a:t>
            </a:r>
            <a:endParaRPr lang="en-US" sz="1400" dirty="0"/>
          </a:p>
        </p:txBody>
      </p:sp>
      <p:sp>
        <p:nvSpPr>
          <p:cNvPr id="30" name="Text 28"/>
          <p:cNvSpPr/>
          <p:nvPr/>
        </p:nvSpPr>
        <p:spPr>
          <a:xfrm>
            <a:off x="4681728" y="4855464"/>
            <a:ext cx="6638544" cy="694944"/>
          </a:xfrm>
          <a:prstGeom prst="rect">
            <a:avLst/>
          </a:prstGeom>
          <a:noFill/>
          <a:ln/>
        </p:spPr>
        <p:txBody>
          <a:bodyPr wrap="square" lIns="0" tIns="0" rIns="0" bIns="0" rtlCol="0" anchor="ctr"/>
          <a:lstStyle/>
          <a:p>
            <a:pPr indent="0" marL="0">
              <a:buNone/>
            </a:pPr>
            <a:r>
              <a:rPr lang="en-US" sz="1250" dirty="0">
                <a:solidFill>
                  <a:srgbClr val="242B3D"/>
                </a:solidFill>
                <a:latin typeface="Yu Gothic" pitchFamily="34" charset="0"/>
                <a:ea typeface="Yu Gothic" pitchFamily="34" charset="-122"/>
                <a:cs typeface="Yu Gothic" pitchFamily="34" charset="-120"/>
              </a:rPr>
              <a:t>AI検索セッション +5,535%（2年）。ゼロクリック60%で既存SEO資産が壊れている</a:t>
            </a:r>
            <a:endParaRPr lang="en-US" sz="1250" dirty="0"/>
          </a:p>
        </p:txBody>
      </p:sp>
      <p:sp>
        <p:nvSpPr>
          <p:cNvPr id="31" name="Shape 29"/>
          <p:cNvSpPr/>
          <p:nvPr/>
        </p:nvSpPr>
        <p:spPr>
          <a:xfrm>
            <a:off x="566928" y="5742432"/>
            <a:ext cx="11027664" cy="658368"/>
          </a:xfrm>
          <a:prstGeom prst="roundRect">
            <a:avLst>
              <a:gd name="adj" fmla="val 8333"/>
            </a:avLst>
          </a:prstGeom>
          <a:solidFill>
            <a:srgbClr val="141A2E"/>
          </a:solidFill>
          <a:ln/>
        </p:spPr>
      </p:sp>
      <p:sp>
        <p:nvSpPr>
          <p:cNvPr id="32" name="Text 30"/>
          <p:cNvSpPr/>
          <p:nvPr/>
        </p:nvSpPr>
        <p:spPr>
          <a:xfrm>
            <a:off x="877824" y="5742432"/>
            <a:ext cx="10405872" cy="658368"/>
          </a:xfrm>
          <a:prstGeom prst="rect">
            <a:avLst/>
          </a:prstGeom>
          <a:noFill/>
          <a:ln/>
        </p:spPr>
        <p:txBody>
          <a:bodyPr wrap="square" lIns="0" tIns="0" rIns="0" bIns="0" rtlCol="0" anchor="ctr"/>
          <a:lstStyle/>
          <a:p>
            <a:pPr indent="0" marL="0">
              <a:buNone/>
            </a:pPr>
            <a:r>
              <a:rPr lang="en-US" sz="1350" b="1" dirty="0">
                <a:solidFill>
                  <a:srgbClr val="FFFFFF"/>
                </a:solidFill>
                <a:latin typeface="Yu Gothic" pitchFamily="34" charset="0"/>
                <a:ea typeface="Yu Gothic" pitchFamily="34" charset="-122"/>
                <a:cs typeface="Yu Gothic" pitchFamily="34" charset="-120"/>
              </a:rPr>
              <a:t>5条件すべてに◎で適合する案として、次ページ以降で市場・競合・収益構造を検証する。</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A2E"/>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2</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A9BEE3"/>
                </a:solidFill>
                <a:latin typeface="Yu Gothic" pitchFamily="34" charset="0"/>
                <a:ea typeface="Yu Gothic" pitchFamily="34" charset="-122"/>
                <a:cs typeface="Yu Gothic" pitchFamily="34" charset="-120"/>
              </a:rPr>
              <a:t>MARKET SHIFT</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この2年で「検索」が壊れた</a:t>
            </a:r>
            <a:endParaRPr lang="en-US" sz="3200" dirty="0"/>
          </a:p>
        </p:txBody>
      </p:sp>
      <p:sp>
        <p:nvSpPr>
          <p:cNvPr id="6" name="Shape 4"/>
          <p:cNvSpPr/>
          <p:nvPr/>
        </p:nvSpPr>
        <p:spPr>
          <a:xfrm>
            <a:off x="566928" y="1828800"/>
            <a:ext cx="2615184" cy="2514600"/>
          </a:xfrm>
          <a:prstGeom prst="roundRect">
            <a:avLst>
              <a:gd name="adj" fmla="val 2182"/>
            </a:avLst>
          </a:prstGeom>
          <a:solidFill>
            <a:srgbClr val="212C48"/>
          </a:solidFill>
          <a:ln/>
        </p:spPr>
      </p:sp>
      <p:sp>
        <p:nvSpPr>
          <p:cNvPr id="7" name="Text 5"/>
          <p:cNvSpPr/>
          <p:nvPr/>
        </p:nvSpPr>
        <p:spPr>
          <a:xfrm>
            <a:off x="786384" y="2048256"/>
            <a:ext cx="2176272" cy="786384"/>
          </a:xfrm>
          <a:prstGeom prst="rect">
            <a:avLst/>
          </a:prstGeom>
          <a:noFill/>
          <a:ln/>
        </p:spPr>
        <p:txBody>
          <a:bodyPr wrap="square" lIns="0" tIns="0" rIns="0" bIns="0" rtlCol="0" anchor="ctr"/>
          <a:lstStyle/>
          <a:p>
            <a:pPr indent="0" marL="0">
              <a:buNone/>
            </a:pPr>
            <a:r>
              <a:rPr lang="en-US" sz="3000" b="1" dirty="0">
                <a:solidFill>
                  <a:srgbClr val="E0A03A"/>
                </a:solidFill>
                <a:latin typeface="Yu Gothic" pitchFamily="34" charset="0"/>
                <a:ea typeface="Yu Gothic" pitchFamily="34" charset="-122"/>
                <a:cs typeface="Yu Gothic" pitchFamily="34" charset="-120"/>
              </a:rPr>
              <a:t>+5,535%</a:t>
            </a:r>
            <a:endParaRPr lang="en-US" sz="3000" dirty="0"/>
          </a:p>
        </p:txBody>
      </p:sp>
      <p:sp>
        <p:nvSpPr>
          <p:cNvPr id="8" name="Text 6"/>
          <p:cNvSpPr/>
          <p:nvPr/>
        </p:nvSpPr>
        <p:spPr>
          <a:xfrm>
            <a:off x="786384" y="2871216"/>
            <a:ext cx="2176272" cy="54864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Yu Gothic" pitchFamily="34" charset="0"/>
                <a:ea typeface="Yu Gothic" pitchFamily="34" charset="-122"/>
                <a:cs typeface="Yu Gothic" pitchFamily="34" charset="-120"/>
              </a:rPr>
              <a:t>AI検索の国内セッション数</a:t>
            </a:r>
            <a:endParaRPr lang="en-US" sz="1250" dirty="0"/>
          </a:p>
        </p:txBody>
      </p:sp>
      <p:sp>
        <p:nvSpPr>
          <p:cNvPr id="9" name="Text 7"/>
          <p:cNvSpPr/>
          <p:nvPr/>
        </p:nvSpPr>
        <p:spPr>
          <a:xfrm>
            <a:off x="786384" y="3474720"/>
            <a:ext cx="2176272" cy="731520"/>
          </a:xfrm>
          <a:prstGeom prst="rect">
            <a:avLst/>
          </a:prstGeom>
          <a:noFill/>
          <a:ln/>
        </p:spPr>
        <p:txBody>
          <a:bodyPr wrap="square" lIns="0" tIns="0" rIns="0" bIns="0" rtlCol="0" anchor="ctr"/>
          <a:lstStyle/>
          <a:p>
            <a:pPr indent="0" marL="0">
              <a:lnSpc>
                <a:spcPts val="1700"/>
              </a:lnSpc>
              <a:buNone/>
            </a:pPr>
            <a:r>
              <a:rPr lang="en-US" sz="1100" dirty="0">
                <a:solidFill>
                  <a:srgbClr val="A9BEE3"/>
                </a:solidFill>
                <a:latin typeface="Yu Gothic" pitchFamily="34" charset="0"/>
                <a:ea typeface="Yu Gothic" pitchFamily="34" charset="-122"/>
                <a:cs typeface="Yu Gothic" pitchFamily="34" charset="-120"/>
              </a:rPr>
              <a:t>2024年4月比（2026年4月）</a:t>
            </a:r>
            <a:endParaRPr lang="en-US" sz="1100" dirty="0"/>
          </a:p>
          <a:p>
            <a:pPr indent="0" marL="0">
              <a:lnSpc>
                <a:spcPts val="1700"/>
              </a:lnSpc>
              <a:buNone/>
            </a:pPr>
            <a:r>
              <a:rPr lang="en-US" sz="1100" dirty="0">
                <a:solidFill>
                  <a:srgbClr val="A9BEE3"/>
                </a:solidFill>
                <a:latin typeface="Yu Gothic" pitchFamily="34" charset="0"/>
                <a:ea typeface="Yu Gothic" pitchFamily="34" charset="-122"/>
                <a:cs typeface="Yu Gothic" pitchFamily="34" charset="-120"/>
              </a:rPr>
              <a:t>2年で55倍</a:t>
            </a:r>
            <a:endParaRPr lang="en-US" sz="1100" dirty="0"/>
          </a:p>
        </p:txBody>
      </p:sp>
      <p:sp>
        <p:nvSpPr>
          <p:cNvPr id="10" name="Shape 8"/>
          <p:cNvSpPr/>
          <p:nvPr/>
        </p:nvSpPr>
        <p:spPr>
          <a:xfrm>
            <a:off x="3401568" y="1828800"/>
            <a:ext cx="2615184" cy="2514600"/>
          </a:xfrm>
          <a:prstGeom prst="roundRect">
            <a:avLst>
              <a:gd name="adj" fmla="val 2182"/>
            </a:avLst>
          </a:prstGeom>
          <a:solidFill>
            <a:srgbClr val="212C48"/>
          </a:solidFill>
          <a:ln/>
        </p:spPr>
      </p:sp>
      <p:sp>
        <p:nvSpPr>
          <p:cNvPr id="11" name="Text 9"/>
          <p:cNvSpPr/>
          <p:nvPr/>
        </p:nvSpPr>
        <p:spPr>
          <a:xfrm>
            <a:off x="3621024" y="2048256"/>
            <a:ext cx="2176272" cy="786384"/>
          </a:xfrm>
          <a:prstGeom prst="rect">
            <a:avLst/>
          </a:prstGeom>
          <a:noFill/>
          <a:ln/>
        </p:spPr>
        <p:txBody>
          <a:bodyPr wrap="square" lIns="0" tIns="0" rIns="0" bIns="0" rtlCol="0" anchor="ctr"/>
          <a:lstStyle/>
          <a:p>
            <a:pPr indent="0" marL="0">
              <a:buNone/>
            </a:pPr>
            <a:r>
              <a:rPr lang="en-US" sz="3000" b="1" dirty="0">
                <a:solidFill>
                  <a:srgbClr val="E0A03A"/>
                </a:solidFill>
                <a:latin typeface="Yu Gothic" pitchFamily="34" charset="0"/>
                <a:ea typeface="Yu Gothic" pitchFamily="34" charset="-122"/>
                <a:cs typeface="Yu Gothic" pitchFamily="34" charset="-120"/>
              </a:rPr>
              <a:t>約59%</a:t>
            </a:r>
            <a:endParaRPr lang="en-US" sz="3000" dirty="0"/>
          </a:p>
        </p:txBody>
      </p:sp>
      <p:sp>
        <p:nvSpPr>
          <p:cNvPr id="12" name="Text 10"/>
          <p:cNvSpPr/>
          <p:nvPr/>
        </p:nvSpPr>
        <p:spPr>
          <a:xfrm>
            <a:off x="3621024" y="2871216"/>
            <a:ext cx="2176272" cy="54864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Yu Gothic" pitchFamily="34" charset="0"/>
                <a:ea typeface="Yu Gothic" pitchFamily="34" charset="-122"/>
                <a:cs typeface="Yu Gothic" pitchFamily="34" charset="-120"/>
              </a:rPr>
              <a:t>ChatGPTの国内シェア</a:t>
            </a:r>
            <a:endParaRPr lang="en-US" sz="1250" dirty="0"/>
          </a:p>
        </p:txBody>
      </p:sp>
      <p:sp>
        <p:nvSpPr>
          <p:cNvPr id="13" name="Text 11"/>
          <p:cNvSpPr/>
          <p:nvPr/>
        </p:nvSpPr>
        <p:spPr>
          <a:xfrm>
            <a:off x="3621024" y="3474720"/>
            <a:ext cx="2176272" cy="731520"/>
          </a:xfrm>
          <a:prstGeom prst="rect">
            <a:avLst/>
          </a:prstGeom>
          <a:noFill/>
          <a:ln/>
        </p:spPr>
        <p:txBody>
          <a:bodyPr wrap="square" lIns="0" tIns="0" rIns="0" bIns="0" rtlCol="0" anchor="ctr"/>
          <a:lstStyle/>
          <a:p>
            <a:pPr indent="0" marL="0">
              <a:lnSpc>
                <a:spcPts val="1700"/>
              </a:lnSpc>
              <a:buNone/>
            </a:pPr>
            <a:r>
              <a:rPr lang="en-US" sz="1100" dirty="0">
                <a:solidFill>
                  <a:srgbClr val="A9BEE3"/>
                </a:solidFill>
                <a:latin typeface="Yu Gothic" pitchFamily="34" charset="0"/>
                <a:ea typeface="Yu Gothic" pitchFamily="34" charset="-122"/>
                <a:cs typeface="Yu Gothic" pitchFamily="34" charset="-120"/>
              </a:rPr>
              <a:t>Geminiが4か月連続上昇。</a:t>
            </a:r>
            <a:endParaRPr lang="en-US" sz="1100" dirty="0"/>
          </a:p>
          <a:p>
            <a:pPr indent="0" marL="0">
              <a:lnSpc>
                <a:spcPts val="1700"/>
              </a:lnSpc>
              <a:buNone/>
            </a:pPr>
            <a:r>
              <a:rPr lang="en-US" sz="1100" dirty="0">
                <a:solidFill>
                  <a:srgbClr val="A9BEE3"/>
                </a:solidFill>
                <a:latin typeface="Yu Gothic" pitchFamily="34" charset="0"/>
                <a:ea typeface="Yu Gothic" pitchFamily="34" charset="-122"/>
                <a:cs typeface="Yu Gothic" pitchFamily="34" charset="-120"/>
              </a:rPr>
              <a:t>最適化先が複数化している</a:t>
            </a:r>
            <a:endParaRPr lang="en-US" sz="1100" dirty="0"/>
          </a:p>
        </p:txBody>
      </p:sp>
      <p:sp>
        <p:nvSpPr>
          <p:cNvPr id="14" name="Shape 12"/>
          <p:cNvSpPr/>
          <p:nvPr/>
        </p:nvSpPr>
        <p:spPr>
          <a:xfrm>
            <a:off x="6236208" y="1828800"/>
            <a:ext cx="2615184" cy="2514600"/>
          </a:xfrm>
          <a:prstGeom prst="roundRect">
            <a:avLst>
              <a:gd name="adj" fmla="val 2182"/>
            </a:avLst>
          </a:prstGeom>
          <a:solidFill>
            <a:srgbClr val="212C48"/>
          </a:solidFill>
          <a:ln/>
        </p:spPr>
      </p:sp>
      <p:sp>
        <p:nvSpPr>
          <p:cNvPr id="15" name="Text 13"/>
          <p:cNvSpPr/>
          <p:nvPr/>
        </p:nvSpPr>
        <p:spPr>
          <a:xfrm>
            <a:off x="6455664" y="2048256"/>
            <a:ext cx="2176272" cy="786384"/>
          </a:xfrm>
          <a:prstGeom prst="rect">
            <a:avLst/>
          </a:prstGeom>
          <a:noFill/>
          <a:ln/>
        </p:spPr>
        <p:txBody>
          <a:bodyPr wrap="square" lIns="0" tIns="0" rIns="0" bIns="0" rtlCol="0" anchor="ctr"/>
          <a:lstStyle/>
          <a:p>
            <a:pPr indent="0" marL="0">
              <a:buNone/>
            </a:pPr>
            <a:r>
              <a:rPr lang="en-US" sz="3000" b="1" dirty="0">
                <a:solidFill>
                  <a:srgbClr val="E0A03A"/>
                </a:solidFill>
                <a:latin typeface="Yu Gothic" pitchFamily="34" charset="0"/>
                <a:ea typeface="Yu Gothic" pitchFamily="34" charset="-122"/>
                <a:cs typeface="Yu Gothic" pitchFamily="34" charset="-120"/>
              </a:rPr>
              <a:t>60%</a:t>
            </a:r>
            <a:endParaRPr lang="en-US" sz="3000" dirty="0"/>
          </a:p>
        </p:txBody>
      </p:sp>
      <p:sp>
        <p:nvSpPr>
          <p:cNvPr id="16" name="Text 14"/>
          <p:cNvSpPr/>
          <p:nvPr/>
        </p:nvSpPr>
        <p:spPr>
          <a:xfrm>
            <a:off x="6455664" y="2871216"/>
            <a:ext cx="2176272" cy="54864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Yu Gothic" pitchFamily="34" charset="0"/>
                <a:ea typeface="Yu Gothic" pitchFamily="34" charset="-122"/>
                <a:cs typeface="Yu Gothic" pitchFamily="34" charset="-120"/>
              </a:rPr>
              <a:t>ゼロクリック率</a:t>
            </a:r>
            <a:endParaRPr lang="en-US" sz="1250" dirty="0"/>
          </a:p>
        </p:txBody>
      </p:sp>
      <p:sp>
        <p:nvSpPr>
          <p:cNvPr id="17" name="Text 15"/>
          <p:cNvSpPr/>
          <p:nvPr/>
        </p:nvSpPr>
        <p:spPr>
          <a:xfrm>
            <a:off x="6455664" y="3474720"/>
            <a:ext cx="2176272" cy="731520"/>
          </a:xfrm>
          <a:prstGeom prst="rect">
            <a:avLst/>
          </a:prstGeom>
          <a:noFill/>
          <a:ln/>
        </p:spPr>
        <p:txBody>
          <a:bodyPr wrap="square" lIns="0" tIns="0" rIns="0" bIns="0" rtlCol="0" anchor="ctr"/>
          <a:lstStyle/>
          <a:p>
            <a:pPr indent="0" marL="0">
              <a:lnSpc>
                <a:spcPts val="1700"/>
              </a:lnSpc>
              <a:buNone/>
            </a:pPr>
            <a:r>
              <a:rPr lang="en-US" sz="1100" dirty="0">
                <a:solidFill>
                  <a:srgbClr val="A9BEE3"/>
                </a:solidFill>
                <a:latin typeface="Yu Gothic" pitchFamily="34" charset="0"/>
                <a:ea typeface="Yu Gothic" pitchFamily="34" charset="-122"/>
                <a:cs typeface="Yu Gothic" pitchFamily="34" charset="-120"/>
              </a:rPr>
              <a:t>Google検索全体。モバイルは77%。</a:t>
            </a:r>
            <a:endParaRPr lang="en-US" sz="1100" dirty="0"/>
          </a:p>
          <a:p>
            <a:pPr indent="0" marL="0">
              <a:lnSpc>
                <a:spcPts val="1700"/>
              </a:lnSpc>
              <a:buNone/>
            </a:pPr>
            <a:r>
              <a:rPr lang="en-US" sz="1100" dirty="0">
                <a:solidFill>
                  <a:srgbClr val="A9BEE3"/>
                </a:solidFill>
                <a:latin typeface="Yu Gothic" pitchFamily="34" charset="0"/>
                <a:ea typeface="Yu Gothic" pitchFamily="34" charset="-122"/>
                <a:cs typeface="Yu Gothic" pitchFamily="34" charset="-120"/>
              </a:rPr>
              <a:t>サイトに人が来ない</a:t>
            </a:r>
            <a:endParaRPr lang="en-US" sz="1100" dirty="0"/>
          </a:p>
        </p:txBody>
      </p:sp>
      <p:sp>
        <p:nvSpPr>
          <p:cNvPr id="18" name="Shape 16"/>
          <p:cNvSpPr/>
          <p:nvPr/>
        </p:nvSpPr>
        <p:spPr>
          <a:xfrm>
            <a:off x="9070848" y="1828800"/>
            <a:ext cx="2615184" cy="2514600"/>
          </a:xfrm>
          <a:prstGeom prst="roundRect">
            <a:avLst>
              <a:gd name="adj" fmla="val 2182"/>
            </a:avLst>
          </a:prstGeom>
          <a:solidFill>
            <a:srgbClr val="212C48"/>
          </a:solidFill>
          <a:ln/>
        </p:spPr>
      </p:sp>
      <p:sp>
        <p:nvSpPr>
          <p:cNvPr id="19" name="Text 17"/>
          <p:cNvSpPr/>
          <p:nvPr/>
        </p:nvSpPr>
        <p:spPr>
          <a:xfrm>
            <a:off x="9290304" y="2048256"/>
            <a:ext cx="2176272" cy="786384"/>
          </a:xfrm>
          <a:prstGeom prst="rect">
            <a:avLst/>
          </a:prstGeom>
          <a:noFill/>
          <a:ln/>
        </p:spPr>
        <p:txBody>
          <a:bodyPr wrap="square" lIns="0" tIns="0" rIns="0" bIns="0" rtlCol="0" anchor="ctr"/>
          <a:lstStyle/>
          <a:p>
            <a:pPr indent="0" marL="0">
              <a:buNone/>
            </a:pPr>
            <a:r>
              <a:rPr lang="en-US" sz="3000" b="1" dirty="0">
                <a:solidFill>
                  <a:srgbClr val="E0A03A"/>
                </a:solidFill>
                <a:latin typeface="Yu Gothic" pitchFamily="34" charset="0"/>
                <a:ea typeface="Yu Gothic" pitchFamily="34" charset="-122"/>
                <a:cs typeface="Yu Gothic" pitchFamily="34" charset="-120"/>
              </a:rPr>
              <a:t>−40%</a:t>
            </a:r>
            <a:endParaRPr lang="en-US" sz="3000" dirty="0"/>
          </a:p>
        </p:txBody>
      </p:sp>
      <p:sp>
        <p:nvSpPr>
          <p:cNvPr id="20" name="Text 18"/>
          <p:cNvSpPr/>
          <p:nvPr/>
        </p:nvSpPr>
        <p:spPr>
          <a:xfrm>
            <a:off x="9290304" y="2871216"/>
            <a:ext cx="2176272" cy="54864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Yu Gothic" pitchFamily="34" charset="0"/>
                <a:ea typeface="Yu Gothic" pitchFamily="34" charset="-122"/>
                <a:cs typeface="Yu Gothic" pitchFamily="34" charset="-120"/>
              </a:rPr>
              <a:t>順位維持時のCTR</a:t>
            </a:r>
            <a:endParaRPr lang="en-US" sz="1250" dirty="0"/>
          </a:p>
        </p:txBody>
      </p:sp>
      <p:sp>
        <p:nvSpPr>
          <p:cNvPr id="21" name="Text 19"/>
          <p:cNvSpPr/>
          <p:nvPr/>
        </p:nvSpPr>
        <p:spPr>
          <a:xfrm>
            <a:off x="9290304" y="3474720"/>
            <a:ext cx="2176272" cy="731520"/>
          </a:xfrm>
          <a:prstGeom prst="rect">
            <a:avLst/>
          </a:prstGeom>
          <a:noFill/>
          <a:ln/>
        </p:spPr>
        <p:txBody>
          <a:bodyPr wrap="square" lIns="0" tIns="0" rIns="0" bIns="0" rtlCol="0" anchor="ctr"/>
          <a:lstStyle/>
          <a:p>
            <a:pPr indent="0" marL="0">
              <a:lnSpc>
                <a:spcPts val="1700"/>
              </a:lnSpc>
              <a:buNone/>
            </a:pPr>
            <a:r>
              <a:rPr lang="en-US" sz="1100" dirty="0">
                <a:solidFill>
                  <a:srgbClr val="A9BEE3"/>
                </a:solidFill>
                <a:latin typeface="Yu Gothic" pitchFamily="34" charset="0"/>
                <a:ea typeface="Yu Gothic" pitchFamily="34" charset="-122"/>
                <a:cs typeface="Yu Gothic" pitchFamily="34" charset="-120"/>
              </a:rPr>
              <a:t>「SEOは成功しているのに</a:t>
            </a:r>
            <a:endParaRPr lang="en-US" sz="1100" dirty="0"/>
          </a:p>
          <a:p>
            <a:pPr indent="0" marL="0">
              <a:lnSpc>
                <a:spcPts val="1700"/>
              </a:lnSpc>
              <a:buNone/>
            </a:pPr>
            <a:r>
              <a:rPr lang="en-US" sz="1100" dirty="0">
                <a:solidFill>
                  <a:srgbClr val="A9BEE3"/>
                </a:solidFill>
                <a:latin typeface="Yu Gothic" pitchFamily="34" charset="0"/>
                <a:ea typeface="Yu Gothic" pitchFamily="34" charset="-122"/>
                <a:cs typeface="Yu Gothic" pitchFamily="34" charset="-120"/>
              </a:rPr>
              <a:t>売上が落ちる」現象</a:t>
            </a:r>
            <a:endParaRPr lang="en-US" sz="1100" dirty="0"/>
          </a:p>
        </p:txBody>
      </p:sp>
      <p:sp>
        <p:nvSpPr>
          <p:cNvPr id="22" name="Shape 20"/>
          <p:cNvSpPr/>
          <p:nvPr/>
        </p:nvSpPr>
        <p:spPr>
          <a:xfrm>
            <a:off x="566928" y="4663440"/>
            <a:ext cx="11027664" cy="960120"/>
          </a:xfrm>
          <a:prstGeom prst="roundRect">
            <a:avLst>
              <a:gd name="adj" fmla="val 5714"/>
            </a:avLst>
          </a:prstGeom>
          <a:solidFill>
            <a:srgbClr val="2E3A5A"/>
          </a:solidFill>
          <a:ln/>
        </p:spPr>
      </p:sp>
      <p:sp>
        <p:nvSpPr>
          <p:cNvPr id="23" name="Text 21"/>
          <p:cNvSpPr/>
          <p:nvPr/>
        </p:nvSpPr>
        <p:spPr>
          <a:xfrm>
            <a:off x="877824" y="4663440"/>
            <a:ext cx="10405872" cy="960120"/>
          </a:xfrm>
          <a:prstGeom prst="rect">
            <a:avLst/>
          </a:prstGeom>
          <a:noFill/>
          <a:ln/>
        </p:spPr>
        <p:txBody>
          <a:bodyPr wrap="square" lIns="0" tIns="0" rIns="0" bIns="0" rtlCol="0" anchor="ctr"/>
          <a:lstStyle/>
          <a:p>
            <a:pPr indent="0" marL="0">
              <a:lnSpc>
                <a:spcPts val="2400"/>
              </a:lnSpc>
              <a:buNone/>
            </a:pPr>
            <a:r>
              <a:rPr lang="en-US" sz="1450" dirty="0">
                <a:solidFill>
                  <a:srgbClr val="A9BEE3"/>
                </a:solidFill>
                <a:latin typeface="Yu Gothic" pitchFamily="34" charset="0"/>
                <a:ea typeface="Yu Gothic" pitchFamily="34" charset="-122"/>
                <a:cs typeface="Yu Gothic" pitchFamily="34" charset="-120"/>
              </a:rPr>
              <a:t>事業者にはこう体感される — </a:t>
            </a:r>
            <a:pPr indent="0" marL="0">
              <a:lnSpc>
                <a:spcPts val="2400"/>
              </a:lnSpc>
              <a:buNone/>
            </a:pPr>
            <a:r>
              <a:rPr lang="en-US" sz="1450" b="1" dirty="0">
                <a:solidFill>
                  <a:srgbClr val="E0A03A"/>
                </a:solidFill>
                <a:latin typeface="Yu Gothic" pitchFamily="34" charset="0"/>
                <a:ea typeface="Yu Gothic" pitchFamily="34" charset="-122"/>
                <a:cs typeface="Yu Gothic" pitchFamily="34" charset="-120"/>
              </a:rPr>
              <a:t>「順位は1位なのに問い合わせが半減した」。</a:t>
            </a:r>
            <a:pPr indent="0" marL="0">
              <a:lnSpc>
                <a:spcPts val="2400"/>
              </a:lnSpc>
              <a:buNone/>
            </a:pPr>
            <a:r>
              <a:rPr lang="en-US" sz="1450" dirty="0">
                <a:solidFill>
                  <a:srgbClr val="FFFFFF"/>
                </a:solidFill>
                <a:latin typeface="Yu Gothic" pitchFamily="34" charset="0"/>
                <a:ea typeface="Yu Gothic" pitchFamily="34" charset="-122"/>
                <a:cs typeface="Yu Gothic" pitchFamily="34" charset="-120"/>
              </a:rPr>
              <a:t>原因を説明でき、打ち手を出せる人間が足りていない。これが収益源。</a:t>
            </a:r>
            <a:endParaRPr lang="en-US" sz="1450" dirty="0"/>
          </a:p>
        </p:txBody>
      </p:sp>
      <p:sp>
        <p:nvSpPr>
          <p:cNvPr id="24" name="Text 22"/>
          <p:cNvSpPr/>
          <p:nvPr/>
        </p:nvSpPr>
        <p:spPr>
          <a:xfrm>
            <a:off x="566928" y="6291072"/>
            <a:ext cx="11027664" cy="292608"/>
          </a:xfrm>
          <a:prstGeom prst="rect">
            <a:avLst/>
          </a:prstGeom>
          <a:noFill/>
          <a:ln/>
        </p:spPr>
        <p:txBody>
          <a:bodyPr wrap="square" lIns="0" tIns="0" rIns="0" bIns="0" rtlCol="0" anchor="ctr"/>
          <a:lstStyle/>
          <a:p>
            <a:pPr indent="0" marL="0">
              <a:buNone/>
            </a:pPr>
            <a:r>
              <a:rPr lang="en-US" sz="1000" dirty="0">
                <a:solidFill>
                  <a:srgbClr val="7E8BA8"/>
                </a:solidFill>
                <a:latin typeface="Yu Gothic" pitchFamily="34" charset="0"/>
                <a:ea typeface="Yu Gothic" pitchFamily="34" charset="-122"/>
                <a:cs typeface="Yu Gothic" pitchFamily="34" charset="-120"/>
              </a:rPr>
              <a:t>出典：博報堂DYグループ oneder「AI検索エンジンのトラフィック推移」「2026年版AI検索白書」／Uravation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3</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PRICING</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新ジャンルなのに、相場は既に立っている</a:t>
            </a:r>
            <a:endParaRPr lang="en-US" sz="3200" dirty="0"/>
          </a:p>
        </p:txBody>
      </p:sp>
      <p:sp>
        <p:nvSpPr>
          <p:cNvPr id="6" name="Text 4"/>
          <p:cNvSpPr/>
          <p:nvPr/>
        </p:nvSpPr>
        <p:spPr>
          <a:xfrm>
            <a:off x="566928" y="1719072"/>
            <a:ext cx="10881360" cy="310896"/>
          </a:xfrm>
          <a:prstGeom prst="rect">
            <a:avLst/>
          </a:prstGeom>
          <a:noFill/>
          <a:ln/>
        </p:spPr>
        <p:txBody>
          <a:bodyPr wrap="square" lIns="0" tIns="0" rIns="0" bIns="0" rtlCol="0" anchor="ctr"/>
          <a:lstStyle/>
          <a:p>
            <a:pPr indent="0" marL="0">
              <a:buNone/>
            </a:pPr>
            <a:r>
              <a:rPr lang="en-US" sz="1350" dirty="0">
                <a:solidFill>
                  <a:srgbClr val="242B3D"/>
                </a:solidFill>
                <a:latin typeface="Yu Gothic" pitchFamily="34" charset="0"/>
                <a:ea typeface="Yu Gothic" pitchFamily="34" charset="-122"/>
                <a:cs typeface="Yu Gothic" pitchFamily="34" charset="-120"/>
              </a:rPr>
              <a:t>市場教育コストを自分で払わずに済む。これが3か月での立ち上がりに直結する。</a:t>
            </a:r>
            <a:endParaRPr lang="en-US" sz="1350" dirty="0"/>
          </a:p>
        </p:txBody>
      </p:sp>
      <p:sp>
        <p:nvSpPr>
          <p:cNvPr id="7" name="Text 5"/>
          <p:cNvSpPr/>
          <p:nvPr/>
        </p:nvSpPr>
        <p:spPr>
          <a:xfrm>
            <a:off x="566928" y="2231136"/>
            <a:ext cx="2651760" cy="420624"/>
          </a:xfrm>
          <a:prstGeom prst="rect">
            <a:avLst/>
          </a:prstGeom>
          <a:noFill/>
          <a:ln/>
        </p:spPr>
        <p:txBody>
          <a:bodyPr wrap="square" lIns="0" tIns="0" rIns="0" bIns="0" rtlCol="0" anchor="ctr"/>
          <a:lstStyle/>
          <a:p>
            <a:pPr algn="r" indent="0" marL="0">
              <a:buNone/>
            </a:pPr>
            <a:r>
              <a:rPr lang="en-US" sz="1250" b="1" dirty="0">
                <a:solidFill>
                  <a:srgbClr val="141A2E"/>
                </a:solidFill>
                <a:latin typeface="Yu Gothic" pitchFamily="34" charset="0"/>
                <a:ea typeface="Yu Gothic" pitchFamily="34" charset="-122"/>
                <a:cs typeface="Yu Gothic" pitchFamily="34" charset="-120"/>
              </a:rPr>
              <a:t>大手LLMO対策会社</a:t>
            </a:r>
            <a:endParaRPr lang="en-US" sz="1250" dirty="0"/>
          </a:p>
        </p:txBody>
      </p:sp>
      <p:sp>
        <p:nvSpPr>
          <p:cNvPr id="8" name="Shape 6"/>
          <p:cNvSpPr/>
          <p:nvPr/>
        </p:nvSpPr>
        <p:spPr>
          <a:xfrm>
            <a:off x="3355848" y="2286000"/>
            <a:ext cx="6309360" cy="310896"/>
          </a:xfrm>
          <a:prstGeom prst="roundRect">
            <a:avLst>
              <a:gd name="adj" fmla="val 11765"/>
            </a:avLst>
          </a:prstGeom>
          <a:solidFill>
            <a:srgbClr val="2E3A5A"/>
          </a:solidFill>
          <a:ln/>
        </p:spPr>
      </p:sp>
      <p:sp>
        <p:nvSpPr>
          <p:cNvPr id="9" name="Text 7"/>
          <p:cNvSpPr/>
          <p:nvPr/>
        </p:nvSpPr>
        <p:spPr>
          <a:xfrm>
            <a:off x="9811512" y="2231136"/>
            <a:ext cx="2377440" cy="420624"/>
          </a:xfrm>
          <a:prstGeom prst="rect">
            <a:avLst/>
          </a:prstGeom>
          <a:noFill/>
          <a:ln/>
        </p:spPr>
        <p:txBody>
          <a:bodyPr wrap="square" lIns="0" tIns="0" rIns="0" bIns="0" rtlCol="0" anchor="ctr"/>
          <a:lstStyle/>
          <a:p>
            <a:pPr indent="0" marL="0">
              <a:buNone/>
            </a:pPr>
            <a:r>
              <a:rPr lang="en-US" sz="1200" b="1" dirty="0">
                <a:solidFill>
                  <a:srgbClr val="141A2E"/>
                </a:solidFill>
                <a:latin typeface="Yu Gothic" pitchFamily="34" charset="0"/>
                <a:ea typeface="Yu Gothic" pitchFamily="34" charset="-122"/>
                <a:cs typeface="Yu Gothic" pitchFamily="34" charset="-120"/>
              </a:rPr>
              <a:t>月額 20〜80万円</a:t>
            </a:r>
            <a:endParaRPr lang="en-US" sz="1200" dirty="0"/>
          </a:p>
        </p:txBody>
      </p:sp>
      <p:sp>
        <p:nvSpPr>
          <p:cNvPr id="10" name="Text 8"/>
          <p:cNvSpPr/>
          <p:nvPr/>
        </p:nvSpPr>
        <p:spPr>
          <a:xfrm>
            <a:off x="566928" y="2761488"/>
            <a:ext cx="2651760" cy="420624"/>
          </a:xfrm>
          <a:prstGeom prst="rect">
            <a:avLst/>
          </a:prstGeom>
          <a:noFill/>
          <a:ln/>
        </p:spPr>
        <p:txBody>
          <a:bodyPr wrap="square" lIns="0" tIns="0" rIns="0" bIns="0" rtlCol="0" anchor="ctr"/>
          <a:lstStyle/>
          <a:p>
            <a:pPr algn="r" indent="0" marL="0">
              <a:buNone/>
            </a:pPr>
            <a:r>
              <a:rPr lang="en-US" sz="1250" b="1" dirty="0">
                <a:solidFill>
                  <a:srgbClr val="141A2E"/>
                </a:solidFill>
                <a:latin typeface="Yu Gothic" pitchFamily="34" charset="0"/>
                <a:ea typeface="Yu Gothic" pitchFamily="34" charset="-122"/>
                <a:cs typeface="Yu Gothic" pitchFamily="34" charset="-120"/>
              </a:rPr>
              <a:t>本案 Pro</a:t>
            </a:r>
            <a:endParaRPr lang="en-US" sz="1250" dirty="0"/>
          </a:p>
        </p:txBody>
      </p:sp>
      <p:sp>
        <p:nvSpPr>
          <p:cNvPr id="11" name="Shape 9"/>
          <p:cNvSpPr/>
          <p:nvPr/>
        </p:nvSpPr>
        <p:spPr>
          <a:xfrm>
            <a:off x="3355848" y="2816352"/>
            <a:ext cx="2377440" cy="310896"/>
          </a:xfrm>
          <a:prstGeom prst="roundRect">
            <a:avLst>
              <a:gd name="adj" fmla="val 11765"/>
            </a:avLst>
          </a:prstGeom>
          <a:solidFill>
            <a:srgbClr val="E0A03A"/>
          </a:solidFill>
          <a:ln/>
        </p:spPr>
      </p:sp>
      <p:sp>
        <p:nvSpPr>
          <p:cNvPr id="12" name="Text 10"/>
          <p:cNvSpPr/>
          <p:nvPr/>
        </p:nvSpPr>
        <p:spPr>
          <a:xfrm>
            <a:off x="5879592" y="2761488"/>
            <a:ext cx="2377440" cy="420624"/>
          </a:xfrm>
          <a:prstGeom prst="rect">
            <a:avLst/>
          </a:prstGeom>
          <a:noFill/>
          <a:ln/>
        </p:spPr>
        <p:txBody>
          <a:bodyPr wrap="square" lIns="0" tIns="0" rIns="0" bIns="0" rtlCol="0" anchor="ctr"/>
          <a:lstStyle/>
          <a:p>
            <a:pPr indent="0" marL="0">
              <a:buNone/>
            </a:pPr>
            <a:r>
              <a:rPr lang="en-US" sz="1200" b="1" dirty="0">
                <a:solidFill>
                  <a:srgbClr val="141A2E"/>
                </a:solidFill>
                <a:latin typeface="Yu Gothic" pitchFamily="34" charset="0"/>
                <a:ea typeface="Yu Gothic" pitchFamily="34" charset="-122"/>
                <a:cs typeface="Yu Gothic" pitchFamily="34" charset="-120"/>
              </a:rPr>
              <a:t>月額 29.8万円</a:t>
            </a:r>
            <a:endParaRPr lang="en-US" sz="1200" dirty="0"/>
          </a:p>
        </p:txBody>
      </p:sp>
      <p:sp>
        <p:nvSpPr>
          <p:cNvPr id="13" name="Text 11"/>
          <p:cNvSpPr/>
          <p:nvPr/>
        </p:nvSpPr>
        <p:spPr>
          <a:xfrm>
            <a:off x="566928" y="3291840"/>
            <a:ext cx="2651760" cy="420624"/>
          </a:xfrm>
          <a:prstGeom prst="rect">
            <a:avLst/>
          </a:prstGeom>
          <a:noFill/>
          <a:ln/>
        </p:spPr>
        <p:txBody>
          <a:bodyPr wrap="square" lIns="0" tIns="0" rIns="0" bIns="0" rtlCol="0" anchor="ctr"/>
          <a:lstStyle/>
          <a:p>
            <a:pPr algn="r" indent="0" marL="0">
              <a:buNone/>
            </a:pPr>
            <a:r>
              <a:rPr lang="en-US" sz="1250" b="1" dirty="0">
                <a:solidFill>
                  <a:srgbClr val="141A2E"/>
                </a:solidFill>
                <a:latin typeface="Yu Gothic" pitchFamily="34" charset="0"/>
                <a:ea typeface="Yu Gothic" pitchFamily="34" charset="-122"/>
                <a:cs typeface="Yu Gothic" pitchFamily="34" charset="-120"/>
              </a:rPr>
              <a:t>本案 Standard</a:t>
            </a:r>
            <a:endParaRPr lang="en-US" sz="1250" dirty="0"/>
          </a:p>
        </p:txBody>
      </p:sp>
      <p:sp>
        <p:nvSpPr>
          <p:cNvPr id="14" name="Shape 12"/>
          <p:cNvSpPr/>
          <p:nvPr/>
        </p:nvSpPr>
        <p:spPr>
          <a:xfrm>
            <a:off x="3355848" y="3346704"/>
            <a:ext cx="1234440" cy="310896"/>
          </a:xfrm>
          <a:prstGeom prst="roundRect">
            <a:avLst>
              <a:gd name="adj" fmla="val 11765"/>
            </a:avLst>
          </a:prstGeom>
          <a:solidFill>
            <a:srgbClr val="E0A03A"/>
          </a:solidFill>
          <a:ln/>
        </p:spPr>
      </p:sp>
      <p:sp>
        <p:nvSpPr>
          <p:cNvPr id="15" name="Text 13"/>
          <p:cNvSpPr/>
          <p:nvPr/>
        </p:nvSpPr>
        <p:spPr>
          <a:xfrm>
            <a:off x="4736592" y="3291840"/>
            <a:ext cx="2377440" cy="420624"/>
          </a:xfrm>
          <a:prstGeom prst="rect">
            <a:avLst/>
          </a:prstGeom>
          <a:noFill/>
          <a:ln/>
        </p:spPr>
        <p:txBody>
          <a:bodyPr wrap="square" lIns="0" tIns="0" rIns="0" bIns="0" rtlCol="0" anchor="ctr"/>
          <a:lstStyle/>
          <a:p>
            <a:pPr indent="0" marL="0">
              <a:buNone/>
            </a:pPr>
            <a:r>
              <a:rPr lang="en-US" sz="1200" b="1" dirty="0">
                <a:solidFill>
                  <a:srgbClr val="141A2E"/>
                </a:solidFill>
                <a:latin typeface="Yu Gothic" pitchFamily="34" charset="0"/>
                <a:ea typeface="Yu Gothic" pitchFamily="34" charset="-122"/>
                <a:cs typeface="Yu Gothic" pitchFamily="34" charset="-120"/>
              </a:rPr>
              <a:t>月額 14.98万円</a:t>
            </a:r>
            <a:endParaRPr lang="en-US" sz="1200" dirty="0"/>
          </a:p>
        </p:txBody>
      </p:sp>
      <p:sp>
        <p:nvSpPr>
          <p:cNvPr id="16" name="Text 14"/>
          <p:cNvSpPr/>
          <p:nvPr/>
        </p:nvSpPr>
        <p:spPr>
          <a:xfrm>
            <a:off x="6071616" y="3291840"/>
            <a:ext cx="731520" cy="420624"/>
          </a:xfrm>
          <a:prstGeom prst="rect">
            <a:avLst/>
          </a:prstGeom>
          <a:noFill/>
          <a:ln/>
        </p:spPr>
        <p:txBody>
          <a:bodyPr wrap="square" lIns="0" tIns="0" rIns="0" bIns="0" rtlCol="0" anchor="ctr"/>
          <a:lstStyle/>
          <a:p>
            <a:pPr indent="0" marL="0">
              <a:buNone/>
            </a:pPr>
            <a:r>
              <a:rPr lang="en-US" sz="1100" b="1" dirty="0">
                <a:solidFill>
                  <a:srgbClr val="9C6C1B"/>
                </a:solidFill>
                <a:latin typeface="Yu Gothic" pitchFamily="34" charset="0"/>
                <a:ea typeface="Yu Gothic" pitchFamily="34" charset="-122"/>
                <a:cs typeface="Yu Gothic" pitchFamily="34" charset="-120"/>
              </a:rPr>
              <a:t>主力</a:t>
            </a:r>
            <a:endParaRPr lang="en-US" sz="1100" dirty="0"/>
          </a:p>
        </p:txBody>
      </p:sp>
      <p:sp>
        <p:nvSpPr>
          <p:cNvPr id="17" name="Text 15"/>
          <p:cNvSpPr/>
          <p:nvPr/>
        </p:nvSpPr>
        <p:spPr>
          <a:xfrm>
            <a:off x="566928" y="3822192"/>
            <a:ext cx="2651760" cy="420624"/>
          </a:xfrm>
          <a:prstGeom prst="rect">
            <a:avLst/>
          </a:prstGeom>
          <a:noFill/>
          <a:ln/>
        </p:spPr>
        <p:txBody>
          <a:bodyPr wrap="square" lIns="0" tIns="0" rIns="0" bIns="0" rtlCol="0" anchor="ctr"/>
          <a:lstStyle/>
          <a:p>
            <a:pPr algn="r" indent="0" marL="0">
              <a:buNone/>
            </a:pPr>
            <a:r>
              <a:rPr lang="en-US" sz="1250" b="1" dirty="0">
                <a:solidFill>
                  <a:srgbClr val="141A2E"/>
                </a:solidFill>
                <a:latin typeface="Yu Gothic" pitchFamily="34" charset="0"/>
                <a:ea typeface="Yu Gothic" pitchFamily="34" charset="-122"/>
                <a:cs typeface="Yu Gothic" pitchFamily="34" charset="-120"/>
              </a:rPr>
              <a:t>本案 Light</a:t>
            </a:r>
            <a:endParaRPr lang="en-US" sz="1250" dirty="0"/>
          </a:p>
        </p:txBody>
      </p:sp>
      <p:sp>
        <p:nvSpPr>
          <p:cNvPr id="18" name="Shape 16"/>
          <p:cNvSpPr/>
          <p:nvPr/>
        </p:nvSpPr>
        <p:spPr>
          <a:xfrm>
            <a:off x="3355848" y="3877056"/>
            <a:ext cx="457200" cy="310896"/>
          </a:xfrm>
          <a:prstGeom prst="roundRect">
            <a:avLst>
              <a:gd name="adj" fmla="val 11765"/>
            </a:avLst>
          </a:prstGeom>
          <a:solidFill>
            <a:srgbClr val="E0A03A"/>
          </a:solidFill>
          <a:ln/>
        </p:spPr>
      </p:sp>
      <p:sp>
        <p:nvSpPr>
          <p:cNvPr id="19" name="Text 17"/>
          <p:cNvSpPr/>
          <p:nvPr/>
        </p:nvSpPr>
        <p:spPr>
          <a:xfrm>
            <a:off x="3959352" y="3822192"/>
            <a:ext cx="2377440" cy="420624"/>
          </a:xfrm>
          <a:prstGeom prst="rect">
            <a:avLst/>
          </a:prstGeom>
          <a:noFill/>
          <a:ln/>
        </p:spPr>
        <p:txBody>
          <a:bodyPr wrap="square" lIns="0" tIns="0" rIns="0" bIns="0" rtlCol="0" anchor="ctr"/>
          <a:lstStyle/>
          <a:p>
            <a:pPr indent="0" marL="0">
              <a:buNone/>
            </a:pPr>
            <a:r>
              <a:rPr lang="en-US" sz="1200" b="1" dirty="0">
                <a:solidFill>
                  <a:srgbClr val="141A2E"/>
                </a:solidFill>
                <a:latin typeface="Yu Gothic" pitchFamily="34" charset="0"/>
                <a:ea typeface="Yu Gothic" pitchFamily="34" charset="-122"/>
                <a:cs typeface="Yu Gothic" pitchFamily="34" charset="-120"/>
              </a:rPr>
              <a:t>月額 4.98万円</a:t>
            </a:r>
            <a:endParaRPr lang="en-US" sz="1200" dirty="0"/>
          </a:p>
        </p:txBody>
      </p:sp>
      <p:sp>
        <p:nvSpPr>
          <p:cNvPr id="20" name="Text 18"/>
          <p:cNvSpPr/>
          <p:nvPr/>
        </p:nvSpPr>
        <p:spPr>
          <a:xfrm>
            <a:off x="566928" y="4352544"/>
            <a:ext cx="2651760" cy="420624"/>
          </a:xfrm>
          <a:prstGeom prst="rect">
            <a:avLst/>
          </a:prstGeom>
          <a:noFill/>
          <a:ln/>
        </p:spPr>
        <p:txBody>
          <a:bodyPr wrap="square" lIns="0" tIns="0" rIns="0" bIns="0" rtlCol="0" anchor="ctr"/>
          <a:lstStyle/>
          <a:p>
            <a:pPr algn="r" indent="0" marL="0">
              <a:buNone/>
            </a:pPr>
            <a:r>
              <a:rPr lang="en-US" sz="1250" b="1" dirty="0">
                <a:solidFill>
                  <a:srgbClr val="141A2E"/>
                </a:solidFill>
                <a:latin typeface="Yu Gothic" pitchFamily="34" charset="0"/>
                <a:ea typeface="Yu Gothic" pitchFamily="34" charset="-122"/>
                <a:cs typeface="Yu Gothic" pitchFamily="34" charset="-120"/>
              </a:rPr>
              <a:t>MEO対策 一般</a:t>
            </a:r>
            <a:endParaRPr lang="en-US" sz="1250" dirty="0"/>
          </a:p>
        </p:txBody>
      </p:sp>
      <p:sp>
        <p:nvSpPr>
          <p:cNvPr id="21" name="Shape 19"/>
          <p:cNvSpPr/>
          <p:nvPr/>
        </p:nvSpPr>
        <p:spPr>
          <a:xfrm>
            <a:off x="3355848" y="4407408"/>
            <a:ext cx="822960" cy="310896"/>
          </a:xfrm>
          <a:prstGeom prst="roundRect">
            <a:avLst>
              <a:gd name="adj" fmla="val 11765"/>
            </a:avLst>
          </a:prstGeom>
          <a:solidFill>
            <a:srgbClr val="A9BEE3"/>
          </a:solidFill>
          <a:ln/>
        </p:spPr>
      </p:sp>
      <p:sp>
        <p:nvSpPr>
          <p:cNvPr id="22" name="Text 20"/>
          <p:cNvSpPr/>
          <p:nvPr/>
        </p:nvSpPr>
        <p:spPr>
          <a:xfrm>
            <a:off x="4325112" y="4352544"/>
            <a:ext cx="2377440" cy="420624"/>
          </a:xfrm>
          <a:prstGeom prst="rect">
            <a:avLst/>
          </a:prstGeom>
          <a:noFill/>
          <a:ln/>
        </p:spPr>
        <p:txBody>
          <a:bodyPr wrap="square" lIns="0" tIns="0" rIns="0" bIns="0" rtlCol="0" anchor="ctr"/>
          <a:lstStyle/>
          <a:p>
            <a:pPr indent="0" marL="0">
              <a:buNone/>
            </a:pPr>
            <a:r>
              <a:rPr lang="en-US" sz="1200" b="1" dirty="0">
                <a:solidFill>
                  <a:srgbClr val="667088"/>
                </a:solidFill>
                <a:latin typeface="Yu Gothic" pitchFamily="34" charset="0"/>
                <a:ea typeface="Yu Gothic" pitchFamily="34" charset="-122"/>
                <a:cs typeface="Yu Gothic" pitchFamily="34" charset="-120"/>
              </a:rPr>
              <a:t>月額 3〜10万円</a:t>
            </a:r>
            <a:endParaRPr lang="en-US" sz="1200" dirty="0"/>
          </a:p>
        </p:txBody>
      </p:sp>
      <p:sp>
        <p:nvSpPr>
          <p:cNvPr id="23" name="Shape 21"/>
          <p:cNvSpPr/>
          <p:nvPr/>
        </p:nvSpPr>
        <p:spPr>
          <a:xfrm>
            <a:off x="566928" y="4956048"/>
            <a:ext cx="11027664" cy="1024128"/>
          </a:xfrm>
          <a:prstGeom prst="roundRect">
            <a:avLst>
              <a:gd name="adj" fmla="val 5357"/>
            </a:avLst>
          </a:prstGeom>
          <a:solidFill>
            <a:srgbClr val="FBF1DE"/>
          </a:solidFill>
          <a:ln/>
        </p:spPr>
      </p:sp>
      <p:sp>
        <p:nvSpPr>
          <p:cNvPr id="24" name="Shape 22"/>
          <p:cNvSpPr/>
          <p:nvPr/>
        </p:nvSpPr>
        <p:spPr>
          <a:xfrm>
            <a:off x="859536" y="5266944"/>
            <a:ext cx="384048" cy="384048"/>
          </a:xfrm>
          <a:prstGeom prst="ellipse">
            <a:avLst/>
          </a:prstGeom>
          <a:solidFill>
            <a:srgbClr val="E0A03A"/>
          </a:solidFill>
          <a:ln/>
        </p:spPr>
      </p:sp>
      <p:sp>
        <p:nvSpPr>
          <p:cNvPr id="25" name="Text 23"/>
          <p:cNvSpPr/>
          <p:nvPr/>
        </p:nvSpPr>
        <p:spPr>
          <a:xfrm>
            <a:off x="859536" y="5266944"/>
            <a:ext cx="384048" cy="384048"/>
          </a:xfrm>
          <a:prstGeom prst="rect">
            <a:avLst/>
          </a:prstGeom>
          <a:noFill/>
          <a:ln/>
        </p:spPr>
        <p:txBody>
          <a:bodyPr wrap="square" lIns="0" tIns="0" rIns="0" bIns="0" rtlCol="0" anchor="ctr"/>
          <a:lstStyle/>
          <a:p>
            <a:pPr algn="ctr" indent="0" marL="0">
              <a:buNone/>
            </a:pPr>
            <a:r>
              <a:rPr lang="en-US" sz="1600" b="1" dirty="0">
                <a:solidFill>
                  <a:srgbClr val="141A2E"/>
                </a:solidFill>
                <a:latin typeface="Yu Gothic" pitchFamily="34" charset="0"/>
                <a:ea typeface="Yu Gothic" pitchFamily="34" charset="-122"/>
                <a:cs typeface="Yu Gothic" pitchFamily="34" charset="-120"/>
              </a:rPr>
              <a:t>!</a:t>
            </a:r>
            <a:endParaRPr lang="en-US" sz="1600" dirty="0"/>
          </a:p>
        </p:txBody>
      </p:sp>
      <p:sp>
        <p:nvSpPr>
          <p:cNvPr id="26" name="Text 24"/>
          <p:cNvSpPr/>
          <p:nvPr/>
        </p:nvSpPr>
        <p:spPr>
          <a:xfrm>
            <a:off x="1426464" y="4956048"/>
            <a:ext cx="9838944" cy="1024128"/>
          </a:xfrm>
          <a:prstGeom prst="rect">
            <a:avLst/>
          </a:prstGeom>
          <a:noFill/>
          <a:ln/>
        </p:spPr>
        <p:txBody>
          <a:bodyPr wrap="square" lIns="0" tIns="0" rIns="0" bIns="0" rtlCol="0" anchor="ctr"/>
          <a:lstStyle/>
          <a:p>
            <a:pPr indent="0" marL="0">
              <a:lnSpc>
                <a:spcPts val="2200"/>
              </a:lnSpc>
              <a:buNone/>
            </a:pPr>
            <a:r>
              <a:rPr lang="en-US" sz="1350" b="1" dirty="0">
                <a:solidFill>
                  <a:srgbClr val="141A2E"/>
                </a:solidFill>
                <a:latin typeface="Yu Gothic" pitchFamily="34" charset="0"/>
                <a:ea typeface="Yu Gothic" pitchFamily="34" charset="-122"/>
                <a:cs typeface="Yu Gothic" pitchFamily="34" charset="-120"/>
              </a:rPr>
              <a:t>大手の価格帯（月20〜80万円）と正面衝突しない。月5〜15万円に置き、士業特化で差別化する。LLMO対策会社は既に40社超が参入済み。</a:t>
            </a:r>
            <a:endParaRPr lang="en-US" sz="1350" dirty="0"/>
          </a:p>
        </p:txBody>
      </p:sp>
      <p:sp>
        <p:nvSpPr>
          <p:cNvPr id="27" name="Text 25"/>
          <p:cNvSpPr/>
          <p:nvPr/>
        </p:nvSpPr>
        <p:spPr>
          <a:xfrm>
            <a:off x="566928" y="6291072"/>
            <a:ext cx="11027664" cy="292608"/>
          </a:xfrm>
          <a:prstGeom prst="rect">
            <a:avLst/>
          </a:prstGeom>
          <a:noFill/>
          <a:ln/>
        </p:spPr>
        <p:txBody>
          <a:bodyPr wrap="square" lIns="0" tIns="0" rIns="0" bIns="0" rtlCol="0" anchor="ctr"/>
          <a:lstStyle/>
          <a:p>
            <a:pPr indent="0" marL="0">
              <a:buNone/>
            </a:pPr>
            <a:r>
              <a:rPr lang="en-US" sz="1000" dirty="0">
                <a:solidFill>
                  <a:srgbClr val="97A0B4"/>
                </a:solidFill>
                <a:latin typeface="Yu Gothic" pitchFamily="34" charset="0"/>
                <a:ea typeface="Yu Gothic" pitchFamily="34" charset="-122"/>
                <a:cs typeface="Yu Gothic" pitchFamily="34" charset="-120"/>
              </a:rPr>
              <a:t>出典：SEデザイン／メディアリーチ「LLMO対策の費用相場」、MEO対策の料金相場2026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4</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TAILWIND</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追い風：デジタル化・AI導入補助金2026</a:t>
            </a:r>
            <a:endParaRPr lang="en-US" sz="3200" dirty="0"/>
          </a:p>
        </p:txBody>
      </p:sp>
      <p:sp>
        <p:nvSpPr>
          <p:cNvPr id="6" name="Text 4"/>
          <p:cNvSpPr/>
          <p:nvPr/>
        </p:nvSpPr>
        <p:spPr>
          <a:xfrm>
            <a:off x="566928" y="1719072"/>
            <a:ext cx="10881360" cy="310896"/>
          </a:xfrm>
          <a:prstGeom prst="rect">
            <a:avLst/>
          </a:prstGeom>
          <a:noFill/>
          <a:ln/>
        </p:spPr>
        <p:txBody>
          <a:bodyPr wrap="square" lIns="0" tIns="0" rIns="0" bIns="0" rtlCol="0" anchor="ctr"/>
          <a:lstStyle/>
          <a:p>
            <a:pPr indent="0" marL="0">
              <a:buNone/>
            </a:pPr>
            <a:r>
              <a:rPr lang="en-US" sz="1350" dirty="0">
                <a:solidFill>
                  <a:srgbClr val="242B3D"/>
                </a:solidFill>
                <a:latin typeface="Yu Gothic" pitchFamily="34" charset="0"/>
                <a:ea typeface="Yu Gothic" pitchFamily="34" charset="-122"/>
                <a:cs typeface="Yu Gothic" pitchFamily="34" charset="-120"/>
              </a:rPr>
              <a:t>旧IT導入補助金が改称され、生成AIツールの導入費用が明確に対象化された。</a:t>
            </a:r>
            <a:endParaRPr lang="en-US" sz="1350" dirty="0"/>
          </a:p>
        </p:txBody>
      </p:sp>
      <p:sp>
        <p:nvSpPr>
          <p:cNvPr id="7" name="Shape 5"/>
          <p:cNvSpPr/>
          <p:nvPr/>
        </p:nvSpPr>
        <p:spPr>
          <a:xfrm>
            <a:off x="566928" y="2240280"/>
            <a:ext cx="3529584" cy="1737360"/>
          </a:xfrm>
          <a:prstGeom prst="roundRect">
            <a:avLst>
              <a:gd name="adj" fmla="val 3158"/>
            </a:avLst>
          </a:prstGeom>
          <a:solidFill>
            <a:srgbClr val="F1F4F9"/>
          </a:solidFill>
          <a:ln/>
          <a:effectLst>
            <a:outerShdw sx="100000" sy="100000" kx="0" ky="0" algn="bl" rotWithShape="0" blurRad="152400" dist="25400" dir="5400000">
              <a:srgbClr val="9AA6BE">
                <a:alpha val="28000"/>
              </a:srgbClr>
            </a:outerShdw>
          </a:effectLst>
        </p:spPr>
      </p:sp>
      <p:sp>
        <p:nvSpPr>
          <p:cNvPr id="8" name="Text 6"/>
          <p:cNvSpPr/>
          <p:nvPr/>
        </p:nvSpPr>
        <p:spPr>
          <a:xfrm>
            <a:off x="841248" y="2450592"/>
            <a:ext cx="2980944" cy="786384"/>
          </a:xfrm>
          <a:prstGeom prst="rect">
            <a:avLst/>
          </a:prstGeom>
          <a:noFill/>
          <a:ln/>
        </p:spPr>
        <p:txBody>
          <a:bodyPr wrap="square" lIns="0" tIns="0" rIns="0" bIns="0" rtlCol="0" anchor="ctr"/>
          <a:lstStyle/>
          <a:p>
            <a:pPr indent="0" marL="0">
              <a:lnSpc>
                <a:spcPts val="3000"/>
              </a:lnSpc>
              <a:buNone/>
            </a:pPr>
            <a:r>
              <a:rPr lang="en-US" sz="2400" b="1" dirty="0">
                <a:solidFill>
                  <a:srgbClr val="9C6C1B"/>
                </a:solidFill>
                <a:latin typeface="Yu Gothic" pitchFamily="34" charset="0"/>
                <a:ea typeface="Yu Gothic" pitchFamily="34" charset="-122"/>
                <a:cs typeface="Yu Gothic" pitchFamily="34" charset="-120"/>
              </a:rPr>
              <a:t>最大450万円</a:t>
            </a:r>
            <a:endParaRPr lang="en-US" sz="2400" dirty="0"/>
          </a:p>
        </p:txBody>
      </p:sp>
      <p:sp>
        <p:nvSpPr>
          <p:cNvPr id="9" name="Text 7"/>
          <p:cNvSpPr/>
          <p:nvPr/>
        </p:nvSpPr>
        <p:spPr>
          <a:xfrm>
            <a:off x="841248" y="3255264"/>
            <a:ext cx="2980944" cy="603504"/>
          </a:xfrm>
          <a:prstGeom prst="rect">
            <a:avLst/>
          </a:prstGeom>
          <a:noFill/>
          <a:ln/>
        </p:spPr>
        <p:txBody>
          <a:bodyPr wrap="square" lIns="0" tIns="0" rIns="0" bIns="0" rtlCol="0" anchor="ctr"/>
          <a:lstStyle/>
          <a:p>
            <a:pPr indent="0" marL="0">
              <a:lnSpc>
                <a:spcPts val="1800"/>
              </a:lnSpc>
              <a:buNone/>
            </a:pPr>
            <a:r>
              <a:rPr lang="en-US" sz="1150" dirty="0">
                <a:solidFill>
                  <a:srgbClr val="667088"/>
                </a:solidFill>
                <a:latin typeface="Yu Gothic" pitchFamily="34" charset="0"/>
                <a:ea typeface="Yu Gothic" pitchFamily="34" charset="-122"/>
                <a:cs typeface="Yu Gothic" pitchFamily="34" charset="-120"/>
              </a:rPr>
              <a:t>補助額（1者あたり）</a:t>
            </a:r>
            <a:endParaRPr lang="en-US" sz="1150" dirty="0"/>
          </a:p>
        </p:txBody>
      </p:sp>
      <p:sp>
        <p:nvSpPr>
          <p:cNvPr id="10" name="Shape 8"/>
          <p:cNvSpPr/>
          <p:nvPr/>
        </p:nvSpPr>
        <p:spPr>
          <a:xfrm>
            <a:off x="4334256" y="2240280"/>
            <a:ext cx="3529584" cy="1737360"/>
          </a:xfrm>
          <a:prstGeom prst="roundRect">
            <a:avLst>
              <a:gd name="adj" fmla="val 3158"/>
            </a:avLst>
          </a:prstGeom>
          <a:solidFill>
            <a:srgbClr val="F1F4F9"/>
          </a:solidFill>
          <a:ln/>
          <a:effectLst>
            <a:outerShdw sx="100000" sy="100000" kx="0" ky="0" algn="bl" rotWithShape="0" blurRad="152400" dist="25400" dir="5400000">
              <a:srgbClr val="9AA6BE">
                <a:alpha val="28000"/>
              </a:srgbClr>
            </a:outerShdw>
          </a:effectLst>
        </p:spPr>
      </p:sp>
      <p:sp>
        <p:nvSpPr>
          <p:cNvPr id="11" name="Text 9"/>
          <p:cNvSpPr/>
          <p:nvPr/>
        </p:nvSpPr>
        <p:spPr>
          <a:xfrm>
            <a:off x="4608576" y="2450592"/>
            <a:ext cx="2980944" cy="786384"/>
          </a:xfrm>
          <a:prstGeom prst="rect">
            <a:avLst/>
          </a:prstGeom>
          <a:noFill/>
          <a:ln/>
        </p:spPr>
        <p:txBody>
          <a:bodyPr wrap="square" lIns="0" tIns="0" rIns="0" bIns="0" rtlCol="0" anchor="ctr"/>
          <a:lstStyle/>
          <a:p>
            <a:pPr indent="0" marL="0">
              <a:lnSpc>
                <a:spcPts val="3000"/>
              </a:lnSpc>
              <a:buNone/>
            </a:pPr>
            <a:r>
              <a:rPr lang="en-US" sz="2400" b="1" dirty="0">
                <a:solidFill>
                  <a:srgbClr val="9C6C1B"/>
                </a:solidFill>
                <a:latin typeface="Yu Gothic" pitchFamily="34" charset="0"/>
                <a:ea typeface="Yu Gothic" pitchFamily="34" charset="-122"/>
                <a:cs typeface="Yu Gothic" pitchFamily="34" charset="-120"/>
              </a:rPr>
              <a:t>1/2 〜 4/5</a:t>
            </a:r>
            <a:endParaRPr lang="en-US" sz="2400" dirty="0"/>
          </a:p>
        </p:txBody>
      </p:sp>
      <p:sp>
        <p:nvSpPr>
          <p:cNvPr id="12" name="Text 10"/>
          <p:cNvSpPr/>
          <p:nvPr/>
        </p:nvSpPr>
        <p:spPr>
          <a:xfrm>
            <a:off x="4608576" y="3255264"/>
            <a:ext cx="2980944" cy="603504"/>
          </a:xfrm>
          <a:prstGeom prst="rect">
            <a:avLst/>
          </a:prstGeom>
          <a:noFill/>
          <a:ln/>
        </p:spPr>
        <p:txBody>
          <a:bodyPr wrap="square" lIns="0" tIns="0" rIns="0" bIns="0" rtlCol="0" anchor="ctr"/>
          <a:lstStyle/>
          <a:p>
            <a:pPr indent="0" marL="0">
              <a:lnSpc>
                <a:spcPts val="1800"/>
              </a:lnSpc>
              <a:buNone/>
            </a:pPr>
            <a:r>
              <a:rPr lang="en-US" sz="1150" dirty="0">
                <a:solidFill>
                  <a:srgbClr val="667088"/>
                </a:solidFill>
                <a:latin typeface="Yu Gothic" pitchFamily="34" charset="0"/>
                <a:ea typeface="Yu Gothic" pitchFamily="34" charset="-122"/>
                <a:cs typeface="Yu Gothic" pitchFamily="34" charset="-120"/>
              </a:rPr>
              <a:t>補助率（小規模事業者は賃上げ要件等で最大4/5）</a:t>
            </a:r>
            <a:endParaRPr lang="en-US" sz="1150" dirty="0"/>
          </a:p>
        </p:txBody>
      </p:sp>
      <p:sp>
        <p:nvSpPr>
          <p:cNvPr id="13" name="Shape 11"/>
          <p:cNvSpPr/>
          <p:nvPr/>
        </p:nvSpPr>
        <p:spPr>
          <a:xfrm>
            <a:off x="8101584" y="2240280"/>
            <a:ext cx="3529584" cy="1737360"/>
          </a:xfrm>
          <a:prstGeom prst="roundRect">
            <a:avLst>
              <a:gd name="adj" fmla="val 3158"/>
            </a:avLst>
          </a:prstGeom>
          <a:solidFill>
            <a:srgbClr val="F1F4F9"/>
          </a:solidFill>
          <a:ln/>
          <a:effectLst>
            <a:outerShdw sx="100000" sy="100000" kx="0" ky="0" algn="bl" rotWithShape="0" blurRad="152400" dist="25400" dir="5400000">
              <a:srgbClr val="9AA6BE">
                <a:alpha val="28000"/>
              </a:srgbClr>
            </a:outerShdw>
          </a:effectLst>
        </p:spPr>
      </p:sp>
      <p:sp>
        <p:nvSpPr>
          <p:cNvPr id="14" name="Text 12"/>
          <p:cNvSpPr/>
          <p:nvPr/>
        </p:nvSpPr>
        <p:spPr>
          <a:xfrm>
            <a:off x="8375904" y="2450592"/>
            <a:ext cx="2980944" cy="786384"/>
          </a:xfrm>
          <a:prstGeom prst="rect">
            <a:avLst/>
          </a:prstGeom>
          <a:noFill/>
          <a:ln/>
        </p:spPr>
        <p:txBody>
          <a:bodyPr wrap="square" lIns="0" tIns="0" rIns="0" bIns="0" rtlCol="0" anchor="ctr"/>
          <a:lstStyle/>
          <a:p>
            <a:pPr indent="0" marL="0">
              <a:lnSpc>
                <a:spcPts val="3000"/>
              </a:lnSpc>
              <a:buNone/>
            </a:pPr>
            <a:r>
              <a:rPr lang="en-US" sz="2400" b="1" dirty="0">
                <a:solidFill>
                  <a:srgbClr val="9C6C1B"/>
                </a:solidFill>
                <a:latin typeface="Yu Gothic" pitchFamily="34" charset="0"/>
                <a:ea typeface="Yu Gothic" pitchFamily="34" charset="-122"/>
                <a:cs typeface="Yu Gothic" pitchFamily="34" charset="-120"/>
              </a:rPr>
              <a:t>登録が必須</a:t>
            </a:r>
            <a:endParaRPr lang="en-US" sz="2400" dirty="0"/>
          </a:p>
        </p:txBody>
      </p:sp>
      <p:sp>
        <p:nvSpPr>
          <p:cNvPr id="15" name="Text 13"/>
          <p:cNvSpPr/>
          <p:nvPr/>
        </p:nvSpPr>
        <p:spPr>
          <a:xfrm>
            <a:off x="8375904" y="3255264"/>
            <a:ext cx="2980944" cy="603504"/>
          </a:xfrm>
          <a:prstGeom prst="rect">
            <a:avLst/>
          </a:prstGeom>
          <a:noFill/>
          <a:ln/>
        </p:spPr>
        <p:txBody>
          <a:bodyPr wrap="square" lIns="0" tIns="0" rIns="0" bIns="0" rtlCol="0" anchor="ctr"/>
          <a:lstStyle/>
          <a:p>
            <a:pPr indent="0" marL="0">
              <a:lnSpc>
                <a:spcPts val="1800"/>
              </a:lnSpc>
              <a:buNone/>
            </a:pPr>
            <a:r>
              <a:rPr lang="en-US" sz="1150" dirty="0">
                <a:solidFill>
                  <a:srgbClr val="667088"/>
                </a:solidFill>
                <a:latin typeface="Yu Gothic" pitchFamily="34" charset="0"/>
                <a:ea typeface="Yu Gothic" pitchFamily="34" charset="-122"/>
                <a:cs typeface="Yu Gothic" pitchFamily="34" charset="-120"/>
              </a:rPr>
              <a:t>申請には「IT導入支援事業者」との</a:t>
            </a:r>
            <a:endParaRPr lang="en-US" sz="1150" dirty="0"/>
          </a:p>
          <a:p>
            <a:pPr indent="0" marL="0">
              <a:lnSpc>
                <a:spcPts val="1800"/>
              </a:lnSpc>
              <a:buNone/>
            </a:pPr>
            <a:r>
              <a:rPr lang="en-US" sz="1150" dirty="0">
                <a:solidFill>
                  <a:srgbClr val="667088"/>
                </a:solidFill>
                <a:latin typeface="Yu Gothic" pitchFamily="34" charset="0"/>
                <a:ea typeface="Yu Gothic" pitchFamily="34" charset="-122"/>
                <a:cs typeface="Yu Gothic" pitchFamily="34" charset="-120"/>
              </a:rPr>
              <a:t>パートナーシップが必要</a:t>
            </a:r>
            <a:endParaRPr lang="en-US" sz="1150" dirty="0"/>
          </a:p>
        </p:txBody>
      </p:sp>
      <p:sp>
        <p:nvSpPr>
          <p:cNvPr id="16" name="Shape 14"/>
          <p:cNvSpPr/>
          <p:nvPr/>
        </p:nvSpPr>
        <p:spPr>
          <a:xfrm>
            <a:off x="566928" y="4261104"/>
            <a:ext cx="11027664" cy="859536"/>
          </a:xfrm>
          <a:prstGeom prst="roundRect">
            <a:avLst>
              <a:gd name="adj" fmla="val 6383"/>
            </a:avLst>
          </a:prstGeom>
          <a:solidFill>
            <a:srgbClr val="141A2E"/>
          </a:solidFill>
          <a:ln/>
        </p:spPr>
      </p:sp>
      <p:sp>
        <p:nvSpPr>
          <p:cNvPr id="17" name="Text 15"/>
          <p:cNvSpPr/>
          <p:nvPr/>
        </p:nvSpPr>
        <p:spPr>
          <a:xfrm>
            <a:off x="877824" y="4261104"/>
            <a:ext cx="10405872" cy="859536"/>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顧客の実質負担を 1/2〜1/5 にできる。成約率を構造的に引き上げる営業カードであり、同時に「支援事業者登録」という参入障壁を自分側に作れる。</a:t>
            </a:r>
            <a:endParaRPr lang="en-US" sz="1400" dirty="0"/>
          </a:p>
        </p:txBody>
      </p:sp>
      <p:sp>
        <p:nvSpPr>
          <p:cNvPr id="18" name="Text 16"/>
          <p:cNvSpPr/>
          <p:nvPr/>
        </p:nvSpPr>
        <p:spPr>
          <a:xfrm>
            <a:off x="566928" y="5285232"/>
            <a:ext cx="10881360" cy="457200"/>
          </a:xfrm>
          <a:prstGeom prst="rect">
            <a:avLst/>
          </a:prstGeom>
          <a:noFill/>
          <a:ln/>
        </p:spPr>
        <p:txBody>
          <a:bodyPr wrap="square" lIns="0" tIns="0" rIns="0" bIns="0" rtlCol="0" anchor="ctr"/>
          <a:lstStyle/>
          <a:p>
            <a:pPr indent="0" marL="0">
              <a:buNone/>
            </a:pPr>
            <a:r>
              <a:rPr lang="en-US" sz="1250" dirty="0">
                <a:solidFill>
                  <a:srgbClr val="667088"/>
                </a:solidFill>
                <a:latin typeface="Yu Gothic" pitchFamily="34" charset="0"/>
                <a:ea typeface="Yu Gothic" pitchFamily="34" charset="-122"/>
                <a:cs typeface="Yu Gothic" pitchFamily="34" charset="-120"/>
              </a:rPr>
              <a:t>ただし制度は変わりうる。補助金は「あれば強い」カードとして扱い、事業の前提には置かない。支援事業者登録は売上が立った後に申請する。</a:t>
            </a:r>
            <a:endParaRPr lang="en-US" sz="1250" dirty="0"/>
          </a:p>
        </p:txBody>
      </p:sp>
      <p:sp>
        <p:nvSpPr>
          <p:cNvPr id="19" name="Text 17"/>
          <p:cNvSpPr/>
          <p:nvPr/>
        </p:nvSpPr>
        <p:spPr>
          <a:xfrm>
            <a:off x="566928" y="6291072"/>
            <a:ext cx="11027664" cy="292608"/>
          </a:xfrm>
          <a:prstGeom prst="rect">
            <a:avLst/>
          </a:prstGeom>
          <a:noFill/>
          <a:ln/>
        </p:spPr>
        <p:txBody>
          <a:bodyPr wrap="square" lIns="0" tIns="0" rIns="0" bIns="0" rtlCol="0" anchor="ctr"/>
          <a:lstStyle/>
          <a:p>
            <a:pPr indent="0" marL="0">
              <a:buNone/>
            </a:pPr>
            <a:r>
              <a:rPr lang="en-US" sz="1000" dirty="0">
                <a:solidFill>
                  <a:srgbClr val="97A0B4"/>
                </a:solidFill>
                <a:latin typeface="Yu Gothic" pitchFamily="34" charset="0"/>
                <a:ea typeface="Yu Gothic" pitchFamily="34" charset="-122"/>
                <a:cs typeface="Yu Gothic" pitchFamily="34" charset="-120"/>
              </a:rPr>
              <a:t>出典：中小企業庁「デジタル化・AI導入補助金2026」公募要領、制度概要</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5</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OPTIONS</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AI副業ジャンル 5案の比較検討</a:t>
            </a:r>
            <a:endParaRPr lang="en-US" sz="3200" dirty="0"/>
          </a:p>
        </p:txBody>
      </p:sp>
      <p:sp>
        <p:nvSpPr>
          <p:cNvPr id="6" name="Text 4"/>
          <p:cNvSpPr/>
          <p:nvPr/>
        </p:nvSpPr>
        <p:spPr>
          <a:xfrm>
            <a:off x="5806440" y="1737360"/>
            <a:ext cx="932688" cy="310896"/>
          </a:xfrm>
          <a:prstGeom prst="rect">
            <a:avLst/>
          </a:prstGeom>
          <a:noFill/>
          <a:ln/>
        </p:spPr>
        <p:txBody>
          <a:bodyPr wrap="square" lIns="0" tIns="0" rIns="0" bIns="0" rtlCol="0" anchor="ctr"/>
          <a:lstStyle/>
          <a:p>
            <a:pPr algn="ctr" indent="0" marL="0">
              <a:buNone/>
            </a:pPr>
            <a:r>
              <a:rPr lang="en-US" sz="1050" b="1" spc="50" kern="0" dirty="0">
                <a:solidFill>
                  <a:srgbClr val="667088"/>
                </a:solidFill>
                <a:latin typeface="Yu Gothic" pitchFamily="34" charset="0"/>
                <a:ea typeface="Yu Gothic" pitchFamily="34" charset="-122"/>
                <a:cs typeface="Yu Gothic" pitchFamily="34" charset="-120"/>
              </a:rPr>
              <a:t>無人化</a:t>
            </a:r>
            <a:endParaRPr lang="en-US" sz="1050" dirty="0"/>
          </a:p>
        </p:txBody>
      </p:sp>
      <p:sp>
        <p:nvSpPr>
          <p:cNvPr id="7" name="Text 5"/>
          <p:cNvSpPr/>
          <p:nvPr/>
        </p:nvSpPr>
        <p:spPr>
          <a:xfrm>
            <a:off x="6739128" y="1737360"/>
            <a:ext cx="932688" cy="310896"/>
          </a:xfrm>
          <a:prstGeom prst="rect">
            <a:avLst/>
          </a:prstGeom>
          <a:noFill/>
          <a:ln/>
        </p:spPr>
        <p:txBody>
          <a:bodyPr wrap="square" lIns="0" tIns="0" rIns="0" bIns="0" rtlCol="0" anchor="ctr"/>
          <a:lstStyle/>
          <a:p>
            <a:pPr algn="ctr" indent="0" marL="0">
              <a:buNone/>
            </a:pPr>
            <a:r>
              <a:rPr lang="en-US" sz="1050" b="1" spc="50" kern="0" dirty="0">
                <a:solidFill>
                  <a:srgbClr val="667088"/>
                </a:solidFill>
                <a:latin typeface="Yu Gothic" pitchFamily="34" charset="0"/>
                <a:ea typeface="Yu Gothic" pitchFamily="34" charset="-122"/>
                <a:cs typeface="Yu Gothic" pitchFamily="34" charset="-120"/>
              </a:rPr>
              <a:t>市場</a:t>
            </a:r>
            <a:endParaRPr lang="en-US" sz="1050" dirty="0"/>
          </a:p>
        </p:txBody>
      </p:sp>
      <p:sp>
        <p:nvSpPr>
          <p:cNvPr id="8" name="Text 6"/>
          <p:cNvSpPr/>
          <p:nvPr/>
        </p:nvSpPr>
        <p:spPr>
          <a:xfrm>
            <a:off x="7671816" y="1737360"/>
            <a:ext cx="932688" cy="310896"/>
          </a:xfrm>
          <a:prstGeom prst="rect">
            <a:avLst/>
          </a:prstGeom>
          <a:noFill/>
          <a:ln/>
        </p:spPr>
        <p:txBody>
          <a:bodyPr wrap="square" lIns="0" tIns="0" rIns="0" bIns="0" rtlCol="0" anchor="ctr"/>
          <a:lstStyle/>
          <a:p>
            <a:pPr algn="ctr" indent="0" marL="0">
              <a:buNone/>
            </a:pPr>
            <a:r>
              <a:rPr lang="en-US" sz="1050" b="1" spc="50" kern="0" dirty="0">
                <a:solidFill>
                  <a:srgbClr val="667088"/>
                </a:solidFill>
                <a:latin typeface="Yu Gothic" pitchFamily="34" charset="0"/>
                <a:ea typeface="Yu Gothic" pitchFamily="34" charset="-122"/>
                <a:cs typeface="Yu Gothic" pitchFamily="34" charset="-120"/>
              </a:rPr>
              <a:t>3か月</a:t>
            </a:r>
            <a:endParaRPr lang="en-US" sz="1050" dirty="0"/>
          </a:p>
        </p:txBody>
      </p:sp>
      <p:sp>
        <p:nvSpPr>
          <p:cNvPr id="9" name="Text 7"/>
          <p:cNvSpPr/>
          <p:nvPr/>
        </p:nvSpPr>
        <p:spPr>
          <a:xfrm>
            <a:off x="8604504" y="1737360"/>
            <a:ext cx="932688" cy="310896"/>
          </a:xfrm>
          <a:prstGeom prst="rect">
            <a:avLst/>
          </a:prstGeom>
          <a:noFill/>
          <a:ln/>
        </p:spPr>
        <p:txBody>
          <a:bodyPr wrap="square" lIns="0" tIns="0" rIns="0" bIns="0" rtlCol="0" anchor="ctr"/>
          <a:lstStyle/>
          <a:p>
            <a:pPr algn="ctr" indent="0" marL="0">
              <a:buNone/>
            </a:pPr>
            <a:r>
              <a:rPr lang="en-US" sz="1050" b="1" spc="50" kern="0" dirty="0">
                <a:solidFill>
                  <a:srgbClr val="667088"/>
                </a:solidFill>
                <a:latin typeface="Yu Gothic" pitchFamily="34" charset="0"/>
                <a:ea typeface="Yu Gothic" pitchFamily="34" charset="-122"/>
                <a:cs typeface="Yu Gothic" pitchFamily="34" charset="-120"/>
              </a:rPr>
              <a:t>低投資</a:t>
            </a:r>
            <a:endParaRPr lang="en-US" sz="1050" dirty="0"/>
          </a:p>
        </p:txBody>
      </p:sp>
      <p:sp>
        <p:nvSpPr>
          <p:cNvPr id="10" name="Text 8"/>
          <p:cNvSpPr/>
          <p:nvPr/>
        </p:nvSpPr>
        <p:spPr>
          <a:xfrm>
            <a:off x="9537192" y="1737360"/>
            <a:ext cx="932688" cy="310896"/>
          </a:xfrm>
          <a:prstGeom prst="rect">
            <a:avLst/>
          </a:prstGeom>
          <a:noFill/>
          <a:ln/>
        </p:spPr>
        <p:txBody>
          <a:bodyPr wrap="square" lIns="0" tIns="0" rIns="0" bIns="0" rtlCol="0" anchor="ctr"/>
          <a:lstStyle/>
          <a:p>
            <a:pPr algn="ctr" indent="0" marL="0">
              <a:buNone/>
            </a:pPr>
            <a:r>
              <a:rPr lang="en-US" sz="1050" b="1" spc="50" kern="0" dirty="0">
                <a:solidFill>
                  <a:srgbClr val="667088"/>
                </a:solidFill>
                <a:latin typeface="Yu Gothic" pitchFamily="34" charset="0"/>
                <a:ea typeface="Yu Gothic" pitchFamily="34" charset="-122"/>
                <a:cs typeface="Yu Gothic" pitchFamily="34" charset="-120"/>
              </a:rPr>
              <a:t>成長性</a:t>
            </a:r>
            <a:endParaRPr lang="en-US" sz="1050" dirty="0"/>
          </a:p>
        </p:txBody>
      </p:sp>
      <p:sp>
        <p:nvSpPr>
          <p:cNvPr id="11" name="Text 9"/>
          <p:cNvSpPr/>
          <p:nvPr/>
        </p:nvSpPr>
        <p:spPr>
          <a:xfrm>
            <a:off x="10469880" y="1737360"/>
            <a:ext cx="932688" cy="310896"/>
          </a:xfrm>
          <a:prstGeom prst="rect">
            <a:avLst/>
          </a:prstGeom>
          <a:noFill/>
          <a:ln/>
        </p:spPr>
        <p:txBody>
          <a:bodyPr wrap="square" lIns="0" tIns="0" rIns="0" bIns="0" rtlCol="0" anchor="ctr"/>
          <a:lstStyle/>
          <a:p>
            <a:pPr algn="ctr" indent="0" marL="0">
              <a:buNone/>
            </a:pPr>
            <a:r>
              <a:rPr lang="en-US" sz="1050" b="1" spc="50" kern="0" dirty="0">
                <a:solidFill>
                  <a:srgbClr val="667088"/>
                </a:solidFill>
                <a:latin typeface="Yu Gothic" pitchFamily="34" charset="0"/>
                <a:ea typeface="Yu Gothic" pitchFamily="34" charset="-122"/>
                <a:cs typeface="Yu Gothic" pitchFamily="34" charset="-120"/>
              </a:rPr>
              <a:t>合計</a:t>
            </a:r>
            <a:endParaRPr lang="en-US" sz="1050" dirty="0"/>
          </a:p>
        </p:txBody>
      </p:sp>
      <p:sp>
        <p:nvSpPr>
          <p:cNvPr id="12" name="Shape 10"/>
          <p:cNvSpPr/>
          <p:nvPr/>
        </p:nvSpPr>
        <p:spPr>
          <a:xfrm>
            <a:off x="566928" y="2103120"/>
            <a:ext cx="11027664" cy="713232"/>
          </a:xfrm>
          <a:prstGeom prst="roundRect">
            <a:avLst>
              <a:gd name="adj" fmla="val 6410"/>
            </a:avLst>
          </a:prstGeom>
          <a:solidFill>
            <a:srgbClr val="FBF1DE"/>
          </a:solidFill>
          <a:ln/>
        </p:spPr>
      </p:sp>
      <p:sp>
        <p:nvSpPr>
          <p:cNvPr id="13" name="Text 11"/>
          <p:cNvSpPr/>
          <p:nvPr/>
        </p:nvSpPr>
        <p:spPr>
          <a:xfrm>
            <a:off x="877824" y="2103120"/>
            <a:ext cx="4937760" cy="713232"/>
          </a:xfrm>
          <a:prstGeom prst="rect">
            <a:avLst/>
          </a:prstGeom>
          <a:noFill/>
          <a:ln/>
        </p:spPr>
        <p:txBody>
          <a:bodyPr wrap="square" lIns="0" tIns="0" rIns="0" bIns="0" rtlCol="0" anchor="ctr"/>
          <a:lstStyle/>
          <a:p>
            <a:pPr indent="0" marL="0">
              <a:buNone/>
            </a:pPr>
            <a:r>
              <a:rPr lang="en-US" sz="1350" b="1" dirty="0">
                <a:solidFill>
                  <a:srgbClr val="141A2E"/>
                </a:solidFill>
                <a:latin typeface="Yu Gothic" pitchFamily="34" charset="0"/>
                <a:ea typeface="Yu Gothic" pitchFamily="34" charset="-122"/>
                <a:cs typeface="Yu Gothic" pitchFamily="34" charset="-120"/>
              </a:rPr>
              <a:t>A. AI可視性（GEO/LLMO）→ SaaS</a:t>
            </a:r>
            <a:endParaRPr lang="en-US" sz="1350" dirty="0"/>
          </a:p>
        </p:txBody>
      </p:sp>
      <p:sp>
        <p:nvSpPr>
          <p:cNvPr id="14" name="Text 12"/>
          <p:cNvSpPr/>
          <p:nvPr/>
        </p:nvSpPr>
        <p:spPr>
          <a:xfrm>
            <a:off x="5806440" y="2103120"/>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5</a:t>
            </a:r>
            <a:endParaRPr lang="en-US" sz="1400" dirty="0"/>
          </a:p>
        </p:txBody>
      </p:sp>
      <p:sp>
        <p:nvSpPr>
          <p:cNvPr id="15" name="Text 13"/>
          <p:cNvSpPr/>
          <p:nvPr/>
        </p:nvSpPr>
        <p:spPr>
          <a:xfrm>
            <a:off x="6739128" y="2103120"/>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4</a:t>
            </a:r>
            <a:endParaRPr lang="en-US" sz="1400" dirty="0"/>
          </a:p>
        </p:txBody>
      </p:sp>
      <p:sp>
        <p:nvSpPr>
          <p:cNvPr id="16" name="Text 14"/>
          <p:cNvSpPr/>
          <p:nvPr/>
        </p:nvSpPr>
        <p:spPr>
          <a:xfrm>
            <a:off x="7671816" y="2103120"/>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5</a:t>
            </a:r>
            <a:endParaRPr lang="en-US" sz="1400" dirty="0"/>
          </a:p>
        </p:txBody>
      </p:sp>
      <p:sp>
        <p:nvSpPr>
          <p:cNvPr id="17" name="Text 15"/>
          <p:cNvSpPr/>
          <p:nvPr/>
        </p:nvSpPr>
        <p:spPr>
          <a:xfrm>
            <a:off x="8604504" y="2103120"/>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5</a:t>
            </a:r>
            <a:endParaRPr lang="en-US" sz="1400" dirty="0"/>
          </a:p>
        </p:txBody>
      </p:sp>
      <p:sp>
        <p:nvSpPr>
          <p:cNvPr id="18" name="Text 16"/>
          <p:cNvSpPr/>
          <p:nvPr/>
        </p:nvSpPr>
        <p:spPr>
          <a:xfrm>
            <a:off x="9537192" y="2103120"/>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5</a:t>
            </a:r>
            <a:endParaRPr lang="en-US" sz="1400" dirty="0"/>
          </a:p>
        </p:txBody>
      </p:sp>
      <p:sp>
        <p:nvSpPr>
          <p:cNvPr id="19" name="Text 17"/>
          <p:cNvSpPr/>
          <p:nvPr/>
        </p:nvSpPr>
        <p:spPr>
          <a:xfrm>
            <a:off x="10469880" y="2103120"/>
            <a:ext cx="932688" cy="713232"/>
          </a:xfrm>
          <a:prstGeom prst="rect">
            <a:avLst/>
          </a:prstGeom>
          <a:noFill/>
          <a:ln/>
        </p:spPr>
        <p:txBody>
          <a:bodyPr wrap="square" lIns="0" tIns="0" rIns="0" bIns="0" rtlCol="0" anchor="ctr"/>
          <a:lstStyle/>
          <a:p>
            <a:pPr algn="ctr" indent="0" marL="0">
              <a:buNone/>
            </a:pPr>
            <a:r>
              <a:rPr lang="en-US" sz="1800" b="1" dirty="0">
                <a:solidFill>
                  <a:srgbClr val="9C6C1B"/>
                </a:solidFill>
                <a:latin typeface="Yu Gothic" pitchFamily="34" charset="0"/>
                <a:ea typeface="Yu Gothic" pitchFamily="34" charset="-122"/>
                <a:cs typeface="Yu Gothic" pitchFamily="34" charset="-120"/>
              </a:rPr>
              <a:t>24</a:t>
            </a:r>
            <a:endParaRPr lang="en-US" sz="1800" dirty="0"/>
          </a:p>
        </p:txBody>
      </p:sp>
      <p:sp>
        <p:nvSpPr>
          <p:cNvPr id="20" name="Shape 18"/>
          <p:cNvSpPr/>
          <p:nvPr/>
        </p:nvSpPr>
        <p:spPr>
          <a:xfrm>
            <a:off x="566928" y="2889504"/>
            <a:ext cx="11027664" cy="713232"/>
          </a:xfrm>
          <a:prstGeom prst="roundRect">
            <a:avLst>
              <a:gd name="adj" fmla="val 6410"/>
            </a:avLst>
          </a:prstGeom>
          <a:solidFill>
            <a:srgbClr val="F1F4F9"/>
          </a:solidFill>
          <a:ln/>
        </p:spPr>
      </p:sp>
      <p:sp>
        <p:nvSpPr>
          <p:cNvPr id="21" name="Text 19"/>
          <p:cNvSpPr/>
          <p:nvPr/>
        </p:nvSpPr>
        <p:spPr>
          <a:xfrm>
            <a:off x="877824" y="2889504"/>
            <a:ext cx="4937760" cy="713232"/>
          </a:xfrm>
          <a:prstGeom prst="rect">
            <a:avLst/>
          </a:prstGeom>
          <a:noFill/>
          <a:ln/>
        </p:spPr>
        <p:txBody>
          <a:bodyPr wrap="square" lIns="0" tIns="0" rIns="0" bIns="0" rtlCol="0" anchor="ctr"/>
          <a:lstStyle/>
          <a:p>
            <a:pPr indent="0" marL="0">
              <a:buNone/>
            </a:pPr>
            <a:r>
              <a:rPr lang="en-US" sz="1350" dirty="0">
                <a:solidFill>
                  <a:srgbClr val="242B3D"/>
                </a:solidFill>
                <a:latin typeface="Yu Gothic" pitchFamily="34" charset="0"/>
                <a:ea typeface="Yu Gothic" pitchFamily="34" charset="-122"/>
                <a:cs typeface="Yu Gothic" pitchFamily="34" charset="-120"/>
              </a:rPr>
              <a:t>B. バーティカル・マイクロSaaS</a:t>
            </a:r>
            <a:endParaRPr lang="en-US" sz="1350" dirty="0"/>
          </a:p>
        </p:txBody>
      </p:sp>
      <p:sp>
        <p:nvSpPr>
          <p:cNvPr id="22" name="Text 20"/>
          <p:cNvSpPr/>
          <p:nvPr/>
        </p:nvSpPr>
        <p:spPr>
          <a:xfrm>
            <a:off x="5806440" y="2889504"/>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5</a:t>
            </a:r>
            <a:endParaRPr lang="en-US" sz="1400" dirty="0"/>
          </a:p>
        </p:txBody>
      </p:sp>
      <p:sp>
        <p:nvSpPr>
          <p:cNvPr id="23" name="Text 21"/>
          <p:cNvSpPr/>
          <p:nvPr/>
        </p:nvSpPr>
        <p:spPr>
          <a:xfrm>
            <a:off x="6739128" y="2889504"/>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4</a:t>
            </a:r>
            <a:endParaRPr lang="en-US" sz="1400" dirty="0"/>
          </a:p>
        </p:txBody>
      </p:sp>
      <p:sp>
        <p:nvSpPr>
          <p:cNvPr id="24" name="Text 22"/>
          <p:cNvSpPr/>
          <p:nvPr/>
        </p:nvSpPr>
        <p:spPr>
          <a:xfrm>
            <a:off x="7671816" y="2889504"/>
            <a:ext cx="932688" cy="713232"/>
          </a:xfrm>
          <a:prstGeom prst="rect">
            <a:avLst/>
          </a:prstGeom>
          <a:noFill/>
          <a:ln/>
        </p:spPr>
        <p:txBody>
          <a:bodyPr wrap="square" lIns="0" tIns="0" rIns="0" bIns="0" rtlCol="0" anchor="ctr"/>
          <a:lstStyle/>
          <a:p>
            <a:pPr algn="ctr" indent="0" marL="0">
              <a:buNone/>
            </a:pPr>
            <a:r>
              <a:rPr lang="en-US" sz="1400" b="1" dirty="0">
                <a:solidFill>
                  <a:srgbClr val="9AA3B6"/>
                </a:solidFill>
                <a:latin typeface="Yu Gothic" pitchFamily="34" charset="0"/>
                <a:ea typeface="Yu Gothic" pitchFamily="34" charset="-122"/>
                <a:cs typeface="Yu Gothic" pitchFamily="34" charset="-120"/>
              </a:rPr>
              <a:t>2</a:t>
            </a:r>
            <a:endParaRPr lang="en-US" sz="1400" dirty="0"/>
          </a:p>
        </p:txBody>
      </p:sp>
      <p:sp>
        <p:nvSpPr>
          <p:cNvPr id="25" name="Text 23"/>
          <p:cNvSpPr/>
          <p:nvPr/>
        </p:nvSpPr>
        <p:spPr>
          <a:xfrm>
            <a:off x="8604504" y="2889504"/>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5</a:t>
            </a:r>
            <a:endParaRPr lang="en-US" sz="1400" dirty="0"/>
          </a:p>
        </p:txBody>
      </p:sp>
      <p:sp>
        <p:nvSpPr>
          <p:cNvPr id="26" name="Text 24"/>
          <p:cNvSpPr/>
          <p:nvPr/>
        </p:nvSpPr>
        <p:spPr>
          <a:xfrm>
            <a:off x="9537192" y="2889504"/>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4</a:t>
            </a:r>
            <a:endParaRPr lang="en-US" sz="1400" dirty="0"/>
          </a:p>
        </p:txBody>
      </p:sp>
      <p:sp>
        <p:nvSpPr>
          <p:cNvPr id="27" name="Text 25"/>
          <p:cNvSpPr/>
          <p:nvPr/>
        </p:nvSpPr>
        <p:spPr>
          <a:xfrm>
            <a:off x="10469880" y="2889504"/>
            <a:ext cx="932688" cy="713232"/>
          </a:xfrm>
          <a:prstGeom prst="rect">
            <a:avLst/>
          </a:prstGeom>
          <a:noFill/>
          <a:ln/>
        </p:spPr>
        <p:txBody>
          <a:bodyPr wrap="square" lIns="0" tIns="0" rIns="0" bIns="0" rtlCol="0" anchor="ctr"/>
          <a:lstStyle/>
          <a:p>
            <a:pPr algn="ctr" indent="0" marL="0">
              <a:buNone/>
            </a:pPr>
            <a:r>
              <a:rPr lang="en-US" sz="1800" b="1" dirty="0">
                <a:solidFill>
                  <a:srgbClr val="667088"/>
                </a:solidFill>
                <a:latin typeface="Yu Gothic" pitchFamily="34" charset="0"/>
                <a:ea typeface="Yu Gothic" pitchFamily="34" charset="-122"/>
                <a:cs typeface="Yu Gothic" pitchFamily="34" charset="-120"/>
              </a:rPr>
              <a:t>20</a:t>
            </a:r>
            <a:endParaRPr lang="en-US" sz="1800" dirty="0"/>
          </a:p>
        </p:txBody>
      </p:sp>
      <p:sp>
        <p:nvSpPr>
          <p:cNvPr id="28" name="Shape 26"/>
          <p:cNvSpPr/>
          <p:nvPr/>
        </p:nvSpPr>
        <p:spPr>
          <a:xfrm>
            <a:off x="566928" y="3675888"/>
            <a:ext cx="11027664" cy="713232"/>
          </a:xfrm>
          <a:prstGeom prst="roundRect">
            <a:avLst>
              <a:gd name="adj" fmla="val 6410"/>
            </a:avLst>
          </a:prstGeom>
          <a:solidFill>
            <a:srgbClr val="F1F4F9"/>
          </a:solidFill>
          <a:ln/>
        </p:spPr>
      </p:sp>
      <p:sp>
        <p:nvSpPr>
          <p:cNvPr id="29" name="Text 27"/>
          <p:cNvSpPr/>
          <p:nvPr/>
        </p:nvSpPr>
        <p:spPr>
          <a:xfrm>
            <a:off x="877824" y="3675888"/>
            <a:ext cx="4937760" cy="713232"/>
          </a:xfrm>
          <a:prstGeom prst="rect">
            <a:avLst/>
          </a:prstGeom>
          <a:noFill/>
          <a:ln/>
        </p:spPr>
        <p:txBody>
          <a:bodyPr wrap="square" lIns="0" tIns="0" rIns="0" bIns="0" rtlCol="0" anchor="ctr"/>
          <a:lstStyle/>
          <a:p>
            <a:pPr indent="0" marL="0">
              <a:buNone/>
            </a:pPr>
            <a:r>
              <a:rPr lang="en-US" sz="1350" dirty="0">
                <a:solidFill>
                  <a:srgbClr val="242B3D"/>
                </a:solidFill>
                <a:latin typeface="Yu Gothic" pitchFamily="34" charset="0"/>
                <a:ea typeface="Yu Gothic" pitchFamily="34" charset="-122"/>
                <a:cs typeface="Yu Gothic" pitchFamily="34" charset="-120"/>
              </a:rPr>
              <a:t>C. AI電話／チャット導入代行</a:t>
            </a:r>
            <a:endParaRPr lang="en-US" sz="1350" dirty="0"/>
          </a:p>
        </p:txBody>
      </p:sp>
      <p:sp>
        <p:nvSpPr>
          <p:cNvPr id="30" name="Text 28"/>
          <p:cNvSpPr/>
          <p:nvPr/>
        </p:nvSpPr>
        <p:spPr>
          <a:xfrm>
            <a:off x="5806440" y="3675888"/>
            <a:ext cx="932688" cy="713232"/>
          </a:xfrm>
          <a:prstGeom prst="rect">
            <a:avLst/>
          </a:prstGeom>
          <a:noFill/>
          <a:ln/>
        </p:spPr>
        <p:txBody>
          <a:bodyPr wrap="square" lIns="0" tIns="0" rIns="0" bIns="0" rtlCol="0" anchor="ctr"/>
          <a:lstStyle/>
          <a:p>
            <a:pPr algn="ctr" indent="0" marL="0">
              <a:buNone/>
            </a:pPr>
            <a:r>
              <a:rPr lang="en-US" sz="1400" b="1" dirty="0">
                <a:solidFill>
                  <a:srgbClr val="9AA3B6"/>
                </a:solidFill>
                <a:latin typeface="Yu Gothic" pitchFamily="34" charset="0"/>
                <a:ea typeface="Yu Gothic" pitchFamily="34" charset="-122"/>
                <a:cs typeface="Yu Gothic" pitchFamily="34" charset="-120"/>
              </a:rPr>
              <a:t>3</a:t>
            </a:r>
            <a:endParaRPr lang="en-US" sz="1400" dirty="0"/>
          </a:p>
        </p:txBody>
      </p:sp>
      <p:sp>
        <p:nvSpPr>
          <p:cNvPr id="31" name="Text 29"/>
          <p:cNvSpPr/>
          <p:nvPr/>
        </p:nvSpPr>
        <p:spPr>
          <a:xfrm>
            <a:off x="6739128" y="3675888"/>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4</a:t>
            </a:r>
            <a:endParaRPr lang="en-US" sz="1400" dirty="0"/>
          </a:p>
        </p:txBody>
      </p:sp>
      <p:sp>
        <p:nvSpPr>
          <p:cNvPr id="32" name="Text 30"/>
          <p:cNvSpPr/>
          <p:nvPr/>
        </p:nvSpPr>
        <p:spPr>
          <a:xfrm>
            <a:off x="7671816" y="3675888"/>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4</a:t>
            </a:r>
            <a:endParaRPr lang="en-US" sz="1400" dirty="0"/>
          </a:p>
        </p:txBody>
      </p:sp>
      <p:sp>
        <p:nvSpPr>
          <p:cNvPr id="33" name="Text 31"/>
          <p:cNvSpPr/>
          <p:nvPr/>
        </p:nvSpPr>
        <p:spPr>
          <a:xfrm>
            <a:off x="8604504" y="3675888"/>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5</a:t>
            </a:r>
            <a:endParaRPr lang="en-US" sz="1400" dirty="0"/>
          </a:p>
        </p:txBody>
      </p:sp>
      <p:sp>
        <p:nvSpPr>
          <p:cNvPr id="34" name="Text 32"/>
          <p:cNvSpPr/>
          <p:nvPr/>
        </p:nvSpPr>
        <p:spPr>
          <a:xfrm>
            <a:off x="9537192" y="3675888"/>
            <a:ext cx="932688" cy="713232"/>
          </a:xfrm>
          <a:prstGeom prst="rect">
            <a:avLst/>
          </a:prstGeom>
          <a:noFill/>
          <a:ln/>
        </p:spPr>
        <p:txBody>
          <a:bodyPr wrap="square" lIns="0" tIns="0" rIns="0" bIns="0" rtlCol="0" anchor="ctr"/>
          <a:lstStyle/>
          <a:p>
            <a:pPr algn="ctr" indent="0" marL="0">
              <a:buNone/>
            </a:pPr>
            <a:r>
              <a:rPr lang="en-US" sz="1400" b="1" dirty="0">
                <a:solidFill>
                  <a:srgbClr val="9AA3B6"/>
                </a:solidFill>
                <a:latin typeface="Yu Gothic" pitchFamily="34" charset="0"/>
                <a:ea typeface="Yu Gothic" pitchFamily="34" charset="-122"/>
                <a:cs typeface="Yu Gothic" pitchFamily="34" charset="-120"/>
              </a:rPr>
              <a:t>3</a:t>
            </a:r>
            <a:endParaRPr lang="en-US" sz="1400" dirty="0"/>
          </a:p>
        </p:txBody>
      </p:sp>
      <p:sp>
        <p:nvSpPr>
          <p:cNvPr id="35" name="Text 33"/>
          <p:cNvSpPr/>
          <p:nvPr/>
        </p:nvSpPr>
        <p:spPr>
          <a:xfrm>
            <a:off x="10469880" y="3675888"/>
            <a:ext cx="932688" cy="713232"/>
          </a:xfrm>
          <a:prstGeom prst="rect">
            <a:avLst/>
          </a:prstGeom>
          <a:noFill/>
          <a:ln/>
        </p:spPr>
        <p:txBody>
          <a:bodyPr wrap="square" lIns="0" tIns="0" rIns="0" bIns="0" rtlCol="0" anchor="ctr"/>
          <a:lstStyle/>
          <a:p>
            <a:pPr algn="ctr" indent="0" marL="0">
              <a:buNone/>
            </a:pPr>
            <a:r>
              <a:rPr lang="en-US" sz="1800" b="1" dirty="0">
                <a:solidFill>
                  <a:srgbClr val="667088"/>
                </a:solidFill>
                <a:latin typeface="Yu Gothic" pitchFamily="34" charset="0"/>
                <a:ea typeface="Yu Gothic" pitchFamily="34" charset="-122"/>
                <a:cs typeface="Yu Gothic" pitchFamily="34" charset="-120"/>
              </a:rPr>
              <a:t>19</a:t>
            </a:r>
            <a:endParaRPr lang="en-US" sz="1800" dirty="0"/>
          </a:p>
        </p:txBody>
      </p:sp>
      <p:sp>
        <p:nvSpPr>
          <p:cNvPr id="36" name="Shape 34"/>
          <p:cNvSpPr/>
          <p:nvPr/>
        </p:nvSpPr>
        <p:spPr>
          <a:xfrm>
            <a:off x="566928" y="4462272"/>
            <a:ext cx="11027664" cy="713232"/>
          </a:xfrm>
          <a:prstGeom prst="roundRect">
            <a:avLst>
              <a:gd name="adj" fmla="val 6410"/>
            </a:avLst>
          </a:prstGeom>
          <a:solidFill>
            <a:srgbClr val="F1F4F9"/>
          </a:solidFill>
          <a:ln/>
        </p:spPr>
      </p:sp>
      <p:sp>
        <p:nvSpPr>
          <p:cNvPr id="37" name="Text 35"/>
          <p:cNvSpPr/>
          <p:nvPr/>
        </p:nvSpPr>
        <p:spPr>
          <a:xfrm>
            <a:off x="877824" y="4462272"/>
            <a:ext cx="4937760" cy="713232"/>
          </a:xfrm>
          <a:prstGeom prst="rect">
            <a:avLst/>
          </a:prstGeom>
          <a:noFill/>
          <a:ln/>
        </p:spPr>
        <p:txBody>
          <a:bodyPr wrap="square" lIns="0" tIns="0" rIns="0" bIns="0" rtlCol="0" anchor="ctr"/>
          <a:lstStyle/>
          <a:p>
            <a:pPr indent="0" marL="0">
              <a:buNone/>
            </a:pPr>
            <a:r>
              <a:rPr lang="en-US" sz="1350" dirty="0">
                <a:solidFill>
                  <a:srgbClr val="242B3D"/>
                </a:solidFill>
                <a:latin typeface="Yu Gothic" pitchFamily="34" charset="0"/>
                <a:ea typeface="Yu Gothic" pitchFamily="34" charset="-122"/>
                <a:cs typeface="Yu Gothic" pitchFamily="34" charset="-120"/>
              </a:rPr>
              <a:t>E. AIショート動画・SNS運用代行</a:t>
            </a:r>
            <a:endParaRPr lang="en-US" sz="1350" dirty="0"/>
          </a:p>
        </p:txBody>
      </p:sp>
      <p:sp>
        <p:nvSpPr>
          <p:cNvPr id="38" name="Text 36"/>
          <p:cNvSpPr/>
          <p:nvPr/>
        </p:nvSpPr>
        <p:spPr>
          <a:xfrm>
            <a:off x="5806440" y="4462272"/>
            <a:ext cx="932688" cy="713232"/>
          </a:xfrm>
          <a:prstGeom prst="rect">
            <a:avLst/>
          </a:prstGeom>
          <a:noFill/>
          <a:ln/>
        </p:spPr>
        <p:txBody>
          <a:bodyPr wrap="square" lIns="0" tIns="0" rIns="0" bIns="0" rtlCol="0" anchor="ctr"/>
          <a:lstStyle/>
          <a:p>
            <a:pPr algn="ctr" indent="0" marL="0">
              <a:buNone/>
            </a:pPr>
            <a:r>
              <a:rPr lang="en-US" sz="1400" b="1" dirty="0">
                <a:solidFill>
                  <a:srgbClr val="9AA3B6"/>
                </a:solidFill>
                <a:latin typeface="Yu Gothic" pitchFamily="34" charset="0"/>
                <a:ea typeface="Yu Gothic" pitchFamily="34" charset="-122"/>
                <a:cs typeface="Yu Gothic" pitchFamily="34" charset="-120"/>
              </a:rPr>
              <a:t>2</a:t>
            </a:r>
            <a:endParaRPr lang="en-US" sz="1400" dirty="0"/>
          </a:p>
        </p:txBody>
      </p:sp>
      <p:sp>
        <p:nvSpPr>
          <p:cNvPr id="39" name="Text 37"/>
          <p:cNvSpPr/>
          <p:nvPr/>
        </p:nvSpPr>
        <p:spPr>
          <a:xfrm>
            <a:off x="6739128" y="4462272"/>
            <a:ext cx="932688" cy="713232"/>
          </a:xfrm>
          <a:prstGeom prst="rect">
            <a:avLst/>
          </a:prstGeom>
          <a:noFill/>
          <a:ln/>
        </p:spPr>
        <p:txBody>
          <a:bodyPr wrap="square" lIns="0" tIns="0" rIns="0" bIns="0" rtlCol="0" anchor="ctr"/>
          <a:lstStyle/>
          <a:p>
            <a:pPr algn="ctr" indent="0" marL="0">
              <a:buNone/>
            </a:pPr>
            <a:r>
              <a:rPr lang="en-US" sz="1400" b="1" dirty="0">
                <a:solidFill>
                  <a:srgbClr val="9AA3B6"/>
                </a:solidFill>
                <a:latin typeface="Yu Gothic" pitchFamily="34" charset="0"/>
                <a:ea typeface="Yu Gothic" pitchFamily="34" charset="-122"/>
                <a:cs typeface="Yu Gothic" pitchFamily="34" charset="-120"/>
              </a:rPr>
              <a:t>3</a:t>
            </a:r>
            <a:endParaRPr lang="en-US" sz="1400" dirty="0"/>
          </a:p>
        </p:txBody>
      </p:sp>
      <p:sp>
        <p:nvSpPr>
          <p:cNvPr id="40" name="Text 38"/>
          <p:cNvSpPr/>
          <p:nvPr/>
        </p:nvSpPr>
        <p:spPr>
          <a:xfrm>
            <a:off x="7671816" y="4462272"/>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4</a:t>
            </a:r>
            <a:endParaRPr lang="en-US" sz="1400" dirty="0"/>
          </a:p>
        </p:txBody>
      </p:sp>
      <p:sp>
        <p:nvSpPr>
          <p:cNvPr id="41" name="Text 39"/>
          <p:cNvSpPr/>
          <p:nvPr/>
        </p:nvSpPr>
        <p:spPr>
          <a:xfrm>
            <a:off x="8604504" y="4462272"/>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5</a:t>
            </a:r>
            <a:endParaRPr lang="en-US" sz="1400" dirty="0"/>
          </a:p>
        </p:txBody>
      </p:sp>
      <p:sp>
        <p:nvSpPr>
          <p:cNvPr id="42" name="Text 40"/>
          <p:cNvSpPr/>
          <p:nvPr/>
        </p:nvSpPr>
        <p:spPr>
          <a:xfrm>
            <a:off x="9537192" y="4462272"/>
            <a:ext cx="932688" cy="713232"/>
          </a:xfrm>
          <a:prstGeom prst="rect">
            <a:avLst/>
          </a:prstGeom>
          <a:noFill/>
          <a:ln/>
        </p:spPr>
        <p:txBody>
          <a:bodyPr wrap="square" lIns="0" tIns="0" rIns="0" bIns="0" rtlCol="0" anchor="ctr"/>
          <a:lstStyle/>
          <a:p>
            <a:pPr algn="ctr" indent="0" marL="0">
              <a:buNone/>
            </a:pPr>
            <a:r>
              <a:rPr lang="en-US" sz="1400" b="1" dirty="0">
                <a:solidFill>
                  <a:srgbClr val="9AA3B6"/>
                </a:solidFill>
                <a:latin typeface="Yu Gothic" pitchFamily="34" charset="0"/>
                <a:ea typeface="Yu Gothic" pitchFamily="34" charset="-122"/>
                <a:cs typeface="Yu Gothic" pitchFamily="34" charset="-120"/>
              </a:rPr>
              <a:t>3</a:t>
            </a:r>
            <a:endParaRPr lang="en-US" sz="1400" dirty="0"/>
          </a:p>
        </p:txBody>
      </p:sp>
      <p:sp>
        <p:nvSpPr>
          <p:cNvPr id="43" name="Text 41"/>
          <p:cNvSpPr/>
          <p:nvPr/>
        </p:nvSpPr>
        <p:spPr>
          <a:xfrm>
            <a:off x="10469880" y="4462272"/>
            <a:ext cx="932688" cy="713232"/>
          </a:xfrm>
          <a:prstGeom prst="rect">
            <a:avLst/>
          </a:prstGeom>
          <a:noFill/>
          <a:ln/>
        </p:spPr>
        <p:txBody>
          <a:bodyPr wrap="square" lIns="0" tIns="0" rIns="0" bIns="0" rtlCol="0" anchor="ctr"/>
          <a:lstStyle/>
          <a:p>
            <a:pPr algn="ctr" indent="0" marL="0">
              <a:buNone/>
            </a:pPr>
            <a:r>
              <a:rPr lang="en-US" sz="1800" b="1" dirty="0">
                <a:solidFill>
                  <a:srgbClr val="667088"/>
                </a:solidFill>
                <a:latin typeface="Yu Gothic" pitchFamily="34" charset="0"/>
                <a:ea typeface="Yu Gothic" pitchFamily="34" charset="-122"/>
                <a:cs typeface="Yu Gothic" pitchFamily="34" charset="-120"/>
              </a:rPr>
              <a:t>17</a:t>
            </a:r>
            <a:endParaRPr lang="en-US" sz="1800" dirty="0"/>
          </a:p>
        </p:txBody>
      </p:sp>
      <p:sp>
        <p:nvSpPr>
          <p:cNvPr id="44" name="Shape 42"/>
          <p:cNvSpPr/>
          <p:nvPr/>
        </p:nvSpPr>
        <p:spPr>
          <a:xfrm>
            <a:off x="566928" y="5248656"/>
            <a:ext cx="11027664" cy="713232"/>
          </a:xfrm>
          <a:prstGeom prst="roundRect">
            <a:avLst>
              <a:gd name="adj" fmla="val 6410"/>
            </a:avLst>
          </a:prstGeom>
          <a:solidFill>
            <a:srgbClr val="F1F4F9"/>
          </a:solidFill>
          <a:ln/>
        </p:spPr>
      </p:sp>
      <p:sp>
        <p:nvSpPr>
          <p:cNvPr id="45" name="Text 43"/>
          <p:cNvSpPr/>
          <p:nvPr/>
        </p:nvSpPr>
        <p:spPr>
          <a:xfrm>
            <a:off x="877824" y="5248656"/>
            <a:ext cx="4937760" cy="713232"/>
          </a:xfrm>
          <a:prstGeom prst="rect">
            <a:avLst/>
          </a:prstGeom>
          <a:noFill/>
          <a:ln/>
        </p:spPr>
        <p:txBody>
          <a:bodyPr wrap="square" lIns="0" tIns="0" rIns="0" bIns="0" rtlCol="0" anchor="ctr"/>
          <a:lstStyle/>
          <a:p>
            <a:pPr indent="0" marL="0">
              <a:buNone/>
            </a:pPr>
            <a:r>
              <a:rPr lang="en-US" sz="1350" dirty="0">
                <a:solidFill>
                  <a:srgbClr val="242B3D"/>
                </a:solidFill>
                <a:latin typeface="Yu Gothic" pitchFamily="34" charset="0"/>
                <a:ea typeface="Yu Gothic" pitchFamily="34" charset="-122"/>
                <a:cs typeface="Yu Gothic" pitchFamily="34" charset="-120"/>
              </a:rPr>
              <a:t>D. AIコンテンツメディア</a:t>
            </a:r>
            <a:endParaRPr lang="en-US" sz="1350" dirty="0"/>
          </a:p>
        </p:txBody>
      </p:sp>
      <p:sp>
        <p:nvSpPr>
          <p:cNvPr id="46" name="Text 44"/>
          <p:cNvSpPr/>
          <p:nvPr/>
        </p:nvSpPr>
        <p:spPr>
          <a:xfrm>
            <a:off x="5806440" y="5248656"/>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4</a:t>
            </a:r>
            <a:endParaRPr lang="en-US" sz="1400" dirty="0"/>
          </a:p>
        </p:txBody>
      </p:sp>
      <p:sp>
        <p:nvSpPr>
          <p:cNvPr id="47" name="Text 45"/>
          <p:cNvSpPr/>
          <p:nvPr/>
        </p:nvSpPr>
        <p:spPr>
          <a:xfrm>
            <a:off x="6739128" y="5248656"/>
            <a:ext cx="932688" cy="713232"/>
          </a:xfrm>
          <a:prstGeom prst="rect">
            <a:avLst/>
          </a:prstGeom>
          <a:noFill/>
          <a:ln/>
        </p:spPr>
        <p:txBody>
          <a:bodyPr wrap="square" lIns="0" tIns="0" rIns="0" bIns="0" rtlCol="0" anchor="ctr"/>
          <a:lstStyle/>
          <a:p>
            <a:pPr algn="ctr" indent="0" marL="0">
              <a:buNone/>
            </a:pPr>
            <a:r>
              <a:rPr lang="en-US" sz="1400" b="1" dirty="0">
                <a:solidFill>
                  <a:srgbClr val="9AA3B6"/>
                </a:solidFill>
                <a:latin typeface="Yu Gothic" pitchFamily="34" charset="0"/>
                <a:ea typeface="Yu Gothic" pitchFamily="34" charset="-122"/>
                <a:cs typeface="Yu Gothic" pitchFamily="34" charset="-120"/>
              </a:rPr>
              <a:t>3</a:t>
            </a:r>
            <a:endParaRPr lang="en-US" sz="1400" dirty="0"/>
          </a:p>
        </p:txBody>
      </p:sp>
      <p:sp>
        <p:nvSpPr>
          <p:cNvPr id="48" name="Text 46"/>
          <p:cNvSpPr/>
          <p:nvPr/>
        </p:nvSpPr>
        <p:spPr>
          <a:xfrm>
            <a:off x="7671816" y="5248656"/>
            <a:ext cx="932688" cy="713232"/>
          </a:xfrm>
          <a:prstGeom prst="rect">
            <a:avLst/>
          </a:prstGeom>
          <a:noFill/>
          <a:ln/>
        </p:spPr>
        <p:txBody>
          <a:bodyPr wrap="square" lIns="0" tIns="0" rIns="0" bIns="0" rtlCol="0" anchor="ctr"/>
          <a:lstStyle/>
          <a:p>
            <a:pPr algn="ctr" indent="0" marL="0">
              <a:buNone/>
            </a:pPr>
            <a:r>
              <a:rPr lang="en-US" sz="1400" b="1" dirty="0">
                <a:solidFill>
                  <a:srgbClr val="9AA3B6"/>
                </a:solidFill>
                <a:latin typeface="Yu Gothic" pitchFamily="34" charset="0"/>
                <a:ea typeface="Yu Gothic" pitchFamily="34" charset="-122"/>
                <a:cs typeface="Yu Gothic" pitchFamily="34" charset="-120"/>
              </a:rPr>
              <a:t>1</a:t>
            </a:r>
            <a:endParaRPr lang="en-US" sz="1400" dirty="0"/>
          </a:p>
        </p:txBody>
      </p:sp>
      <p:sp>
        <p:nvSpPr>
          <p:cNvPr id="49" name="Text 47"/>
          <p:cNvSpPr/>
          <p:nvPr/>
        </p:nvSpPr>
        <p:spPr>
          <a:xfrm>
            <a:off x="8604504" y="5248656"/>
            <a:ext cx="932688" cy="713232"/>
          </a:xfrm>
          <a:prstGeom prst="rect">
            <a:avLst/>
          </a:prstGeom>
          <a:noFill/>
          <a:ln/>
        </p:spPr>
        <p:txBody>
          <a:bodyPr wrap="square" lIns="0" tIns="0" rIns="0" bIns="0" rtlCol="0" anchor="ctr"/>
          <a:lstStyle/>
          <a:p>
            <a:pPr algn="ctr" indent="0" marL="0">
              <a:buNone/>
            </a:pPr>
            <a:r>
              <a:rPr lang="en-US" sz="1400" b="1" dirty="0">
                <a:solidFill>
                  <a:srgbClr val="141A2E"/>
                </a:solidFill>
                <a:latin typeface="Yu Gothic" pitchFamily="34" charset="0"/>
                <a:ea typeface="Yu Gothic" pitchFamily="34" charset="-122"/>
                <a:cs typeface="Yu Gothic" pitchFamily="34" charset="-120"/>
              </a:rPr>
              <a:t>5</a:t>
            </a:r>
            <a:endParaRPr lang="en-US" sz="1400" dirty="0"/>
          </a:p>
        </p:txBody>
      </p:sp>
      <p:sp>
        <p:nvSpPr>
          <p:cNvPr id="50" name="Text 48"/>
          <p:cNvSpPr/>
          <p:nvPr/>
        </p:nvSpPr>
        <p:spPr>
          <a:xfrm>
            <a:off x="9537192" y="5248656"/>
            <a:ext cx="932688" cy="713232"/>
          </a:xfrm>
          <a:prstGeom prst="rect">
            <a:avLst/>
          </a:prstGeom>
          <a:noFill/>
          <a:ln/>
        </p:spPr>
        <p:txBody>
          <a:bodyPr wrap="square" lIns="0" tIns="0" rIns="0" bIns="0" rtlCol="0" anchor="ctr"/>
          <a:lstStyle/>
          <a:p>
            <a:pPr algn="ctr" indent="0" marL="0">
              <a:buNone/>
            </a:pPr>
            <a:r>
              <a:rPr lang="en-US" sz="1400" b="1" dirty="0">
                <a:solidFill>
                  <a:srgbClr val="9AA3B6"/>
                </a:solidFill>
                <a:latin typeface="Yu Gothic" pitchFamily="34" charset="0"/>
                <a:ea typeface="Yu Gothic" pitchFamily="34" charset="-122"/>
                <a:cs typeface="Yu Gothic" pitchFamily="34" charset="-120"/>
              </a:rPr>
              <a:t>2</a:t>
            </a:r>
            <a:endParaRPr lang="en-US" sz="1400" dirty="0"/>
          </a:p>
        </p:txBody>
      </p:sp>
      <p:sp>
        <p:nvSpPr>
          <p:cNvPr id="51" name="Text 49"/>
          <p:cNvSpPr/>
          <p:nvPr/>
        </p:nvSpPr>
        <p:spPr>
          <a:xfrm>
            <a:off x="10469880" y="5248656"/>
            <a:ext cx="932688" cy="713232"/>
          </a:xfrm>
          <a:prstGeom prst="rect">
            <a:avLst/>
          </a:prstGeom>
          <a:noFill/>
          <a:ln/>
        </p:spPr>
        <p:txBody>
          <a:bodyPr wrap="square" lIns="0" tIns="0" rIns="0" bIns="0" rtlCol="0" anchor="ctr"/>
          <a:lstStyle/>
          <a:p>
            <a:pPr algn="ctr" indent="0" marL="0">
              <a:buNone/>
            </a:pPr>
            <a:r>
              <a:rPr lang="en-US" sz="1800" b="1" dirty="0">
                <a:solidFill>
                  <a:srgbClr val="667088"/>
                </a:solidFill>
                <a:latin typeface="Yu Gothic" pitchFamily="34" charset="0"/>
                <a:ea typeface="Yu Gothic" pitchFamily="34" charset="-122"/>
                <a:cs typeface="Yu Gothic" pitchFamily="34" charset="-120"/>
              </a:rPr>
              <a:t>15</a:t>
            </a:r>
            <a:endParaRPr lang="en-US" sz="1800" dirty="0"/>
          </a:p>
        </p:txBody>
      </p:sp>
      <p:sp>
        <p:nvSpPr>
          <p:cNvPr id="52" name="Text 50"/>
          <p:cNvSpPr/>
          <p:nvPr/>
        </p:nvSpPr>
        <p:spPr>
          <a:xfrm>
            <a:off x="566928" y="6108192"/>
            <a:ext cx="10881360" cy="384048"/>
          </a:xfrm>
          <a:prstGeom prst="rect">
            <a:avLst/>
          </a:prstGeom>
          <a:noFill/>
          <a:ln/>
        </p:spPr>
        <p:txBody>
          <a:bodyPr wrap="square" lIns="0" tIns="0" rIns="0" bIns="0" rtlCol="0" anchor="ctr"/>
          <a:lstStyle/>
          <a:p>
            <a:pPr indent="0" marL="0">
              <a:buNone/>
            </a:pPr>
            <a:r>
              <a:rPr lang="en-US" sz="1200" dirty="0">
                <a:solidFill>
                  <a:srgbClr val="667088"/>
                </a:solidFill>
                <a:latin typeface="Yu Gothic" pitchFamily="34" charset="0"/>
                <a:ea typeface="Yu Gothic" pitchFamily="34" charset="-122"/>
                <a:cs typeface="Yu Gothic" pitchFamily="34" charset="-120"/>
              </a:rPr>
              <a:t>D（AIメディア）はゼロクリック60%で殴られている側、E（動画代行）は編集が人手に残り無人化できないため除外。B・Cは本案に吸収する。</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A2E"/>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6</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A9BEE3"/>
                </a:solidFill>
                <a:latin typeface="Yu Gothic" pitchFamily="34" charset="0"/>
                <a:ea typeface="Yu Gothic" pitchFamily="34" charset="-122"/>
                <a:cs typeface="Yu Gothic" pitchFamily="34" charset="-120"/>
              </a:rPr>
              <a:t>WHY A</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Aを選ぶ決め手は3つ</a:t>
            </a:r>
            <a:endParaRPr lang="en-US" sz="3200" dirty="0"/>
          </a:p>
        </p:txBody>
      </p:sp>
      <p:sp>
        <p:nvSpPr>
          <p:cNvPr id="6" name="Shape 4"/>
          <p:cNvSpPr/>
          <p:nvPr/>
        </p:nvSpPr>
        <p:spPr>
          <a:xfrm>
            <a:off x="566928" y="1920240"/>
            <a:ext cx="512064" cy="512064"/>
          </a:xfrm>
          <a:prstGeom prst="ellipse">
            <a:avLst/>
          </a:prstGeom>
          <a:solidFill>
            <a:srgbClr val="E0A03A"/>
          </a:solidFill>
          <a:ln/>
        </p:spPr>
      </p:sp>
      <p:sp>
        <p:nvSpPr>
          <p:cNvPr id="7" name="Text 5"/>
          <p:cNvSpPr/>
          <p:nvPr/>
        </p:nvSpPr>
        <p:spPr>
          <a:xfrm>
            <a:off x="566928" y="1920240"/>
            <a:ext cx="512064" cy="512064"/>
          </a:xfrm>
          <a:prstGeom prst="rect">
            <a:avLst/>
          </a:prstGeom>
          <a:noFill/>
          <a:ln/>
        </p:spPr>
        <p:txBody>
          <a:bodyPr wrap="square" lIns="0" tIns="0" rIns="0" bIns="0" rtlCol="0" anchor="ctr"/>
          <a:lstStyle/>
          <a:p>
            <a:pPr algn="ctr" indent="0" marL="0">
              <a:buNone/>
            </a:pPr>
            <a:r>
              <a:rPr lang="en-US" sz="1500" b="1" dirty="0">
                <a:solidFill>
                  <a:srgbClr val="141A2E"/>
                </a:solidFill>
                <a:latin typeface="Yu Gothic" pitchFamily="34" charset="0"/>
                <a:ea typeface="Yu Gothic" pitchFamily="34" charset="-122"/>
                <a:cs typeface="Yu Gothic" pitchFamily="34" charset="-120"/>
              </a:rPr>
              <a:t>01</a:t>
            </a:r>
            <a:endParaRPr lang="en-US" sz="1500" dirty="0"/>
          </a:p>
        </p:txBody>
      </p:sp>
      <p:sp>
        <p:nvSpPr>
          <p:cNvPr id="8" name="Text 6"/>
          <p:cNvSpPr/>
          <p:nvPr/>
        </p:nvSpPr>
        <p:spPr>
          <a:xfrm>
            <a:off x="1353312" y="1847088"/>
            <a:ext cx="10058400" cy="420624"/>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商材そのものが営業ツールを兼ねる</a:t>
            </a:r>
            <a:endParaRPr lang="en-US" sz="2000" dirty="0"/>
          </a:p>
        </p:txBody>
      </p:sp>
      <p:sp>
        <p:nvSpPr>
          <p:cNvPr id="9" name="Text 7"/>
          <p:cNvSpPr/>
          <p:nvPr/>
        </p:nvSpPr>
        <p:spPr>
          <a:xfrm>
            <a:off x="1353312" y="2322576"/>
            <a:ext cx="10058400" cy="658368"/>
          </a:xfrm>
          <a:prstGeom prst="rect">
            <a:avLst/>
          </a:prstGeom>
          <a:noFill/>
          <a:ln/>
        </p:spPr>
        <p:txBody>
          <a:bodyPr wrap="square" lIns="0" tIns="0" rIns="0" bIns="0" rtlCol="0" anchor="ctr"/>
          <a:lstStyle/>
          <a:p>
            <a:pPr indent="0" marL="0">
              <a:lnSpc>
                <a:spcPts val="2300"/>
              </a:lnSpc>
              <a:buNone/>
            </a:pPr>
            <a:r>
              <a:rPr lang="en-US" sz="1350" dirty="0">
                <a:solidFill>
                  <a:srgbClr val="A9BEE3"/>
                </a:solidFill>
                <a:latin typeface="Yu Gothic" pitchFamily="34" charset="0"/>
                <a:ea typeface="Yu Gothic" pitchFamily="34" charset="-122"/>
                <a:cs typeface="Yu Gothic" pitchFamily="34" charset="-120"/>
              </a:rPr>
              <a:t>無料診断レポートを自動生成して送るだけで商談が立つ。広告費ゼロ、制作待ちゼロ。5案の中でこれができるのはAだけ。</a:t>
            </a:r>
            <a:endParaRPr lang="en-US" sz="1350" dirty="0"/>
          </a:p>
        </p:txBody>
      </p:sp>
      <p:sp>
        <p:nvSpPr>
          <p:cNvPr id="10" name="Shape 8"/>
          <p:cNvSpPr/>
          <p:nvPr/>
        </p:nvSpPr>
        <p:spPr>
          <a:xfrm>
            <a:off x="566928" y="3310128"/>
            <a:ext cx="512064" cy="512064"/>
          </a:xfrm>
          <a:prstGeom prst="ellipse">
            <a:avLst/>
          </a:prstGeom>
          <a:solidFill>
            <a:srgbClr val="E0A03A"/>
          </a:solidFill>
          <a:ln/>
        </p:spPr>
      </p:sp>
      <p:sp>
        <p:nvSpPr>
          <p:cNvPr id="11" name="Text 9"/>
          <p:cNvSpPr/>
          <p:nvPr/>
        </p:nvSpPr>
        <p:spPr>
          <a:xfrm>
            <a:off x="566928" y="3310128"/>
            <a:ext cx="512064" cy="512064"/>
          </a:xfrm>
          <a:prstGeom prst="rect">
            <a:avLst/>
          </a:prstGeom>
          <a:noFill/>
          <a:ln/>
        </p:spPr>
        <p:txBody>
          <a:bodyPr wrap="square" lIns="0" tIns="0" rIns="0" bIns="0" rtlCol="0" anchor="ctr"/>
          <a:lstStyle/>
          <a:p>
            <a:pPr algn="ctr" indent="0" marL="0">
              <a:buNone/>
            </a:pPr>
            <a:r>
              <a:rPr lang="en-US" sz="1500" b="1" dirty="0">
                <a:solidFill>
                  <a:srgbClr val="141A2E"/>
                </a:solidFill>
                <a:latin typeface="Yu Gothic" pitchFamily="34" charset="0"/>
                <a:ea typeface="Yu Gothic" pitchFamily="34" charset="-122"/>
                <a:cs typeface="Yu Gothic" pitchFamily="34" charset="-120"/>
              </a:rPr>
              <a:t>02</a:t>
            </a:r>
            <a:endParaRPr lang="en-US" sz="1500" dirty="0"/>
          </a:p>
        </p:txBody>
      </p:sp>
      <p:sp>
        <p:nvSpPr>
          <p:cNvPr id="12" name="Text 10"/>
          <p:cNvSpPr/>
          <p:nvPr/>
        </p:nvSpPr>
        <p:spPr>
          <a:xfrm>
            <a:off x="1353312" y="3236976"/>
            <a:ext cx="10058400" cy="420624"/>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納品物がデータとテキストしかない</a:t>
            </a:r>
            <a:endParaRPr lang="en-US" sz="2000" dirty="0"/>
          </a:p>
        </p:txBody>
      </p:sp>
      <p:sp>
        <p:nvSpPr>
          <p:cNvPr id="13" name="Text 11"/>
          <p:cNvSpPr/>
          <p:nvPr/>
        </p:nvSpPr>
        <p:spPr>
          <a:xfrm>
            <a:off x="1353312" y="3712464"/>
            <a:ext cx="10058400" cy="658368"/>
          </a:xfrm>
          <a:prstGeom prst="rect">
            <a:avLst/>
          </a:prstGeom>
          <a:noFill/>
          <a:ln/>
        </p:spPr>
        <p:txBody>
          <a:bodyPr wrap="square" lIns="0" tIns="0" rIns="0" bIns="0" rtlCol="0" anchor="ctr"/>
          <a:lstStyle/>
          <a:p>
            <a:pPr indent="0" marL="0">
              <a:lnSpc>
                <a:spcPts val="2300"/>
              </a:lnSpc>
              <a:buNone/>
            </a:pPr>
            <a:r>
              <a:rPr lang="en-US" sz="1350" dirty="0">
                <a:solidFill>
                  <a:srgbClr val="A9BEE3"/>
                </a:solidFill>
                <a:latin typeface="Yu Gothic" pitchFamily="34" charset="0"/>
                <a:ea typeface="Yu Gothic" pitchFamily="34" charset="-122"/>
                <a:cs typeface="Yu Gothic" pitchFamily="34" charset="-120"/>
              </a:rPr>
              <a:t>だから納品工程の100%をLLMで自動化できる。動画も在庫も撮影も発生しない。従業員不在の前提条件を唯一満たす。</a:t>
            </a:r>
            <a:endParaRPr lang="en-US" sz="1350" dirty="0"/>
          </a:p>
        </p:txBody>
      </p:sp>
      <p:sp>
        <p:nvSpPr>
          <p:cNvPr id="14" name="Shape 12"/>
          <p:cNvSpPr/>
          <p:nvPr/>
        </p:nvSpPr>
        <p:spPr>
          <a:xfrm>
            <a:off x="566928" y="4700016"/>
            <a:ext cx="512064" cy="512064"/>
          </a:xfrm>
          <a:prstGeom prst="ellipse">
            <a:avLst/>
          </a:prstGeom>
          <a:solidFill>
            <a:srgbClr val="E0A03A"/>
          </a:solidFill>
          <a:ln/>
        </p:spPr>
      </p:sp>
      <p:sp>
        <p:nvSpPr>
          <p:cNvPr id="15" name="Text 13"/>
          <p:cNvSpPr/>
          <p:nvPr/>
        </p:nvSpPr>
        <p:spPr>
          <a:xfrm>
            <a:off x="566928" y="4700016"/>
            <a:ext cx="512064" cy="512064"/>
          </a:xfrm>
          <a:prstGeom prst="rect">
            <a:avLst/>
          </a:prstGeom>
          <a:noFill/>
          <a:ln/>
        </p:spPr>
        <p:txBody>
          <a:bodyPr wrap="square" lIns="0" tIns="0" rIns="0" bIns="0" rtlCol="0" anchor="ctr"/>
          <a:lstStyle/>
          <a:p>
            <a:pPr algn="ctr" indent="0" marL="0">
              <a:buNone/>
            </a:pPr>
            <a:r>
              <a:rPr lang="en-US" sz="1500" b="1" dirty="0">
                <a:solidFill>
                  <a:srgbClr val="141A2E"/>
                </a:solidFill>
                <a:latin typeface="Yu Gothic" pitchFamily="34" charset="0"/>
                <a:ea typeface="Yu Gothic" pitchFamily="34" charset="-122"/>
                <a:cs typeface="Yu Gothic" pitchFamily="34" charset="-120"/>
              </a:rPr>
              <a:t>03</a:t>
            </a:r>
            <a:endParaRPr lang="en-US" sz="1500" dirty="0"/>
          </a:p>
        </p:txBody>
      </p:sp>
      <p:sp>
        <p:nvSpPr>
          <p:cNvPr id="16" name="Text 14"/>
          <p:cNvSpPr/>
          <p:nvPr/>
        </p:nvSpPr>
        <p:spPr>
          <a:xfrm>
            <a:off x="1353312" y="4626864"/>
            <a:ext cx="10058400" cy="420624"/>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顧客の痛みが「今」発生している</a:t>
            </a:r>
            <a:endParaRPr lang="en-US" sz="2000" dirty="0"/>
          </a:p>
        </p:txBody>
      </p:sp>
      <p:sp>
        <p:nvSpPr>
          <p:cNvPr id="17" name="Text 15"/>
          <p:cNvSpPr/>
          <p:nvPr/>
        </p:nvSpPr>
        <p:spPr>
          <a:xfrm>
            <a:off x="1353312" y="5102352"/>
            <a:ext cx="10058400" cy="658368"/>
          </a:xfrm>
          <a:prstGeom prst="rect">
            <a:avLst/>
          </a:prstGeom>
          <a:noFill/>
          <a:ln/>
        </p:spPr>
        <p:txBody>
          <a:bodyPr wrap="square" lIns="0" tIns="0" rIns="0" bIns="0" rtlCol="0" anchor="ctr"/>
          <a:lstStyle/>
          <a:p>
            <a:pPr indent="0" marL="0">
              <a:lnSpc>
                <a:spcPts val="2300"/>
              </a:lnSpc>
              <a:buNone/>
            </a:pPr>
            <a:r>
              <a:rPr lang="en-US" sz="1350" dirty="0">
                <a:solidFill>
                  <a:srgbClr val="A9BEE3"/>
                </a:solidFill>
                <a:latin typeface="Yu Gothic" pitchFamily="34" charset="0"/>
                <a:ea typeface="Yu Gothic" pitchFamily="34" charset="-122"/>
                <a:cs typeface="Yu Gothic" pitchFamily="34" charset="-120"/>
              </a:rPr>
              <a:t>ゼロクリック60%は既に起きた事実。将来の課題を啓蒙する必要がなく、既に困っている相手に売れる。</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7</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TARGET</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誰に売るか — まず士業1業種に絞る</a:t>
            </a:r>
            <a:endParaRPr lang="en-US" sz="3200" dirty="0"/>
          </a:p>
        </p:txBody>
      </p:sp>
      <p:sp>
        <p:nvSpPr>
          <p:cNvPr id="6" name="Shape 4"/>
          <p:cNvSpPr/>
          <p:nvPr/>
        </p:nvSpPr>
        <p:spPr>
          <a:xfrm>
            <a:off x="566928" y="1783080"/>
            <a:ext cx="5394960" cy="2148840"/>
          </a:xfrm>
          <a:prstGeom prst="roundRect">
            <a:avLst>
              <a:gd name="adj" fmla="val 2553"/>
            </a:avLst>
          </a:prstGeom>
          <a:solidFill>
            <a:srgbClr val="F1F4F9"/>
          </a:solidFill>
          <a:ln/>
          <a:effectLst>
            <a:outerShdw sx="100000" sy="100000" kx="0" ky="0" algn="bl" rotWithShape="0" blurRad="152400" dist="25400" dir="5400000">
              <a:srgbClr val="9AA6BE">
                <a:alpha val="28000"/>
              </a:srgbClr>
            </a:outerShdw>
          </a:effectLst>
        </p:spPr>
      </p:sp>
      <p:sp>
        <p:nvSpPr>
          <p:cNvPr id="7" name="Shape 5"/>
          <p:cNvSpPr/>
          <p:nvPr/>
        </p:nvSpPr>
        <p:spPr>
          <a:xfrm>
            <a:off x="859536" y="2011680"/>
            <a:ext cx="786384" cy="274320"/>
          </a:xfrm>
          <a:prstGeom prst="roundRect">
            <a:avLst>
              <a:gd name="adj" fmla="val 13333"/>
            </a:avLst>
          </a:prstGeom>
          <a:solidFill>
            <a:srgbClr val="E0A03A"/>
          </a:solidFill>
          <a:ln/>
        </p:spPr>
      </p:sp>
      <p:sp>
        <p:nvSpPr>
          <p:cNvPr id="8" name="Text 6"/>
          <p:cNvSpPr/>
          <p:nvPr/>
        </p:nvSpPr>
        <p:spPr>
          <a:xfrm>
            <a:off x="859536" y="2011680"/>
            <a:ext cx="786384" cy="274320"/>
          </a:xfrm>
          <a:prstGeom prst="rect">
            <a:avLst/>
          </a:prstGeom>
          <a:noFill/>
          <a:ln/>
        </p:spPr>
        <p:txBody>
          <a:bodyPr wrap="square" lIns="0" tIns="0" rIns="0" bIns="0" rtlCol="0" anchor="ctr"/>
          <a:lstStyle/>
          <a:p>
            <a:pPr algn="ctr" indent="0" marL="0">
              <a:buNone/>
            </a:pPr>
            <a:r>
              <a:rPr lang="en-US" sz="1050" b="1" dirty="0">
                <a:solidFill>
                  <a:srgbClr val="141A2E"/>
                </a:solidFill>
                <a:latin typeface="Yu Gothic" pitchFamily="34" charset="0"/>
                <a:ea typeface="Yu Gothic" pitchFamily="34" charset="-122"/>
                <a:cs typeface="Yu Gothic" pitchFamily="34" charset="-120"/>
              </a:rPr>
              <a:t>1st</a:t>
            </a:r>
            <a:endParaRPr lang="en-US" sz="1050" dirty="0"/>
          </a:p>
        </p:txBody>
      </p:sp>
      <p:sp>
        <p:nvSpPr>
          <p:cNvPr id="9" name="Text 7"/>
          <p:cNvSpPr/>
          <p:nvPr/>
        </p:nvSpPr>
        <p:spPr>
          <a:xfrm>
            <a:off x="859536" y="2377440"/>
            <a:ext cx="4809744" cy="420624"/>
          </a:xfrm>
          <a:prstGeom prst="rect">
            <a:avLst/>
          </a:prstGeom>
          <a:noFill/>
          <a:ln/>
        </p:spPr>
        <p:txBody>
          <a:bodyPr wrap="square" lIns="0" tIns="0" rIns="0" bIns="0" rtlCol="0" anchor="ctr"/>
          <a:lstStyle/>
          <a:p>
            <a:pPr indent="0" marL="0">
              <a:buNone/>
            </a:pPr>
            <a:r>
              <a:rPr lang="en-US" sz="2200" b="1" dirty="0">
                <a:solidFill>
                  <a:srgbClr val="141A2E"/>
                </a:solidFill>
                <a:latin typeface="Yu Gothic" pitchFamily="34" charset="0"/>
                <a:ea typeface="Yu Gothic" pitchFamily="34" charset="-122"/>
                <a:cs typeface="Yu Gothic" pitchFamily="34" charset="-120"/>
              </a:rPr>
              <a:t>士業</a:t>
            </a:r>
            <a:endParaRPr lang="en-US" sz="2200" dirty="0"/>
          </a:p>
        </p:txBody>
      </p:sp>
      <p:sp>
        <p:nvSpPr>
          <p:cNvPr id="10" name="Text 8"/>
          <p:cNvSpPr/>
          <p:nvPr/>
        </p:nvSpPr>
        <p:spPr>
          <a:xfrm>
            <a:off x="859536" y="2798064"/>
            <a:ext cx="4809744" cy="274320"/>
          </a:xfrm>
          <a:prstGeom prst="rect">
            <a:avLst/>
          </a:prstGeom>
          <a:noFill/>
          <a:ln/>
        </p:spPr>
        <p:txBody>
          <a:bodyPr wrap="square" lIns="0" tIns="0" rIns="0" bIns="0" rtlCol="0" anchor="ctr"/>
          <a:lstStyle/>
          <a:p>
            <a:pPr indent="0" marL="0">
              <a:buNone/>
            </a:pPr>
            <a:r>
              <a:rPr lang="en-US" sz="1200" b="1" dirty="0">
                <a:solidFill>
                  <a:srgbClr val="9C6C1B"/>
                </a:solidFill>
                <a:latin typeface="Yu Gothic" pitchFamily="34" charset="0"/>
                <a:ea typeface="Yu Gothic" pitchFamily="34" charset="-122"/>
                <a:cs typeface="Yu Gothic" pitchFamily="34" charset="-120"/>
              </a:rPr>
              <a:t>税理士・社労士・行政書士</a:t>
            </a:r>
            <a:endParaRPr lang="en-US" sz="1200" dirty="0"/>
          </a:p>
        </p:txBody>
      </p:sp>
      <p:sp>
        <p:nvSpPr>
          <p:cNvPr id="11" name="Text 9"/>
          <p:cNvSpPr/>
          <p:nvPr/>
        </p:nvSpPr>
        <p:spPr>
          <a:xfrm>
            <a:off x="859536" y="3108960"/>
            <a:ext cx="4809744" cy="731520"/>
          </a:xfrm>
          <a:prstGeom prst="rect">
            <a:avLst/>
          </a:prstGeom>
          <a:noFill/>
          <a:ln/>
        </p:spPr>
        <p:txBody>
          <a:bodyPr wrap="square" lIns="0" tIns="0" rIns="0" bIns="0" rtlCol="0" anchor="ctr"/>
          <a:lstStyle/>
          <a:p>
            <a:pPr indent="0" marL="0">
              <a:lnSpc>
                <a:spcPts val="1900"/>
              </a:lnSpc>
              <a:buNone/>
            </a:pPr>
            <a:r>
              <a:rPr lang="en-US" sz="1200" dirty="0">
                <a:solidFill>
                  <a:srgbClr val="242B3D"/>
                </a:solidFill>
                <a:latin typeface="Yu Gothic" pitchFamily="34" charset="0"/>
                <a:ea typeface="Yu Gothic" pitchFamily="34" charset="-122"/>
                <a:cs typeface="Yu Gothic" pitchFamily="34" charset="-120"/>
              </a:rPr>
              <a:t>「顧問料 相場」等の検索がAIに奪われている。顧問契約LTVが年60〜120万円あり、投資判断が速い。</a:t>
            </a:r>
            <a:endParaRPr lang="en-US" sz="1200" dirty="0"/>
          </a:p>
        </p:txBody>
      </p:sp>
      <p:sp>
        <p:nvSpPr>
          <p:cNvPr id="12" name="Shape 10"/>
          <p:cNvSpPr/>
          <p:nvPr/>
        </p:nvSpPr>
        <p:spPr>
          <a:xfrm>
            <a:off x="6199632" y="1783080"/>
            <a:ext cx="5394960" cy="2148840"/>
          </a:xfrm>
          <a:prstGeom prst="roundRect">
            <a:avLst>
              <a:gd name="adj" fmla="val 2553"/>
            </a:avLst>
          </a:prstGeom>
          <a:solidFill>
            <a:srgbClr val="F1F4F9"/>
          </a:solidFill>
          <a:ln/>
          <a:effectLst>
            <a:outerShdw sx="100000" sy="100000" kx="0" ky="0" algn="bl" rotWithShape="0" blurRad="152400" dist="25400" dir="5400000">
              <a:srgbClr val="9AA6BE">
                <a:alpha val="28000"/>
              </a:srgbClr>
            </a:outerShdw>
          </a:effectLst>
        </p:spPr>
      </p:sp>
      <p:sp>
        <p:nvSpPr>
          <p:cNvPr id="13" name="Shape 11"/>
          <p:cNvSpPr/>
          <p:nvPr/>
        </p:nvSpPr>
        <p:spPr>
          <a:xfrm>
            <a:off x="6492240" y="2011680"/>
            <a:ext cx="786384" cy="274320"/>
          </a:xfrm>
          <a:prstGeom prst="roundRect">
            <a:avLst>
              <a:gd name="adj" fmla="val 13333"/>
            </a:avLst>
          </a:prstGeom>
          <a:solidFill>
            <a:srgbClr val="E0A03A"/>
          </a:solidFill>
          <a:ln/>
        </p:spPr>
      </p:sp>
      <p:sp>
        <p:nvSpPr>
          <p:cNvPr id="14" name="Text 12"/>
          <p:cNvSpPr/>
          <p:nvPr/>
        </p:nvSpPr>
        <p:spPr>
          <a:xfrm>
            <a:off x="6492240" y="2011680"/>
            <a:ext cx="786384" cy="274320"/>
          </a:xfrm>
          <a:prstGeom prst="rect">
            <a:avLst/>
          </a:prstGeom>
          <a:noFill/>
          <a:ln/>
        </p:spPr>
        <p:txBody>
          <a:bodyPr wrap="square" lIns="0" tIns="0" rIns="0" bIns="0" rtlCol="0" anchor="ctr"/>
          <a:lstStyle/>
          <a:p>
            <a:pPr algn="ctr" indent="0" marL="0">
              <a:buNone/>
            </a:pPr>
            <a:r>
              <a:rPr lang="en-US" sz="1050" b="1" dirty="0">
                <a:solidFill>
                  <a:srgbClr val="141A2E"/>
                </a:solidFill>
                <a:latin typeface="Yu Gothic" pitchFamily="34" charset="0"/>
                <a:ea typeface="Yu Gothic" pitchFamily="34" charset="-122"/>
                <a:cs typeface="Yu Gothic" pitchFamily="34" charset="-120"/>
              </a:rPr>
              <a:t>1st</a:t>
            </a:r>
            <a:endParaRPr lang="en-US" sz="1050" dirty="0"/>
          </a:p>
        </p:txBody>
      </p:sp>
      <p:sp>
        <p:nvSpPr>
          <p:cNvPr id="15" name="Text 13"/>
          <p:cNvSpPr/>
          <p:nvPr/>
        </p:nvSpPr>
        <p:spPr>
          <a:xfrm>
            <a:off x="6492240" y="2377440"/>
            <a:ext cx="4809744" cy="420624"/>
          </a:xfrm>
          <a:prstGeom prst="rect">
            <a:avLst/>
          </a:prstGeom>
          <a:noFill/>
          <a:ln/>
        </p:spPr>
        <p:txBody>
          <a:bodyPr wrap="square" lIns="0" tIns="0" rIns="0" bIns="0" rtlCol="0" anchor="ctr"/>
          <a:lstStyle/>
          <a:p>
            <a:pPr indent="0" marL="0">
              <a:buNone/>
            </a:pPr>
            <a:r>
              <a:rPr lang="en-US" sz="2200" b="1" dirty="0">
                <a:solidFill>
                  <a:srgbClr val="141A2E"/>
                </a:solidFill>
                <a:latin typeface="Yu Gothic" pitchFamily="34" charset="0"/>
                <a:ea typeface="Yu Gothic" pitchFamily="34" charset="-122"/>
                <a:cs typeface="Yu Gothic" pitchFamily="34" charset="-120"/>
              </a:rPr>
              <a:t>クリニック・歯科</a:t>
            </a:r>
            <a:endParaRPr lang="en-US" sz="2200" dirty="0"/>
          </a:p>
        </p:txBody>
      </p:sp>
      <p:sp>
        <p:nvSpPr>
          <p:cNvPr id="16" name="Text 14"/>
          <p:cNvSpPr/>
          <p:nvPr/>
        </p:nvSpPr>
        <p:spPr>
          <a:xfrm>
            <a:off x="6492240" y="2798064"/>
            <a:ext cx="4809744" cy="274320"/>
          </a:xfrm>
          <a:prstGeom prst="rect">
            <a:avLst/>
          </a:prstGeom>
          <a:noFill/>
          <a:ln/>
        </p:spPr>
        <p:txBody>
          <a:bodyPr wrap="square" lIns="0" tIns="0" rIns="0" bIns="0" rtlCol="0" anchor="ctr"/>
          <a:lstStyle/>
          <a:p>
            <a:pPr indent="0" marL="0">
              <a:buNone/>
            </a:pPr>
            <a:r>
              <a:rPr lang="en-US" sz="1200" b="1" dirty="0">
                <a:solidFill>
                  <a:srgbClr val="9C6C1B"/>
                </a:solidFill>
                <a:latin typeface="Yu Gothic" pitchFamily="34" charset="0"/>
                <a:ea typeface="Yu Gothic" pitchFamily="34" charset="-122"/>
                <a:cs typeface="Yu Gothic" pitchFamily="34" charset="-120"/>
              </a:rPr>
              <a:t>自由診療</a:t>
            </a:r>
            <a:endParaRPr lang="en-US" sz="1200" dirty="0"/>
          </a:p>
        </p:txBody>
      </p:sp>
      <p:sp>
        <p:nvSpPr>
          <p:cNvPr id="17" name="Text 15"/>
          <p:cNvSpPr/>
          <p:nvPr/>
        </p:nvSpPr>
        <p:spPr>
          <a:xfrm>
            <a:off x="6492240" y="3108960"/>
            <a:ext cx="4809744" cy="731520"/>
          </a:xfrm>
          <a:prstGeom prst="rect">
            <a:avLst/>
          </a:prstGeom>
          <a:noFill/>
          <a:ln/>
        </p:spPr>
        <p:txBody>
          <a:bodyPr wrap="square" lIns="0" tIns="0" rIns="0" bIns="0" rtlCol="0" anchor="ctr"/>
          <a:lstStyle/>
          <a:p>
            <a:pPr indent="0" marL="0">
              <a:lnSpc>
                <a:spcPts val="1900"/>
              </a:lnSpc>
              <a:buNone/>
            </a:pPr>
            <a:r>
              <a:rPr lang="en-US" sz="1200" dirty="0">
                <a:solidFill>
                  <a:srgbClr val="242B3D"/>
                </a:solidFill>
                <a:latin typeface="Yu Gothic" pitchFamily="34" charset="0"/>
                <a:ea typeface="Yu Gothic" pitchFamily="34" charset="-122"/>
                <a:cs typeface="Yu Gothic" pitchFamily="34" charset="-120"/>
              </a:rPr>
              <a:t>広告規制でリスティングが打ちづらく、検索・口コミ依存が構造的。自由診療の単価が高くROI説明が容易。</a:t>
            </a:r>
            <a:endParaRPr lang="en-US" sz="1200" dirty="0"/>
          </a:p>
        </p:txBody>
      </p:sp>
      <p:sp>
        <p:nvSpPr>
          <p:cNvPr id="18" name="Shape 16"/>
          <p:cNvSpPr/>
          <p:nvPr/>
        </p:nvSpPr>
        <p:spPr>
          <a:xfrm>
            <a:off x="566928" y="4078224"/>
            <a:ext cx="11027664" cy="475488"/>
          </a:xfrm>
          <a:prstGeom prst="roundRect">
            <a:avLst>
              <a:gd name="adj" fmla="val 7692"/>
            </a:avLst>
          </a:prstGeom>
          <a:solidFill>
            <a:srgbClr val="FFFFFF"/>
          </a:solidFill>
          <a:ln w="12700">
            <a:solidFill>
              <a:srgbClr val="E4EAF4"/>
            </a:solidFill>
            <a:prstDash val="solid"/>
          </a:ln>
        </p:spPr>
      </p:sp>
      <p:sp>
        <p:nvSpPr>
          <p:cNvPr id="19" name="Text 17"/>
          <p:cNvSpPr/>
          <p:nvPr/>
        </p:nvSpPr>
        <p:spPr>
          <a:xfrm>
            <a:off x="877824" y="4078224"/>
            <a:ext cx="10405872" cy="475488"/>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2nd　BtoB専門商材の中小メーカー・商社 — 「〇〇 メーカー おすすめ」でLLMに列挙されるかが商談数に直結</a:t>
            </a:r>
            <a:endParaRPr lang="en-US" sz="1200" dirty="0"/>
          </a:p>
        </p:txBody>
      </p:sp>
      <p:sp>
        <p:nvSpPr>
          <p:cNvPr id="20" name="Shape 18"/>
          <p:cNvSpPr/>
          <p:nvPr/>
        </p:nvSpPr>
        <p:spPr>
          <a:xfrm>
            <a:off x="566928" y="4626864"/>
            <a:ext cx="11027664" cy="475488"/>
          </a:xfrm>
          <a:prstGeom prst="roundRect">
            <a:avLst>
              <a:gd name="adj" fmla="val 7692"/>
            </a:avLst>
          </a:prstGeom>
          <a:solidFill>
            <a:srgbClr val="FFFFFF"/>
          </a:solidFill>
          <a:ln w="12700">
            <a:solidFill>
              <a:srgbClr val="E4EAF4"/>
            </a:solidFill>
            <a:prstDash val="solid"/>
          </a:ln>
        </p:spPr>
      </p:sp>
      <p:sp>
        <p:nvSpPr>
          <p:cNvPr id="21" name="Text 19"/>
          <p:cNvSpPr/>
          <p:nvPr/>
        </p:nvSpPr>
        <p:spPr>
          <a:xfrm>
            <a:off x="877824" y="4626864"/>
            <a:ext cx="10405872" cy="475488"/>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2nd　リフォーム・工務店・不動産 — 案件単価が数百万円。1件受注で年間費用を回収でき、ROI訴求が最強</a:t>
            </a:r>
            <a:endParaRPr lang="en-US" sz="1200" dirty="0"/>
          </a:p>
        </p:txBody>
      </p:sp>
      <p:sp>
        <p:nvSpPr>
          <p:cNvPr id="22" name="Shape 20"/>
          <p:cNvSpPr/>
          <p:nvPr/>
        </p:nvSpPr>
        <p:spPr>
          <a:xfrm>
            <a:off x="566928" y="5248656"/>
            <a:ext cx="11027664" cy="841248"/>
          </a:xfrm>
          <a:prstGeom prst="roundRect">
            <a:avLst>
              <a:gd name="adj" fmla="val 6522"/>
            </a:avLst>
          </a:prstGeom>
          <a:solidFill>
            <a:srgbClr val="141A2E"/>
          </a:solidFill>
          <a:ln/>
        </p:spPr>
      </p:sp>
      <p:sp>
        <p:nvSpPr>
          <p:cNvPr id="23" name="Text 21"/>
          <p:cNvSpPr/>
          <p:nvPr/>
        </p:nvSpPr>
        <p:spPr>
          <a:xfrm>
            <a:off x="877824" y="5248656"/>
            <a:ext cx="10405872" cy="841248"/>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1業種に絞る理由：①プロンプトと改善テンプレを全顧客で使い回せ自動化効率が最大化　②業界内の紹介が回る　③「専門」が40社超の競合との正面衝突を避ける</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8</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PRODUCT</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商品ラダーと価格設計</a:t>
            </a:r>
            <a:endParaRPr lang="en-US" sz="3200" dirty="0"/>
          </a:p>
        </p:txBody>
      </p:sp>
      <p:sp>
        <p:nvSpPr>
          <p:cNvPr id="6" name="Shape 4"/>
          <p:cNvSpPr/>
          <p:nvPr/>
        </p:nvSpPr>
        <p:spPr>
          <a:xfrm>
            <a:off x="566928" y="1783080"/>
            <a:ext cx="11027664" cy="566928"/>
          </a:xfrm>
          <a:prstGeom prst="roundRect">
            <a:avLst>
              <a:gd name="adj" fmla="val 8065"/>
            </a:avLst>
          </a:prstGeom>
          <a:solidFill>
            <a:srgbClr val="F1F4F9"/>
          </a:solidFill>
          <a:ln/>
        </p:spPr>
      </p:sp>
      <p:sp>
        <p:nvSpPr>
          <p:cNvPr id="7" name="Text 5"/>
          <p:cNvSpPr/>
          <p:nvPr/>
        </p:nvSpPr>
        <p:spPr>
          <a:xfrm>
            <a:off x="859536" y="1783080"/>
            <a:ext cx="1600200" cy="566928"/>
          </a:xfrm>
          <a:prstGeom prst="rect">
            <a:avLst/>
          </a:prstGeom>
          <a:noFill/>
          <a:ln/>
        </p:spPr>
        <p:txBody>
          <a:bodyPr wrap="square" lIns="0" tIns="0" rIns="0" bIns="0" rtlCol="0" anchor="ctr"/>
          <a:lstStyle/>
          <a:p>
            <a:pPr indent="0" marL="0">
              <a:buNone/>
            </a:pPr>
            <a:r>
              <a:rPr lang="en-US" sz="1100" b="1" dirty="0">
                <a:solidFill>
                  <a:srgbClr val="667088"/>
                </a:solidFill>
                <a:latin typeface="Yu Gothic" pitchFamily="34" charset="0"/>
                <a:ea typeface="Yu Gothic" pitchFamily="34" charset="-122"/>
                <a:cs typeface="Yu Gothic" pitchFamily="34" charset="-120"/>
              </a:rPr>
              <a:t>フック</a:t>
            </a:r>
            <a:endParaRPr lang="en-US" sz="1100" dirty="0"/>
          </a:p>
        </p:txBody>
      </p:sp>
      <p:sp>
        <p:nvSpPr>
          <p:cNvPr id="8" name="Text 6"/>
          <p:cNvSpPr/>
          <p:nvPr/>
        </p:nvSpPr>
        <p:spPr>
          <a:xfrm>
            <a:off x="2578608" y="1783080"/>
            <a:ext cx="6309360" cy="566928"/>
          </a:xfrm>
          <a:prstGeom prst="rect">
            <a:avLst/>
          </a:prstGeom>
          <a:noFill/>
          <a:ln/>
        </p:spPr>
        <p:txBody>
          <a:bodyPr wrap="square" lIns="0" tIns="0" rIns="0" bIns="0" rtlCol="0" anchor="ctr"/>
          <a:lstStyle/>
          <a:p>
            <a:pPr indent="0" marL="0">
              <a:buNone/>
            </a:pPr>
            <a:r>
              <a:rPr lang="en-US" sz="1250" dirty="0">
                <a:solidFill>
                  <a:srgbClr val="141A2E"/>
                </a:solidFill>
                <a:latin typeface="Yu Gothic" pitchFamily="34" charset="0"/>
                <a:ea typeface="Yu Gothic" pitchFamily="34" charset="-122"/>
                <a:cs typeface="Yu Gothic" pitchFamily="34" charset="-120"/>
              </a:rPr>
              <a:t>AI可視性 無料診断レポート（完全自動生成・営業リストにバッチ実行）</a:t>
            </a:r>
            <a:endParaRPr lang="en-US" sz="1250" dirty="0"/>
          </a:p>
        </p:txBody>
      </p:sp>
      <p:sp>
        <p:nvSpPr>
          <p:cNvPr id="9" name="Text 7"/>
          <p:cNvSpPr/>
          <p:nvPr/>
        </p:nvSpPr>
        <p:spPr>
          <a:xfrm>
            <a:off x="9217152" y="1783080"/>
            <a:ext cx="2103120" cy="566928"/>
          </a:xfrm>
          <a:prstGeom prst="rect">
            <a:avLst/>
          </a:prstGeom>
          <a:noFill/>
          <a:ln/>
        </p:spPr>
        <p:txBody>
          <a:bodyPr wrap="square" lIns="0" tIns="0" rIns="0" bIns="0" rtlCol="0" anchor="ctr"/>
          <a:lstStyle/>
          <a:p>
            <a:pPr algn="r" indent="0" marL="0">
              <a:buNone/>
            </a:pPr>
            <a:r>
              <a:rPr lang="en-US" sz="1350" b="1" dirty="0">
                <a:solidFill>
                  <a:srgbClr val="242B3D"/>
                </a:solidFill>
                <a:latin typeface="Yu Gothic" pitchFamily="34" charset="0"/>
                <a:ea typeface="Yu Gothic" pitchFamily="34" charset="-122"/>
                <a:cs typeface="Yu Gothic" pitchFamily="34" charset="-120"/>
              </a:rPr>
              <a:t>原価 150円/件</a:t>
            </a:r>
            <a:endParaRPr lang="en-US" sz="1350" dirty="0"/>
          </a:p>
        </p:txBody>
      </p:sp>
      <p:sp>
        <p:nvSpPr>
          <p:cNvPr id="10" name="Shape 8"/>
          <p:cNvSpPr/>
          <p:nvPr/>
        </p:nvSpPr>
        <p:spPr>
          <a:xfrm>
            <a:off x="566928" y="2423160"/>
            <a:ext cx="11027664" cy="566928"/>
          </a:xfrm>
          <a:prstGeom prst="roundRect">
            <a:avLst>
              <a:gd name="adj" fmla="val 8065"/>
            </a:avLst>
          </a:prstGeom>
          <a:solidFill>
            <a:srgbClr val="F1F4F9"/>
          </a:solidFill>
          <a:ln/>
        </p:spPr>
      </p:sp>
      <p:sp>
        <p:nvSpPr>
          <p:cNvPr id="11" name="Text 9"/>
          <p:cNvSpPr/>
          <p:nvPr/>
        </p:nvSpPr>
        <p:spPr>
          <a:xfrm>
            <a:off x="859536" y="2423160"/>
            <a:ext cx="1600200" cy="566928"/>
          </a:xfrm>
          <a:prstGeom prst="rect">
            <a:avLst/>
          </a:prstGeom>
          <a:noFill/>
          <a:ln/>
        </p:spPr>
        <p:txBody>
          <a:bodyPr wrap="square" lIns="0" tIns="0" rIns="0" bIns="0" rtlCol="0" anchor="ctr"/>
          <a:lstStyle/>
          <a:p>
            <a:pPr indent="0" marL="0">
              <a:buNone/>
            </a:pPr>
            <a:r>
              <a:rPr lang="en-US" sz="1100" b="1" dirty="0">
                <a:solidFill>
                  <a:srgbClr val="667088"/>
                </a:solidFill>
                <a:latin typeface="Yu Gothic" pitchFamily="34" charset="0"/>
                <a:ea typeface="Yu Gothic" pitchFamily="34" charset="-122"/>
                <a:cs typeface="Yu Gothic" pitchFamily="34" charset="-120"/>
              </a:rPr>
              <a:t>入口</a:t>
            </a:r>
            <a:endParaRPr lang="en-US" sz="1100" dirty="0"/>
          </a:p>
        </p:txBody>
      </p:sp>
      <p:sp>
        <p:nvSpPr>
          <p:cNvPr id="12" name="Text 10"/>
          <p:cNvSpPr/>
          <p:nvPr/>
        </p:nvSpPr>
        <p:spPr>
          <a:xfrm>
            <a:off x="2578608" y="2423160"/>
            <a:ext cx="6309360" cy="566928"/>
          </a:xfrm>
          <a:prstGeom prst="rect">
            <a:avLst/>
          </a:prstGeom>
          <a:noFill/>
          <a:ln/>
        </p:spPr>
        <p:txBody>
          <a:bodyPr wrap="square" lIns="0" tIns="0" rIns="0" bIns="0" rtlCol="0" anchor="ctr"/>
          <a:lstStyle/>
          <a:p>
            <a:pPr indent="0" marL="0">
              <a:buNone/>
            </a:pPr>
            <a:r>
              <a:rPr lang="en-US" sz="1250" dirty="0">
                <a:solidFill>
                  <a:srgbClr val="141A2E"/>
                </a:solidFill>
                <a:latin typeface="Yu Gothic" pitchFamily="34" charset="0"/>
                <a:ea typeface="Yu Gothic" pitchFamily="34" charset="-122"/>
                <a:cs typeface="Yu Gothic" pitchFamily="34" charset="-120"/>
              </a:rPr>
              <a:t>AI可視性 精密診断＋改善ロードマップ（単発）</a:t>
            </a:r>
            <a:endParaRPr lang="en-US" sz="1250" dirty="0"/>
          </a:p>
        </p:txBody>
      </p:sp>
      <p:sp>
        <p:nvSpPr>
          <p:cNvPr id="13" name="Text 11"/>
          <p:cNvSpPr/>
          <p:nvPr/>
        </p:nvSpPr>
        <p:spPr>
          <a:xfrm>
            <a:off x="9217152" y="2423160"/>
            <a:ext cx="2103120" cy="566928"/>
          </a:xfrm>
          <a:prstGeom prst="rect">
            <a:avLst/>
          </a:prstGeom>
          <a:noFill/>
          <a:ln/>
        </p:spPr>
        <p:txBody>
          <a:bodyPr wrap="square" lIns="0" tIns="0" rIns="0" bIns="0" rtlCol="0" anchor="ctr"/>
          <a:lstStyle/>
          <a:p>
            <a:pPr algn="r" indent="0" marL="0">
              <a:buNone/>
            </a:pPr>
            <a:r>
              <a:rPr lang="en-US" sz="1350" b="1" dirty="0">
                <a:solidFill>
                  <a:srgbClr val="242B3D"/>
                </a:solidFill>
                <a:latin typeface="Yu Gothic" pitchFamily="34" charset="0"/>
                <a:ea typeface="Yu Gothic" pitchFamily="34" charset="-122"/>
                <a:cs typeface="Yu Gothic" pitchFamily="34" charset="-120"/>
              </a:rPr>
              <a:t>98,000円</a:t>
            </a:r>
            <a:endParaRPr lang="en-US" sz="1350" dirty="0"/>
          </a:p>
        </p:txBody>
      </p:sp>
      <p:sp>
        <p:nvSpPr>
          <p:cNvPr id="14" name="Shape 12"/>
          <p:cNvSpPr/>
          <p:nvPr/>
        </p:nvSpPr>
        <p:spPr>
          <a:xfrm>
            <a:off x="566928" y="3063240"/>
            <a:ext cx="11027664" cy="566928"/>
          </a:xfrm>
          <a:prstGeom prst="roundRect">
            <a:avLst>
              <a:gd name="adj" fmla="val 8065"/>
            </a:avLst>
          </a:prstGeom>
          <a:solidFill>
            <a:srgbClr val="FBF1DE"/>
          </a:solidFill>
          <a:ln/>
        </p:spPr>
      </p:sp>
      <p:sp>
        <p:nvSpPr>
          <p:cNvPr id="15" name="Text 13"/>
          <p:cNvSpPr/>
          <p:nvPr/>
        </p:nvSpPr>
        <p:spPr>
          <a:xfrm>
            <a:off x="859536" y="3063240"/>
            <a:ext cx="1600200" cy="566928"/>
          </a:xfrm>
          <a:prstGeom prst="rect">
            <a:avLst/>
          </a:prstGeom>
          <a:noFill/>
          <a:ln/>
        </p:spPr>
        <p:txBody>
          <a:bodyPr wrap="square" lIns="0" tIns="0" rIns="0" bIns="0" rtlCol="0" anchor="ctr"/>
          <a:lstStyle/>
          <a:p>
            <a:pPr indent="0" marL="0">
              <a:buNone/>
            </a:pPr>
            <a:r>
              <a:rPr lang="en-US" sz="1100" b="1" dirty="0">
                <a:solidFill>
                  <a:srgbClr val="9C6C1B"/>
                </a:solidFill>
                <a:latin typeface="Yu Gothic" pitchFamily="34" charset="0"/>
                <a:ea typeface="Yu Gothic" pitchFamily="34" charset="-122"/>
                <a:cs typeface="Yu Gothic" pitchFamily="34" charset="-120"/>
              </a:rPr>
              <a:t>本命 Light</a:t>
            </a:r>
            <a:endParaRPr lang="en-US" sz="1100" dirty="0"/>
          </a:p>
        </p:txBody>
      </p:sp>
      <p:sp>
        <p:nvSpPr>
          <p:cNvPr id="16" name="Text 14"/>
          <p:cNvSpPr/>
          <p:nvPr/>
        </p:nvSpPr>
        <p:spPr>
          <a:xfrm>
            <a:off x="2578608" y="3063240"/>
            <a:ext cx="6309360" cy="566928"/>
          </a:xfrm>
          <a:prstGeom prst="rect">
            <a:avLst/>
          </a:prstGeom>
          <a:noFill/>
          <a:ln/>
        </p:spPr>
        <p:txBody>
          <a:bodyPr wrap="square" lIns="0" tIns="0" rIns="0" bIns="0" rtlCol="0" anchor="ctr"/>
          <a:lstStyle/>
          <a:p>
            <a:pPr indent="0" marL="0">
              <a:buNone/>
            </a:pPr>
            <a:r>
              <a:rPr lang="en-US" sz="1250" dirty="0">
                <a:solidFill>
                  <a:srgbClr val="141A2E"/>
                </a:solidFill>
                <a:latin typeface="Yu Gothic" pitchFamily="34" charset="0"/>
                <a:ea typeface="Yu Gothic" pitchFamily="34" charset="-122"/>
                <a:cs typeface="Yu Gothic" pitchFamily="34" charset="-120"/>
              </a:rPr>
              <a:t>月次モニタリング＋改善指示書</a:t>
            </a:r>
            <a:endParaRPr lang="en-US" sz="1250" dirty="0"/>
          </a:p>
        </p:txBody>
      </p:sp>
      <p:sp>
        <p:nvSpPr>
          <p:cNvPr id="17" name="Text 15"/>
          <p:cNvSpPr/>
          <p:nvPr/>
        </p:nvSpPr>
        <p:spPr>
          <a:xfrm>
            <a:off x="9217152" y="3063240"/>
            <a:ext cx="2103120" cy="566928"/>
          </a:xfrm>
          <a:prstGeom prst="rect">
            <a:avLst/>
          </a:prstGeom>
          <a:noFill/>
          <a:ln/>
        </p:spPr>
        <p:txBody>
          <a:bodyPr wrap="square" lIns="0" tIns="0" rIns="0" bIns="0" rtlCol="0" anchor="ctr"/>
          <a:lstStyle/>
          <a:p>
            <a:pPr algn="r" indent="0" marL="0">
              <a:buNone/>
            </a:pPr>
            <a:r>
              <a:rPr lang="en-US" sz="1350" b="1" dirty="0">
                <a:solidFill>
                  <a:srgbClr val="9C6C1B"/>
                </a:solidFill>
                <a:latin typeface="Yu Gothic" pitchFamily="34" charset="0"/>
                <a:ea typeface="Yu Gothic" pitchFamily="34" charset="-122"/>
                <a:cs typeface="Yu Gothic" pitchFamily="34" charset="-120"/>
              </a:rPr>
              <a:t>月 49,800円</a:t>
            </a:r>
            <a:endParaRPr lang="en-US" sz="1350" dirty="0"/>
          </a:p>
        </p:txBody>
      </p:sp>
      <p:sp>
        <p:nvSpPr>
          <p:cNvPr id="18" name="Shape 16"/>
          <p:cNvSpPr/>
          <p:nvPr/>
        </p:nvSpPr>
        <p:spPr>
          <a:xfrm>
            <a:off x="566928" y="3703320"/>
            <a:ext cx="11027664" cy="566928"/>
          </a:xfrm>
          <a:prstGeom prst="roundRect">
            <a:avLst>
              <a:gd name="adj" fmla="val 8065"/>
            </a:avLst>
          </a:prstGeom>
          <a:solidFill>
            <a:srgbClr val="FBF1DE"/>
          </a:solidFill>
          <a:ln/>
        </p:spPr>
      </p:sp>
      <p:sp>
        <p:nvSpPr>
          <p:cNvPr id="19" name="Text 17"/>
          <p:cNvSpPr/>
          <p:nvPr/>
        </p:nvSpPr>
        <p:spPr>
          <a:xfrm>
            <a:off x="859536" y="3703320"/>
            <a:ext cx="1600200" cy="566928"/>
          </a:xfrm>
          <a:prstGeom prst="rect">
            <a:avLst/>
          </a:prstGeom>
          <a:noFill/>
          <a:ln/>
        </p:spPr>
        <p:txBody>
          <a:bodyPr wrap="square" lIns="0" tIns="0" rIns="0" bIns="0" rtlCol="0" anchor="ctr"/>
          <a:lstStyle/>
          <a:p>
            <a:pPr indent="0" marL="0">
              <a:buNone/>
            </a:pPr>
            <a:r>
              <a:rPr lang="en-US" sz="1100" b="1" dirty="0">
                <a:solidFill>
                  <a:srgbClr val="9C6C1B"/>
                </a:solidFill>
                <a:latin typeface="Yu Gothic" pitchFamily="34" charset="0"/>
                <a:ea typeface="Yu Gothic" pitchFamily="34" charset="-122"/>
                <a:cs typeface="Yu Gothic" pitchFamily="34" charset="-120"/>
              </a:rPr>
              <a:t>本命 Standard</a:t>
            </a:r>
            <a:endParaRPr lang="en-US" sz="1100" dirty="0"/>
          </a:p>
        </p:txBody>
      </p:sp>
      <p:sp>
        <p:nvSpPr>
          <p:cNvPr id="20" name="Text 18"/>
          <p:cNvSpPr/>
          <p:nvPr/>
        </p:nvSpPr>
        <p:spPr>
          <a:xfrm>
            <a:off x="2578608" y="3703320"/>
            <a:ext cx="6309360" cy="566928"/>
          </a:xfrm>
          <a:prstGeom prst="rect">
            <a:avLst/>
          </a:prstGeom>
          <a:noFill/>
          <a:ln/>
        </p:spPr>
        <p:txBody>
          <a:bodyPr wrap="square" lIns="0" tIns="0" rIns="0" bIns="0" rtlCol="0" anchor="ctr"/>
          <a:lstStyle/>
          <a:p>
            <a:pPr indent="0" marL="0">
              <a:buNone/>
            </a:pPr>
            <a:r>
              <a:rPr lang="en-US" sz="1250" dirty="0">
                <a:solidFill>
                  <a:srgbClr val="141A2E"/>
                </a:solidFill>
                <a:latin typeface="Yu Gothic" pitchFamily="34" charset="0"/>
                <a:ea typeface="Yu Gothic" pitchFamily="34" charset="-122"/>
                <a:cs typeface="Yu Gothic" pitchFamily="34" charset="-120"/>
              </a:rPr>
              <a:t>＋コンテンツ／FAQ／構造化データの実装まで</a:t>
            </a:r>
            <a:endParaRPr lang="en-US" sz="1250" dirty="0"/>
          </a:p>
        </p:txBody>
      </p:sp>
      <p:sp>
        <p:nvSpPr>
          <p:cNvPr id="21" name="Text 19"/>
          <p:cNvSpPr/>
          <p:nvPr/>
        </p:nvSpPr>
        <p:spPr>
          <a:xfrm>
            <a:off x="9217152" y="3703320"/>
            <a:ext cx="2103120" cy="566928"/>
          </a:xfrm>
          <a:prstGeom prst="rect">
            <a:avLst/>
          </a:prstGeom>
          <a:noFill/>
          <a:ln/>
        </p:spPr>
        <p:txBody>
          <a:bodyPr wrap="square" lIns="0" tIns="0" rIns="0" bIns="0" rtlCol="0" anchor="ctr"/>
          <a:lstStyle/>
          <a:p>
            <a:pPr algn="r" indent="0" marL="0">
              <a:buNone/>
            </a:pPr>
            <a:r>
              <a:rPr lang="en-US" sz="1350" b="1" dirty="0">
                <a:solidFill>
                  <a:srgbClr val="9C6C1B"/>
                </a:solidFill>
                <a:latin typeface="Yu Gothic" pitchFamily="34" charset="0"/>
                <a:ea typeface="Yu Gothic" pitchFamily="34" charset="-122"/>
                <a:cs typeface="Yu Gothic" pitchFamily="34" charset="-120"/>
              </a:rPr>
              <a:t>月 149,800円</a:t>
            </a:r>
            <a:endParaRPr lang="en-US" sz="1350" dirty="0"/>
          </a:p>
        </p:txBody>
      </p:sp>
      <p:sp>
        <p:nvSpPr>
          <p:cNvPr id="22" name="Shape 20"/>
          <p:cNvSpPr/>
          <p:nvPr/>
        </p:nvSpPr>
        <p:spPr>
          <a:xfrm>
            <a:off x="566928" y="4343400"/>
            <a:ext cx="11027664" cy="566928"/>
          </a:xfrm>
          <a:prstGeom prst="roundRect">
            <a:avLst>
              <a:gd name="adj" fmla="val 8065"/>
            </a:avLst>
          </a:prstGeom>
          <a:solidFill>
            <a:srgbClr val="FBF1DE"/>
          </a:solidFill>
          <a:ln/>
        </p:spPr>
      </p:sp>
      <p:sp>
        <p:nvSpPr>
          <p:cNvPr id="23" name="Text 21"/>
          <p:cNvSpPr/>
          <p:nvPr/>
        </p:nvSpPr>
        <p:spPr>
          <a:xfrm>
            <a:off x="859536" y="4343400"/>
            <a:ext cx="1600200" cy="566928"/>
          </a:xfrm>
          <a:prstGeom prst="rect">
            <a:avLst/>
          </a:prstGeom>
          <a:noFill/>
          <a:ln/>
        </p:spPr>
        <p:txBody>
          <a:bodyPr wrap="square" lIns="0" tIns="0" rIns="0" bIns="0" rtlCol="0" anchor="ctr"/>
          <a:lstStyle/>
          <a:p>
            <a:pPr indent="0" marL="0">
              <a:buNone/>
            </a:pPr>
            <a:r>
              <a:rPr lang="en-US" sz="1100" b="1" dirty="0">
                <a:solidFill>
                  <a:srgbClr val="9C6C1B"/>
                </a:solidFill>
                <a:latin typeface="Yu Gothic" pitchFamily="34" charset="0"/>
                <a:ea typeface="Yu Gothic" pitchFamily="34" charset="-122"/>
                <a:cs typeface="Yu Gothic" pitchFamily="34" charset="-120"/>
              </a:rPr>
              <a:t>本命 Pro</a:t>
            </a:r>
            <a:endParaRPr lang="en-US" sz="1100" dirty="0"/>
          </a:p>
        </p:txBody>
      </p:sp>
      <p:sp>
        <p:nvSpPr>
          <p:cNvPr id="24" name="Text 22"/>
          <p:cNvSpPr/>
          <p:nvPr/>
        </p:nvSpPr>
        <p:spPr>
          <a:xfrm>
            <a:off x="2578608" y="4343400"/>
            <a:ext cx="6309360" cy="566928"/>
          </a:xfrm>
          <a:prstGeom prst="rect">
            <a:avLst/>
          </a:prstGeom>
          <a:noFill/>
          <a:ln/>
        </p:spPr>
        <p:txBody>
          <a:bodyPr wrap="square" lIns="0" tIns="0" rIns="0" bIns="0" rtlCol="0" anchor="ctr"/>
          <a:lstStyle/>
          <a:p>
            <a:pPr indent="0" marL="0">
              <a:buNone/>
            </a:pPr>
            <a:r>
              <a:rPr lang="en-US" sz="1250" dirty="0">
                <a:solidFill>
                  <a:srgbClr val="141A2E"/>
                </a:solidFill>
                <a:latin typeface="Yu Gothic" pitchFamily="34" charset="0"/>
                <a:ea typeface="Yu Gothic" pitchFamily="34" charset="-122"/>
                <a:cs typeface="Yu Gothic" pitchFamily="34" charset="-120"/>
              </a:rPr>
              <a:t>＋競合追跡・多拠点・月次オンライン報告</a:t>
            </a:r>
            <a:endParaRPr lang="en-US" sz="1250" dirty="0"/>
          </a:p>
        </p:txBody>
      </p:sp>
      <p:sp>
        <p:nvSpPr>
          <p:cNvPr id="25" name="Text 23"/>
          <p:cNvSpPr/>
          <p:nvPr/>
        </p:nvSpPr>
        <p:spPr>
          <a:xfrm>
            <a:off x="9217152" y="4343400"/>
            <a:ext cx="2103120" cy="566928"/>
          </a:xfrm>
          <a:prstGeom prst="rect">
            <a:avLst/>
          </a:prstGeom>
          <a:noFill/>
          <a:ln/>
        </p:spPr>
        <p:txBody>
          <a:bodyPr wrap="square" lIns="0" tIns="0" rIns="0" bIns="0" rtlCol="0" anchor="ctr"/>
          <a:lstStyle/>
          <a:p>
            <a:pPr algn="r" indent="0" marL="0">
              <a:buNone/>
            </a:pPr>
            <a:r>
              <a:rPr lang="en-US" sz="1350" b="1" dirty="0">
                <a:solidFill>
                  <a:srgbClr val="9C6C1B"/>
                </a:solidFill>
                <a:latin typeface="Yu Gothic" pitchFamily="34" charset="0"/>
                <a:ea typeface="Yu Gothic" pitchFamily="34" charset="-122"/>
                <a:cs typeface="Yu Gothic" pitchFamily="34" charset="-120"/>
              </a:rPr>
              <a:t>月 298,000円</a:t>
            </a:r>
            <a:endParaRPr lang="en-US" sz="1350" dirty="0"/>
          </a:p>
        </p:txBody>
      </p:sp>
      <p:sp>
        <p:nvSpPr>
          <p:cNvPr id="26" name="Shape 24"/>
          <p:cNvSpPr/>
          <p:nvPr/>
        </p:nvSpPr>
        <p:spPr>
          <a:xfrm>
            <a:off x="566928" y="4983480"/>
            <a:ext cx="11027664" cy="566928"/>
          </a:xfrm>
          <a:prstGeom prst="roundRect">
            <a:avLst>
              <a:gd name="adj" fmla="val 8065"/>
            </a:avLst>
          </a:prstGeom>
          <a:solidFill>
            <a:srgbClr val="F1F4F9"/>
          </a:solidFill>
          <a:ln/>
        </p:spPr>
      </p:sp>
      <p:sp>
        <p:nvSpPr>
          <p:cNvPr id="27" name="Text 25"/>
          <p:cNvSpPr/>
          <p:nvPr/>
        </p:nvSpPr>
        <p:spPr>
          <a:xfrm>
            <a:off x="859536" y="4983480"/>
            <a:ext cx="1600200" cy="566928"/>
          </a:xfrm>
          <a:prstGeom prst="rect">
            <a:avLst/>
          </a:prstGeom>
          <a:noFill/>
          <a:ln/>
        </p:spPr>
        <p:txBody>
          <a:bodyPr wrap="square" lIns="0" tIns="0" rIns="0" bIns="0" rtlCol="0" anchor="ctr"/>
          <a:lstStyle/>
          <a:p>
            <a:pPr indent="0" marL="0">
              <a:buNone/>
            </a:pPr>
            <a:r>
              <a:rPr lang="en-US" sz="1100" b="1" dirty="0">
                <a:solidFill>
                  <a:srgbClr val="667088"/>
                </a:solidFill>
                <a:latin typeface="Yu Gothic" pitchFamily="34" charset="0"/>
                <a:ea typeface="Yu Gothic" pitchFamily="34" charset="-122"/>
                <a:cs typeface="Yu Gothic" pitchFamily="34" charset="-120"/>
              </a:rPr>
              <a:t>アップセル</a:t>
            </a:r>
            <a:endParaRPr lang="en-US" sz="1100" dirty="0"/>
          </a:p>
        </p:txBody>
      </p:sp>
      <p:sp>
        <p:nvSpPr>
          <p:cNvPr id="28" name="Text 26"/>
          <p:cNvSpPr/>
          <p:nvPr/>
        </p:nvSpPr>
        <p:spPr>
          <a:xfrm>
            <a:off x="2578608" y="4983480"/>
            <a:ext cx="6309360" cy="566928"/>
          </a:xfrm>
          <a:prstGeom prst="rect">
            <a:avLst/>
          </a:prstGeom>
          <a:noFill/>
          <a:ln/>
        </p:spPr>
        <p:txBody>
          <a:bodyPr wrap="square" lIns="0" tIns="0" rIns="0" bIns="0" rtlCol="0" anchor="ctr"/>
          <a:lstStyle/>
          <a:p>
            <a:pPr indent="0" marL="0">
              <a:buNone/>
            </a:pPr>
            <a:r>
              <a:rPr lang="en-US" sz="1250" dirty="0">
                <a:solidFill>
                  <a:srgbClr val="141A2E"/>
                </a:solidFill>
                <a:latin typeface="Yu Gothic" pitchFamily="34" charset="0"/>
                <a:ea typeface="Yu Gothic" pitchFamily="34" charset="-122"/>
                <a:cs typeface="Yu Gothic" pitchFamily="34" charset="-120"/>
              </a:rPr>
              <a:t>AI電話受付・AIチャット導入（他社SaaSの取次）</a:t>
            </a:r>
            <a:endParaRPr lang="en-US" sz="1250" dirty="0"/>
          </a:p>
        </p:txBody>
      </p:sp>
      <p:sp>
        <p:nvSpPr>
          <p:cNvPr id="29" name="Text 27"/>
          <p:cNvSpPr/>
          <p:nvPr/>
        </p:nvSpPr>
        <p:spPr>
          <a:xfrm>
            <a:off x="9217152" y="4983480"/>
            <a:ext cx="2103120" cy="566928"/>
          </a:xfrm>
          <a:prstGeom prst="rect">
            <a:avLst/>
          </a:prstGeom>
          <a:noFill/>
          <a:ln/>
        </p:spPr>
        <p:txBody>
          <a:bodyPr wrap="square" lIns="0" tIns="0" rIns="0" bIns="0" rtlCol="0" anchor="ctr"/>
          <a:lstStyle/>
          <a:p>
            <a:pPr algn="r" indent="0" marL="0">
              <a:buNone/>
            </a:pPr>
            <a:r>
              <a:rPr lang="en-US" sz="1350" b="1" dirty="0">
                <a:solidFill>
                  <a:srgbClr val="242B3D"/>
                </a:solidFill>
                <a:latin typeface="Yu Gothic" pitchFamily="34" charset="0"/>
                <a:ea typeface="Yu Gothic" pitchFamily="34" charset="-122"/>
                <a:cs typeface="Yu Gothic" pitchFamily="34" charset="-120"/>
              </a:rPr>
              <a:t>初期15万＋月1万</a:t>
            </a:r>
            <a:endParaRPr lang="en-US" sz="1350" dirty="0"/>
          </a:p>
        </p:txBody>
      </p:sp>
      <p:sp>
        <p:nvSpPr>
          <p:cNvPr id="30" name="Shape 28"/>
          <p:cNvSpPr/>
          <p:nvPr/>
        </p:nvSpPr>
        <p:spPr>
          <a:xfrm>
            <a:off x="566928" y="5623560"/>
            <a:ext cx="11027664" cy="566928"/>
          </a:xfrm>
          <a:prstGeom prst="roundRect">
            <a:avLst>
              <a:gd name="adj" fmla="val 8065"/>
            </a:avLst>
          </a:prstGeom>
          <a:solidFill>
            <a:srgbClr val="F1F4F9"/>
          </a:solidFill>
          <a:ln/>
        </p:spPr>
      </p:sp>
      <p:sp>
        <p:nvSpPr>
          <p:cNvPr id="31" name="Text 29"/>
          <p:cNvSpPr/>
          <p:nvPr/>
        </p:nvSpPr>
        <p:spPr>
          <a:xfrm>
            <a:off x="859536" y="5623560"/>
            <a:ext cx="1600200" cy="566928"/>
          </a:xfrm>
          <a:prstGeom prst="rect">
            <a:avLst/>
          </a:prstGeom>
          <a:noFill/>
          <a:ln/>
        </p:spPr>
        <p:txBody>
          <a:bodyPr wrap="square" lIns="0" tIns="0" rIns="0" bIns="0" rtlCol="0" anchor="ctr"/>
          <a:lstStyle/>
          <a:p>
            <a:pPr indent="0" marL="0">
              <a:buNone/>
            </a:pPr>
            <a:r>
              <a:rPr lang="en-US" sz="1100" b="1" dirty="0">
                <a:solidFill>
                  <a:srgbClr val="667088"/>
                </a:solidFill>
                <a:latin typeface="Yu Gothic" pitchFamily="34" charset="0"/>
                <a:ea typeface="Yu Gothic" pitchFamily="34" charset="-122"/>
                <a:cs typeface="Yu Gothic" pitchFamily="34" charset="-120"/>
              </a:rPr>
              <a:t>フェーズ2</a:t>
            </a:r>
            <a:endParaRPr lang="en-US" sz="1100" dirty="0"/>
          </a:p>
        </p:txBody>
      </p:sp>
      <p:sp>
        <p:nvSpPr>
          <p:cNvPr id="32" name="Text 30"/>
          <p:cNvSpPr/>
          <p:nvPr/>
        </p:nvSpPr>
        <p:spPr>
          <a:xfrm>
            <a:off x="2578608" y="5623560"/>
            <a:ext cx="6309360" cy="566928"/>
          </a:xfrm>
          <a:prstGeom prst="rect">
            <a:avLst/>
          </a:prstGeom>
          <a:noFill/>
          <a:ln/>
        </p:spPr>
        <p:txBody>
          <a:bodyPr wrap="square" lIns="0" tIns="0" rIns="0" bIns="0" rtlCol="0" anchor="ctr"/>
          <a:lstStyle/>
          <a:p>
            <a:pPr indent="0" marL="0">
              <a:buNone/>
            </a:pPr>
            <a:r>
              <a:rPr lang="en-US" sz="1250" dirty="0">
                <a:solidFill>
                  <a:srgbClr val="141A2E"/>
                </a:solidFill>
                <a:latin typeface="Yu Gothic" pitchFamily="34" charset="0"/>
                <a:ea typeface="Yu Gothic" pitchFamily="34" charset="-122"/>
                <a:cs typeface="Yu Gothic" pitchFamily="34" charset="-120"/>
              </a:rPr>
              <a:t>セルフサーブSaaS「AI可視性モニター」</a:t>
            </a:r>
            <a:endParaRPr lang="en-US" sz="1250" dirty="0"/>
          </a:p>
        </p:txBody>
      </p:sp>
      <p:sp>
        <p:nvSpPr>
          <p:cNvPr id="33" name="Text 31"/>
          <p:cNvSpPr/>
          <p:nvPr/>
        </p:nvSpPr>
        <p:spPr>
          <a:xfrm>
            <a:off x="9217152" y="5623560"/>
            <a:ext cx="2103120" cy="566928"/>
          </a:xfrm>
          <a:prstGeom prst="rect">
            <a:avLst/>
          </a:prstGeom>
          <a:noFill/>
          <a:ln/>
        </p:spPr>
        <p:txBody>
          <a:bodyPr wrap="square" lIns="0" tIns="0" rIns="0" bIns="0" rtlCol="0" anchor="ctr"/>
          <a:lstStyle/>
          <a:p>
            <a:pPr algn="r" indent="0" marL="0">
              <a:buNone/>
            </a:pPr>
            <a:r>
              <a:rPr lang="en-US" sz="1350" b="1" dirty="0">
                <a:solidFill>
                  <a:srgbClr val="242B3D"/>
                </a:solidFill>
                <a:latin typeface="Yu Gothic" pitchFamily="34" charset="0"/>
                <a:ea typeface="Yu Gothic" pitchFamily="34" charset="-122"/>
                <a:cs typeface="Yu Gothic" pitchFamily="34" charset="-120"/>
              </a:rPr>
              <a:t>月 9,800円〜</a:t>
            </a:r>
            <a:endParaRPr lang="en-US" sz="1350" dirty="0"/>
          </a:p>
        </p:txBody>
      </p:sp>
      <p:sp>
        <p:nvSpPr>
          <p:cNvPr id="34" name="Text 32"/>
          <p:cNvSpPr/>
          <p:nvPr/>
        </p:nvSpPr>
        <p:spPr>
          <a:xfrm>
            <a:off x="566928" y="6263640"/>
            <a:ext cx="10881360" cy="329184"/>
          </a:xfrm>
          <a:prstGeom prst="rect">
            <a:avLst/>
          </a:prstGeom>
          <a:noFill/>
          <a:ln/>
        </p:spPr>
        <p:txBody>
          <a:bodyPr wrap="square" lIns="0" tIns="0" rIns="0" bIns="0" rtlCol="0" anchor="ctr"/>
          <a:lstStyle/>
          <a:p>
            <a:pPr indent="0" marL="0">
              <a:buNone/>
            </a:pPr>
            <a:r>
              <a:rPr lang="en-US" sz="1200" dirty="0">
                <a:solidFill>
                  <a:srgbClr val="667088"/>
                </a:solidFill>
                <a:latin typeface="Yu Gothic" pitchFamily="34" charset="0"/>
                <a:ea typeface="Yu Gothic" pitchFamily="34" charset="-122"/>
                <a:cs typeface="Yu Gothic" pitchFamily="34" charset="-120"/>
              </a:rPr>
              <a:t>無料診断がそのままアウトバウンド営業になり、単発98,000円が月額契約への入口になる。</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A2E"/>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9</a:t>
            </a:r>
            <a:endParaRPr lang="en-US" sz="130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A9BEE3"/>
                </a:solidFill>
                <a:latin typeface="Yu Gothic" pitchFamily="34" charset="0"/>
                <a:ea typeface="Yu Gothic" pitchFamily="34" charset="-122"/>
                <a:cs typeface="Yu Gothic" pitchFamily="34" charset="-120"/>
              </a:rPr>
              <a:t>UNIT ECONOMICS</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粗利率96.6%、損益分岐は3社</a:t>
            </a:r>
            <a:endParaRPr lang="en-US" sz="3200" dirty="0"/>
          </a:p>
        </p:txBody>
      </p:sp>
      <p:sp>
        <p:nvSpPr>
          <p:cNvPr id="6" name="Shape 4"/>
          <p:cNvSpPr/>
          <p:nvPr/>
        </p:nvSpPr>
        <p:spPr>
          <a:xfrm>
            <a:off x="566928" y="1920240"/>
            <a:ext cx="3529584" cy="2286000"/>
          </a:xfrm>
          <a:prstGeom prst="roundRect">
            <a:avLst>
              <a:gd name="adj" fmla="val 2400"/>
            </a:avLst>
          </a:prstGeom>
          <a:solidFill>
            <a:srgbClr val="212C48"/>
          </a:solidFill>
          <a:ln/>
        </p:spPr>
      </p:sp>
      <p:sp>
        <p:nvSpPr>
          <p:cNvPr id="7" name="Text 5"/>
          <p:cNvSpPr/>
          <p:nvPr/>
        </p:nvSpPr>
        <p:spPr>
          <a:xfrm>
            <a:off x="841248" y="2157984"/>
            <a:ext cx="2980944" cy="768096"/>
          </a:xfrm>
          <a:prstGeom prst="rect">
            <a:avLst/>
          </a:prstGeom>
          <a:noFill/>
          <a:ln/>
        </p:spPr>
        <p:txBody>
          <a:bodyPr wrap="square" lIns="0" tIns="0" rIns="0" bIns="0" rtlCol="0" anchor="ctr"/>
          <a:lstStyle/>
          <a:p>
            <a:pPr indent="0" marL="0">
              <a:buNone/>
            </a:pPr>
            <a:r>
              <a:rPr lang="en-US" sz="3000" b="1" dirty="0">
                <a:solidFill>
                  <a:srgbClr val="E0A03A"/>
                </a:solidFill>
                <a:latin typeface="Yu Gothic" pitchFamily="34" charset="0"/>
                <a:ea typeface="Yu Gothic" pitchFamily="34" charset="-122"/>
                <a:cs typeface="Yu Gothic" pitchFamily="34" charset="-120"/>
              </a:rPr>
              <a:t>5,000円</a:t>
            </a:r>
            <a:endParaRPr lang="en-US" sz="3000" dirty="0"/>
          </a:p>
        </p:txBody>
      </p:sp>
      <p:sp>
        <p:nvSpPr>
          <p:cNvPr id="8" name="Text 6"/>
          <p:cNvSpPr/>
          <p:nvPr/>
        </p:nvSpPr>
        <p:spPr>
          <a:xfrm>
            <a:off x="841248" y="2944368"/>
            <a:ext cx="2980944"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1社あたり月次原価</a:t>
            </a:r>
            <a:endParaRPr lang="en-US" sz="1300" dirty="0"/>
          </a:p>
        </p:txBody>
      </p:sp>
      <p:sp>
        <p:nvSpPr>
          <p:cNvPr id="9" name="Text 7"/>
          <p:cNvSpPr/>
          <p:nvPr/>
        </p:nvSpPr>
        <p:spPr>
          <a:xfrm>
            <a:off x="841248" y="3310128"/>
            <a:ext cx="2980944" cy="713232"/>
          </a:xfrm>
          <a:prstGeom prst="rect">
            <a:avLst/>
          </a:prstGeom>
          <a:noFill/>
          <a:ln/>
        </p:spPr>
        <p:txBody>
          <a:bodyPr wrap="square" lIns="0" tIns="0" rIns="0" bIns="0" rtlCol="0" anchor="ctr"/>
          <a:lstStyle/>
          <a:p>
            <a:pPr indent="0" marL="0">
              <a:lnSpc>
                <a:spcPts val="1800"/>
              </a:lnSpc>
              <a:buNone/>
            </a:pPr>
            <a:r>
              <a:rPr lang="en-US" sz="1150" dirty="0">
                <a:solidFill>
                  <a:srgbClr val="A9BEE3"/>
                </a:solidFill>
                <a:latin typeface="Yu Gothic" pitchFamily="34" charset="0"/>
                <a:ea typeface="Yu Gothic" pitchFamily="34" charset="-122"/>
                <a:cs typeface="Yu Gothic" pitchFamily="34" charset="-120"/>
              </a:rPr>
              <a:t>LLM API 3,000円 ＋ 追跡基盤 1,500円</a:t>
            </a:r>
            <a:endParaRPr lang="en-US" sz="1150" dirty="0"/>
          </a:p>
          <a:p>
            <a:pPr indent="0" marL="0">
              <a:lnSpc>
                <a:spcPts val="1800"/>
              </a:lnSpc>
              <a:buNone/>
            </a:pPr>
            <a:r>
              <a:rPr lang="en-US" sz="1150" dirty="0">
                <a:solidFill>
                  <a:srgbClr val="A9BEE3"/>
                </a:solidFill>
                <a:latin typeface="Yu Gothic" pitchFamily="34" charset="0"/>
                <a:ea typeface="Yu Gothic" pitchFamily="34" charset="-122"/>
                <a:cs typeface="Yu Gothic" pitchFamily="34" charset="-120"/>
              </a:rPr>
              <a:t>＋ ホスティング 500円</a:t>
            </a:r>
            <a:endParaRPr lang="en-US" sz="1150" dirty="0"/>
          </a:p>
        </p:txBody>
      </p:sp>
      <p:sp>
        <p:nvSpPr>
          <p:cNvPr id="10" name="Shape 8"/>
          <p:cNvSpPr/>
          <p:nvPr/>
        </p:nvSpPr>
        <p:spPr>
          <a:xfrm>
            <a:off x="4334256" y="1920240"/>
            <a:ext cx="3529584" cy="2286000"/>
          </a:xfrm>
          <a:prstGeom prst="roundRect">
            <a:avLst>
              <a:gd name="adj" fmla="val 2400"/>
            </a:avLst>
          </a:prstGeom>
          <a:solidFill>
            <a:srgbClr val="212C48"/>
          </a:solidFill>
          <a:ln/>
        </p:spPr>
      </p:sp>
      <p:sp>
        <p:nvSpPr>
          <p:cNvPr id="11" name="Text 9"/>
          <p:cNvSpPr/>
          <p:nvPr/>
        </p:nvSpPr>
        <p:spPr>
          <a:xfrm>
            <a:off x="4608576" y="2157984"/>
            <a:ext cx="2980944" cy="768096"/>
          </a:xfrm>
          <a:prstGeom prst="rect">
            <a:avLst/>
          </a:prstGeom>
          <a:noFill/>
          <a:ln/>
        </p:spPr>
        <p:txBody>
          <a:bodyPr wrap="square" lIns="0" tIns="0" rIns="0" bIns="0" rtlCol="0" anchor="ctr"/>
          <a:lstStyle/>
          <a:p>
            <a:pPr indent="0" marL="0">
              <a:buNone/>
            </a:pPr>
            <a:r>
              <a:rPr lang="en-US" sz="3000" b="1" dirty="0">
                <a:solidFill>
                  <a:srgbClr val="E0A03A"/>
                </a:solidFill>
                <a:latin typeface="Yu Gothic" pitchFamily="34" charset="0"/>
                <a:ea typeface="Yu Gothic" pitchFamily="34" charset="-122"/>
                <a:cs typeface="Yu Gothic" pitchFamily="34" charset="-120"/>
              </a:rPr>
              <a:t>144,800円</a:t>
            </a:r>
            <a:endParaRPr lang="en-US" sz="3000" dirty="0"/>
          </a:p>
        </p:txBody>
      </p:sp>
      <p:sp>
        <p:nvSpPr>
          <p:cNvPr id="12" name="Text 10"/>
          <p:cNvSpPr/>
          <p:nvPr/>
        </p:nvSpPr>
        <p:spPr>
          <a:xfrm>
            <a:off x="4608576" y="2944368"/>
            <a:ext cx="2980944"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Standard 1社の月次粗利</a:t>
            </a:r>
            <a:endParaRPr lang="en-US" sz="1300" dirty="0"/>
          </a:p>
        </p:txBody>
      </p:sp>
      <p:sp>
        <p:nvSpPr>
          <p:cNvPr id="13" name="Text 11"/>
          <p:cNvSpPr/>
          <p:nvPr/>
        </p:nvSpPr>
        <p:spPr>
          <a:xfrm>
            <a:off x="4608576" y="3310128"/>
            <a:ext cx="2980944" cy="713232"/>
          </a:xfrm>
          <a:prstGeom prst="rect">
            <a:avLst/>
          </a:prstGeom>
          <a:noFill/>
          <a:ln/>
        </p:spPr>
        <p:txBody>
          <a:bodyPr wrap="square" lIns="0" tIns="0" rIns="0" bIns="0" rtlCol="0" anchor="ctr"/>
          <a:lstStyle/>
          <a:p>
            <a:pPr indent="0" marL="0">
              <a:lnSpc>
                <a:spcPts val="1800"/>
              </a:lnSpc>
              <a:buNone/>
            </a:pPr>
            <a:r>
              <a:rPr lang="en-US" sz="1150" dirty="0">
                <a:solidFill>
                  <a:srgbClr val="A9BEE3"/>
                </a:solidFill>
                <a:latin typeface="Yu Gothic" pitchFamily="34" charset="0"/>
                <a:ea typeface="Yu Gothic" pitchFamily="34" charset="-122"/>
                <a:cs typeface="Yu Gothic" pitchFamily="34" charset="-120"/>
              </a:rPr>
              <a:t>売上149,800円 − 原価5,000円</a:t>
            </a:r>
            <a:endParaRPr lang="en-US" sz="1150" dirty="0"/>
          </a:p>
          <a:p>
            <a:pPr indent="0" marL="0">
              <a:lnSpc>
                <a:spcPts val="1800"/>
              </a:lnSpc>
              <a:buNone/>
            </a:pPr>
            <a:r>
              <a:rPr lang="en-US" sz="1150" dirty="0">
                <a:solidFill>
                  <a:srgbClr val="A9BEE3"/>
                </a:solidFill>
                <a:latin typeface="Yu Gothic" pitchFamily="34" charset="0"/>
                <a:ea typeface="Yu Gothic" pitchFamily="34" charset="-122"/>
                <a:cs typeface="Yu Gothic" pitchFamily="34" charset="-120"/>
              </a:rPr>
              <a:t>粗利率 96.6%</a:t>
            </a:r>
            <a:endParaRPr lang="en-US" sz="1150" dirty="0"/>
          </a:p>
        </p:txBody>
      </p:sp>
      <p:sp>
        <p:nvSpPr>
          <p:cNvPr id="14" name="Shape 12"/>
          <p:cNvSpPr/>
          <p:nvPr/>
        </p:nvSpPr>
        <p:spPr>
          <a:xfrm>
            <a:off x="8101584" y="1920240"/>
            <a:ext cx="3529584" cy="2286000"/>
          </a:xfrm>
          <a:prstGeom prst="roundRect">
            <a:avLst>
              <a:gd name="adj" fmla="val 2400"/>
            </a:avLst>
          </a:prstGeom>
          <a:solidFill>
            <a:srgbClr val="212C48"/>
          </a:solidFill>
          <a:ln/>
        </p:spPr>
      </p:sp>
      <p:sp>
        <p:nvSpPr>
          <p:cNvPr id="15" name="Text 13"/>
          <p:cNvSpPr/>
          <p:nvPr/>
        </p:nvSpPr>
        <p:spPr>
          <a:xfrm>
            <a:off x="8375904" y="2157984"/>
            <a:ext cx="2980944" cy="768096"/>
          </a:xfrm>
          <a:prstGeom prst="rect">
            <a:avLst/>
          </a:prstGeom>
          <a:noFill/>
          <a:ln/>
        </p:spPr>
        <p:txBody>
          <a:bodyPr wrap="square" lIns="0" tIns="0" rIns="0" bIns="0" rtlCol="0" anchor="ctr"/>
          <a:lstStyle/>
          <a:p>
            <a:pPr indent="0" marL="0">
              <a:buNone/>
            </a:pPr>
            <a:r>
              <a:rPr lang="en-US" sz="3000" b="1" dirty="0">
                <a:solidFill>
                  <a:srgbClr val="E0A03A"/>
                </a:solidFill>
                <a:latin typeface="Yu Gothic" pitchFamily="34" charset="0"/>
                <a:ea typeface="Yu Gothic" pitchFamily="34" charset="-122"/>
                <a:cs typeface="Yu Gothic" pitchFamily="34" charset="-120"/>
              </a:rPr>
              <a:t>3社</a:t>
            </a:r>
            <a:endParaRPr lang="en-US" sz="3000" dirty="0"/>
          </a:p>
        </p:txBody>
      </p:sp>
      <p:sp>
        <p:nvSpPr>
          <p:cNvPr id="16" name="Text 14"/>
          <p:cNvSpPr/>
          <p:nvPr/>
        </p:nvSpPr>
        <p:spPr>
          <a:xfrm>
            <a:off x="8375904" y="2944368"/>
            <a:ext cx="2980944"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損益分岐点</a:t>
            </a:r>
            <a:endParaRPr lang="en-US" sz="1300" dirty="0"/>
          </a:p>
        </p:txBody>
      </p:sp>
      <p:sp>
        <p:nvSpPr>
          <p:cNvPr id="17" name="Text 15"/>
          <p:cNvSpPr/>
          <p:nvPr/>
        </p:nvSpPr>
        <p:spPr>
          <a:xfrm>
            <a:off x="8375904" y="3310128"/>
            <a:ext cx="2980944" cy="713232"/>
          </a:xfrm>
          <a:prstGeom prst="rect">
            <a:avLst/>
          </a:prstGeom>
          <a:noFill/>
          <a:ln/>
        </p:spPr>
        <p:txBody>
          <a:bodyPr wrap="square" lIns="0" tIns="0" rIns="0" bIns="0" rtlCol="0" anchor="ctr"/>
          <a:lstStyle/>
          <a:p>
            <a:pPr indent="0" marL="0">
              <a:lnSpc>
                <a:spcPts val="1800"/>
              </a:lnSpc>
              <a:buNone/>
            </a:pPr>
            <a:r>
              <a:rPr lang="en-US" sz="1150" dirty="0">
                <a:solidFill>
                  <a:srgbClr val="A9BEE3"/>
                </a:solidFill>
                <a:latin typeface="Yu Gothic" pitchFamily="34" charset="0"/>
                <a:ea typeface="Yu Gothic" pitchFamily="34" charset="-122"/>
                <a:cs typeface="Yu Gothic" pitchFamily="34" charset="-120"/>
              </a:rPr>
              <a:t>固定費は月3.5万円のみ。</a:t>
            </a:r>
            <a:endParaRPr lang="en-US" sz="1150" dirty="0"/>
          </a:p>
          <a:p>
            <a:pPr indent="0" marL="0">
              <a:lnSpc>
                <a:spcPts val="1800"/>
              </a:lnSpc>
              <a:buNone/>
            </a:pPr>
            <a:r>
              <a:rPr lang="en-US" sz="1150" dirty="0">
                <a:solidFill>
                  <a:srgbClr val="A9BEE3"/>
                </a:solidFill>
                <a:latin typeface="Yu Gothic" pitchFamily="34" charset="0"/>
                <a:ea typeface="Yu Gothic" pitchFamily="34" charset="-122"/>
                <a:cs typeface="Yu Gothic" pitchFamily="34" charset="-120"/>
              </a:rPr>
              <a:t>10社で月粗利 約145万円</a:t>
            </a:r>
            <a:endParaRPr lang="en-US" sz="1150" dirty="0"/>
          </a:p>
        </p:txBody>
      </p:sp>
      <p:sp>
        <p:nvSpPr>
          <p:cNvPr id="18" name="Shape 16"/>
          <p:cNvSpPr/>
          <p:nvPr/>
        </p:nvSpPr>
        <p:spPr>
          <a:xfrm>
            <a:off x="566928" y="4517136"/>
            <a:ext cx="11027664" cy="1060704"/>
          </a:xfrm>
          <a:prstGeom prst="roundRect">
            <a:avLst>
              <a:gd name="adj" fmla="val 5172"/>
            </a:avLst>
          </a:prstGeom>
          <a:solidFill>
            <a:srgbClr val="2E3A5A"/>
          </a:solidFill>
          <a:ln/>
        </p:spPr>
      </p:sp>
      <p:sp>
        <p:nvSpPr>
          <p:cNvPr id="19" name="Text 17"/>
          <p:cNvSpPr/>
          <p:nvPr/>
        </p:nvSpPr>
        <p:spPr>
          <a:xfrm>
            <a:off x="877824" y="4517136"/>
            <a:ext cx="10405872" cy="1060704"/>
          </a:xfrm>
          <a:prstGeom prst="rect">
            <a:avLst/>
          </a:prstGeom>
          <a:noFill/>
          <a:ln/>
        </p:spPr>
        <p:txBody>
          <a:bodyPr wrap="square" lIns="0" tIns="0" rIns="0" bIns="0" rtlCol="0" anchor="ctr"/>
          <a:lstStyle/>
          <a:p>
            <a:pPr indent="0" marL="0">
              <a:lnSpc>
                <a:spcPts val="2400"/>
              </a:lnSpc>
              <a:buNone/>
            </a:pPr>
            <a:r>
              <a:rPr lang="en-US" sz="1450" b="1" dirty="0">
                <a:solidFill>
                  <a:srgbClr val="FFFFFF"/>
                </a:solidFill>
                <a:latin typeface="Yu Gothic" pitchFamily="34" charset="0"/>
                <a:ea typeface="Yu Gothic" pitchFamily="34" charset="-122"/>
                <a:cs typeface="Yu Gothic" pitchFamily="34" charset="-120"/>
              </a:rPr>
              <a:t>原価がほぼAPI従量課金だけなので、契約数が増えても人件費が増えない。この構造が「従業員不在で年商1億」を可能にする。</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050" b="1" dirty="0">
                <a:solidFill>
                  <a:srgbClr val="141A2E"/>
                </a:solidFill>
                <a:latin typeface="Yu Gothic" pitchFamily="34" charset="0"/>
                <a:ea typeface="Yu Gothic" pitchFamily="34" charset="-122"/>
                <a:cs typeface="Yu Gothic" pitchFamily="34" charset="-120"/>
              </a:rPr>
              <a:t>10</a:t>
            </a:r>
            <a:endParaRPr lang="en-US" sz="105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AUTOMATION</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「従業員不在」を成立させる5レイヤー</a:t>
            </a:r>
            <a:endParaRPr lang="en-US" sz="3200" dirty="0"/>
          </a:p>
        </p:txBody>
      </p:sp>
      <p:sp>
        <p:nvSpPr>
          <p:cNvPr id="6" name="Shape 4"/>
          <p:cNvSpPr/>
          <p:nvPr/>
        </p:nvSpPr>
        <p:spPr>
          <a:xfrm>
            <a:off x="566928" y="1783080"/>
            <a:ext cx="11027664" cy="676656"/>
          </a:xfrm>
          <a:prstGeom prst="roundRect">
            <a:avLst>
              <a:gd name="adj" fmla="val 6757"/>
            </a:avLst>
          </a:prstGeom>
          <a:solidFill>
            <a:srgbClr val="F1F4F9"/>
          </a:solidFill>
          <a:ln/>
        </p:spPr>
      </p:sp>
      <p:sp>
        <p:nvSpPr>
          <p:cNvPr id="7" name="Shape 5"/>
          <p:cNvSpPr/>
          <p:nvPr/>
        </p:nvSpPr>
        <p:spPr>
          <a:xfrm>
            <a:off x="822960" y="1938528"/>
            <a:ext cx="566928" cy="365760"/>
          </a:xfrm>
          <a:prstGeom prst="roundRect">
            <a:avLst>
              <a:gd name="adj" fmla="val 12500"/>
            </a:avLst>
          </a:prstGeom>
          <a:solidFill>
            <a:srgbClr val="E0A03A"/>
          </a:solidFill>
          <a:ln/>
        </p:spPr>
      </p:sp>
      <p:sp>
        <p:nvSpPr>
          <p:cNvPr id="8" name="Text 6"/>
          <p:cNvSpPr/>
          <p:nvPr/>
        </p:nvSpPr>
        <p:spPr>
          <a:xfrm>
            <a:off x="822960" y="1938528"/>
            <a:ext cx="566928" cy="365760"/>
          </a:xfrm>
          <a:prstGeom prst="rect">
            <a:avLst/>
          </a:prstGeom>
          <a:noFill/>
          <a:ln/>
        </p:spPr>
        <p:txBody>
          <a:bodyPr wrap="square" lIns="0" tIns="0" rIns="0" bIns="0" rtlCol="0" anchor="ctr"/>
          <a:lstStyle/>
          <a:p>
            <a:pPr algn="ctr" indent="0" marL="0">
              <a:buNone/>
            </a:pPr>
            <a:r>
              <a:rPr lang="en-US" sz="1250" b="1" dirty="0">
                <a:solidFill>
                  <a:srgbClr val="141A2E"/>
                </a:solidFill>
                <a:latin typeface="Yu Gothic" pitchFamily="34" charset="0"/>
                <a:ea typeface="Yu Gothic" pitchFamily="34" charset="-122"/>
                <a:cs typeface="Yu Gothic" pitchFamily="34" charset="-120"/>
              </a:rPr>
              <a:t>L1</a:t>
            </a:r>
            <a:endParaRPr lang="en-US" sz="1250" dirty="0"/>
          </a:p>
        </p:txBody>
      </p:sp>
      <p:sp>
        <p:nvSpPr>
          <p:cNvPr id="9" name="Text 7"/>
          <p:cNvSpPr/>
          <p:nvPr/>
        </p:nvSpPr>
        <p:spPr>
          <a:xfrm>
            <a:off x="1536192" y="1783080"/>
            <a:ext cx="914400" cy="676656"/>
          </a:xfrm>
          <a:prstGeom prst="rect">
            <a:avLst/>
          </a:prstGeom>
          <a:noFill/>
          <a:ln/>
        </p:spPr>
        <p:txBody>
          <a:bodyPr wrap="square" lIns="0" tIns="0" rIns="0" bIns="0" rtlCol="0" anchor="ctr"/>
          <a:lstStyle/>
          <a:p>
            <a:pPr indent="0" marL="0">
              <a:buNone/>
            </a:pPr>
            <a:r>
              <a:rPr lang="en-US" sz="1600" b="1" dirty="0">
                <a:solidFill>
                  <a:srgbClr val="141A2E"/>
                </a:solidFill>
                <a:latin typeface="Yu Gothic" pitchFamily="34" charset="0"/>
                <a:ea typeface="Yu Gothic" pitchFamily="34" charset="-122"/>
                <a:cs typeface="Yu Gothic" pitchFamily="34" charset="-120"/>
              </a:rPr>
              <a:t>収集</a:t>
            </a:r>
            <a:endParaRPr lang="en-US" sz="1600" dirty="0"/>
          </a:p>
        </p:txBody>
      </p:sp>
      <p:sp>
        <p:nvSpPr>
          <p:cNvPr id="10" name="Text 8"/>
          <p:cNvSpPr/>
          <p:nvPr/>
        </p:nvSpPr>
        <p:spPr>
          <a:xfrm>
            <a:off x="2487168" y="1783080"/>
            <a:ext cx="8833104" cy="676656"/>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業種別プロンプト200〜300問を各AI検索に定期投入し、引用有無・言及順位・引用元URLを記録</a:t>
            </a:r>
            <a:endParaRPr lang="en-US" sz="1200" dirty="0"/>
          </a:p>
        </p:txBody>
      </p:sp>
      <p:sp>
        <p:nvSpPr>
          <p:cNvPr id="11" name="Shape 9"/>
          <p:cNvSpPr/>
          <p:nvPr/>
        </p:nvSpPr>
        <p:spPr>
          <a:xfrm>
            <a:off x="566928" y="2532888"/>
            <a:ext cx="11027664" cy="676656"/>
          </a:xfrm>
          <a:prstGeom prst="roundRect">
            <a:avLst>
              <a:gd name="adj" fmla="val 6757"/>
            </a:avLst>
          </a:prstGeom>
          <a:solidFill>
            <a:srgbClr val="F1F4F9"/>
          </a:solidFill>
          <a:ln/>
        </p:spPr>
      </p:sp>
      <p:sp>
        <p:nvSpPr>
          <p:cNvPr id="12" name="Shape 10"/>
          <p:cNvSpPr/>
          <p:nvPr/>
        </p:nvSpPr>
        <p:spPr>
          <a:xfrm>
            <a:off x="822960" y="2688336"/>
            <a:ext cx="566928" cy="365760"/>
          </a:xfrm>
          <a:prstGeom prst="roundRect">
            <a:avLst>
              <a:gd name="adj" fmla="val 12500"/>
            </a:avLst>
          </a:prstGeom>
          <a:solidFill>
            <a:srgbClr val="E0A03A"/>
          </a:solidFill>
          <a:ln/>
        </p:spPr>
      </p:sp>
      <p:sp>
        <p:nvSpPr>
          <p:cNvPr id="13" name="Text 11"/>
          <p:cNvSpPr/>
          <p:nvPr/>
        </p:nvSpPr>
        <p:spPr>
          <a:xfrm>
            <a:off x="822960" y="2688336"/>
            <a:ext cx="566928" cy="365760"/>
          </a:xfrm>
          <a:prstGeom prst="rect">
            <a:avLst/>
          </a:prstGeom>
          <a:noFill/>
          <a:ln/>
        </p:spPr>
        <p:txBody>
          <a:bodyPr wrap="square" lIns="0" tIns="0" rIns="0" bIns="0" rtlCol="0" anchor="ctr"/>
          <a:lstStyle/>
          <a:p>
            <a:pPr algn="ctr" indent="0" marL="0">
              <a:buNone/>
            </a:pPr>
            <a:r>
              <a:rPr lang="en-US" sz="1250" b="1" dirty="0">
                <a:solidFill>
                  <a:srgbClr val="141A2E"/>
                </a:solidFill>
                <a:latin typeface="Yu Gothic" pitchFamily="34" charset="0"/>
                <a:ea typeface="Yu Gothic" pitchFamily="34" charset="-122"/>
                <a:cs typeface="Yu Gothic" pitchFamily="34" charset="-120"/>
              </a:rPr>
              <a:t>L2</a:t>
            </a:r>
            <a:endParaRPr lang="en-US" sz="1250" dirty="0"/>
          </a:p>
        </p:txBody>
      </p:sp>
      <p:sp>
        <p:nvSpPr>
          <p:cNvPr id="14" name="Text 12"/>
          <p:cNvSpPr/>
          <p:nvPr/>
        </p:nvSpPr>
        <p:spPr>
          <a:xfrm>
            <a:off x="1536192" y="2532888"/>
            <a:ext cx="914400" cy="676656"/>
          </a:xfrm>
          <a:prstGeom prst="rect">
            <a:avLst/>
          </a:prstGeom>
          <a:noFill/>
          <a:ln/>
        </p:spPr>
        <p:txBody>
          <a:bodyPr wrap="square" lIns="0" tIns="0" rIns="0" bIns="0" rtlCol="0" anchor="ctr"/>
          <a:lstStyle/>
          <a:p>
            <a:pPr indent="0" marL="0">
              <a:buNone/>
            </a:pPr>
            <a:r>
              <a:rPr lang="en-US" sz="1600" b="1" dirty="0">
                <a:solidFill>
                  <a:srgbClr val="141A2E"/>
                </a:solidFill>
                <a:latin typeface="Yu Gothic" pitchFamily="34" charset="0"/>
                <a:ea typeface="Yu Gothic" pitchFamily="34" charset="-122"/>
                <a:cs typeface="Yu Gothic" pitchFamily="34" charset="-120"/>
              </a:rPr>
              <a:t>分析</a:t>
            </a:r>
            <a:endParaRPr lang="en-US" sz="1600" dirty="0"/>
          </a:p>
        </p:txBody>
      </p:sp>
      <p:sp>
        <p:nvSpPr>
          <p:cNvPr id="15" name="Text 13"/>
          <p:cNvSpPr/>
          <p:nvPr/>
        </p:nvSpPr>
        <p:spPr>
          <a:xfrm>
            <a:off x="2487168" y="2532888"/>
            <a:ext cx="8833104" cy="676656"/>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LLMに「なぜ引用されないか」を構造化診断させ、不足トピック・構造化データ不備をJSON出力</a:t>
            </a:r>
            <a:endParaRPr lang="en-US" sz="1200" dirty="0"/>
          </a:p>
        </p:txBody>
      </p:sp>
      <p:sp>
        <p:nvSpPr>
          <p:cNvPr id="16" name="Shape 14"/>
          <p:cNvSpPr/>
          <p:nvPr/>
        </p:nvSpPr>
        <p:spPr>
          <a:xfrm>
            <a:off x="566928" y="3282696"/>
            <a:ext cx="11027664" cy="676656"/>
          </a:xfrm>
          <a:prstGeom prst="roundRect">
            <a:avLst>
              <a:gd name="adj" fmla="val 6757"/>
            </a:avLst>
          </a:prstGeom>
          <a:solidFill>
            <a:srgbClr val="F1F4F9"/>
          </a:solidFill>
          <a:ln/>
        </p:spPr>
      </p:sp>
      <p:sp>
        <p:nvSpPr>
          <p:cNvPr id="17" name="Shape 15"/>
          <p:cNvSpPr/>
          <p:nvPr/>
        </p:nvSpPr>
        <p:spPr>
          <a:xfrm>
            <a:off x="822960" y="3438144"/>
            <a:ext cx="566928" cy="365760"/>
          </a:xfrm>
          <a:prstGeom prst="roundRect">
            <a:avLst>
              <a:gd name="adj" fmla="val 12500"/>
            </a:avLst>
          </a:prstGeom>
          <a:solidFill>
            <a:srgbClr val="E0A03A"/>
          </a:solidFill>
          <a:ln/>
        </p:spPr>
      </p:sp>
      <p:sp>
        <p:nvSpPr>
          <p:cNvPr id="18" name="Text 16"/>
          <p:cNvSpPr/>
          <p:nvPr/>
        </p:nvSpPr>
        <p:spPr>
          <a:xfrm>
            <a:off x="822960" y="3438144"/>
            <a:ext cx="566928" cy="365760"/>
          </a:xfrm>
          <a:prstGeom prst="rect">
            <a:avLst/>
          </a:prstGeom>
          <a:noFill/>
          <a:ln/>
        </p:spPr>
        <p:txBody>
          <a:bodyPr wrap="square" lIns="0" tIns="0" rIns="0" bIns="0" rtlCol="0" anchor="ctr"/>
          <a:lstStyle/>
          <a:p>
            <a:pPr algn="ctr" indent="0" marL="0">
              <a:buNone/>
            </a:pPr>
            <a:r>
              <a:rPr lang="en-US" sz="1250" b="1" dirty="0">
                <a:solidFill>
                  <a:srgbClr val="141A2E"/>
                </a:solidFill>
                <a:latin typeface="Yu Gothic" pitchFamily="34" charset="0"/>
                <a:ea typeface="Yu Gothic" pitchFamily="34" charset="-122"/>
                <a:cs typeface="Yu Gothic" pitchFamily="34" charset="-120"/>
              </a:rPr>
              <a:t>L3</a:t>
            </a:r>
            <a:endParaRPr lang="en-US" sz="1250" dirty="0"/>
          </a:p>
        </p:txBody>
      </p:sp>
      <p:sp>
        <p:nvSpPr>
          <p:cNvPr id="19" name="Text 17"/>
          <p:cNvSpPr/>
          <p:nvPr/>
        </p:nvSpPr>
        <p:spPr>
          <a:xfrm>
            <a:off x="1536192" y="3282696"/>
            <a:ext cx="914400" cy="676656"/>
          </a:xfrm>
          <a:prstGeom prst="rect">
            <a:avLst/>
          </a:prstGeom>
          <a:noFill/>
          <a:ln/>
        </p:spPr>
        <p:txBody>
          <a:bodyPr wrap="square" lIns="0" tIns="0" rIns="0" bIns="0" rtlCol="0" anchor="ctr"/>
          <a:lstStyle/>
          <a:p>
            <a:pPr indent="0" marL="0">
              <a:buNone/>
            </a:pPr>
            <a:r>
              <a:rPr lang="en-US" sz="1600" b="1" dirty="0">
                <a:solidFill>
                  <a:srgbClr val="141A2E"/>
                </a:solidFill>
                <a:latin typeface="Yu Gothic" pitchFamily="34" charset="0"/>
                <a:ea typeface="Yu Gothic" pitchFamily="34" charset="-122"/>
                <a:cs typeface="Yu Gothic" pitchFamily="34" charset="-120"/>
              </a:rPr>
              <a:t>生成</a:t>
            </a:r>
            <a:endParaRPr lang="en-US" sz="1600" dirty="0"/>
          </a:p>
        </p:txBody>
      </p:sp>
      <p:sp>
        <p:nvSpPr>
          <p:cNvPr id="20" name="Text 18"/>
          <p:cNvSpPr/>
          <p:nvPr/>
        </p:nvSpPr>
        <p:spPr>
          <a:xfrm>
            <a:off x="2487168" y="3282696"/>
            <a:ext cx="8833104" cy="676656"/>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FAQ・用語定義・比較表の草案、JSON-LD、Googleビジネスプロフィール投稿文を自動生成</a:t>
            </a:r>
            <a:endParaRPr lang="en-US" sz="1200" dirty="0"/>
          </a:p>
        </p:txBody>
      </p:sp>
      <p:sp>
        <p:nvSpPr>
          <p:cNvPr id="21" name="Shape 19"/>
          <p:cNvSpPr/>
          <p:nvPr/>
        </p:nvSpPr>
        <p:spPr>
          <a:xfrm>
            <a:off x="566928" y="4032504"/>
            <a:ext cx="11027664" cy="676656"/>
          </a:xfrm>
          <a:prstGeom prst="roundRect">
            <a:avLst>
              <a:gd name="adj" fmla="val 6757"/>
            </a:avLst>
          </a:prstGeom>
          <a:solidFill>
            <a:srgbClr val="F1F4F9"/>
          </a:solidFill>
          <a:ln/>
        </p:spPr>
      </p:sp>
      <p:sp>
        <p:nvSpPr>
          <p:cNvPr id="22" name="Shape 20"/>
          <p:cNvSpPr/>
          <p:nvPr/>
        </p:nvSpPr>
        <p:spPr>
          <a:xfrm>
            <a:off x="822960" y="4187952"/>
            <a:ext cx="566928" cy="365760"/>
          </a:xfrm>
          <a:prstGeom prst="roundRect">
            <a:avLst>
              <a:gd name="adj" fmla="val 12500"/>
            </a:avLst>
          </a:prstGeom>
          <a:solidFill>
            <a:srgbClr val="E0A03A"/>
          </a:solidFill>
          <a:ln/>
        </p:spPr>
      </p:sp>
      <p:sp>
        <p:nvSpPr>
          <p:cNvPr id="23" name="Text 21"/>
          <p:cNvSpPr/>
          <p:nvPr/>
        </p:nvSpPr>
        <p:spPr>
          <a:xfrm>
            <a:off x="822960" y="4187952"/>
            <a:ext cx="566928" cy="365760"/>
          </a:xfrm>
          <a:prstGeom prst="rect">
            <a:avLst/>
          </a:prstGeom>
          <a:noFill/>
          <a:ln/>
        </p:spPr>
        <p:txBody>
          <a:bodyPr wrap="square" lIns="0" tIns="0" rIns="0" bIns="0" rtlCol="0" anchor="ctr"/>
          <a:lstStyle/>
          <a:p>
            <a:pPr algn="ctr" indent="0" marL="0">
              <a:buNone/>
            </a:pPr>
            <a:r>
              <a:rPr lang="en-US" sz="1250" b="1" dirty="0">
                <a:solidFill>
                  <a:srgbClr val="141A2E"/>
                </a:solidFill>
                <a:latin typeface="Yu Gothic" pitchFamily="34" charset="0"/>
                <a:ea typeface="Yu Gothic" pitchFamily="34" charset="-122"/>
                <a:cs typeface="Yu Gothic" pitchFamily="34" charset="-120"/>
              </a:rPr>
              <a:t>L4</a:t>
            </a:r>
            <a:endParaRPr lang="en-US" sz="1250" dirty="0"/>
          </a:p>
        </p:txBody>
      </p:sp>
      <p:sp>
        <p:nvSpPr>
          <p:cNvPr id="24" name="Text 22"/>
          <p:cNvSpPr/>
          <p:nvPr/>
        </p:nvSpPr>
        <p:spPr>
          <a:xfrm>
            <a:off x="1536192" y="4032504"/>
            <a:ext cx="914400" cy="676656"/>
          </a:xfrm>
          <a:prstGeom prst="rect">
            <a:avLst/>
          </a:prstGeom>
          <a:noFill/>
          <a:ln/>
        </p:spPr>
        <p:txBody>
          <a:bodyPr wrap="square" lIns="0" tIns="0" rIns="0" bIns="0" rtlCol="0" anchor="ctr"/>
          <a:lstStyle/>
          <a:p>
            <a:pPr indent="0" marL="0">
              <a:buNone/>
            </a:pPr>
            <a:r>
              <a:rPr lang="en-US" sz="1600" b="1" dirty="0">
                <a:solidFill>
                  <a:srgbClr val="141A2E"/>
                </a:solidFill>
                <a:latin typeface="Yu Gothic" pitchFamily="34" charset="0"/>
                <a:ea typeface="Yu Gothic" pitchFamily="34" charset="-122"/>
                <a:cs typeface="Yu Gothic" pitchFamily="34" charset="-120"/>
              </a:rPr>
              <a:t>納品</a:t>
            </a:r>
            <a:endParaRPr lang="en-US" sz="1600" dirty="0"/>
          </a:p>
        </p:txBody>
      </p:sp>
      <p:sp>
        <p:nvSpPr>
          <p:cNvPr id="25" name="Text 23"/>
          <p:cNvSpPr/>
          <p:nvPr/>
        </p:nvSpPr>
        <p:spPr>
          <a:xfrm>
            <a:off x="2487168" y="4032504"/>
            <a:ext cx="8833104" cy="676656"/>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レポートHTML／PDFを自動生成し月次で自動送付。顧客ダッシュボードで常時閲覧可能に</a:t>
            </a:r>
            <a:endParaRPr lang="en-US" sz="1200" dirty="0"/>
          </a:p>
        </p:txBody>
      </p:sp>
      <p:sp>
        <p:nvSpPr>
          <p:cNvPr id="26" name="Shape 24"/>
          <p:cNvSpPr/>
          <p:nvPr/>
        </p:nvSpPr>
        <p:spPr>
          <a:xfrm>
            <a:off x="566928" y="4782312"/>
            <a:ext cx="11027664" cy="676656"/>
          </a:xfrm>
          <a:prstGeom prst="roundRect">
            <a:avLst>
              <a:gd name="adj" fmla="val 6757"/>
            </a:avLst>
          </a:prstGeom>
          <a:solidFill>
            <a:srgbClr val="F1F4F9"/>
          </a:solidFill>
          <a:ln/>
        </p:spPr>
      </p:sp>
      <p:sp>
        <p:nvSpPr>
          <p:cNvPr id="27" name="Shape 25"/>
          <p:cNvSpPr/>
          <p:nvPr/>
        </p:nvSpPr>
        <p:spPr>
          <a:xfrm>
            <a:off x="822960" y="4937760"/>
            <a:ext cx="566928" cy="365760"/>
          </a:xfrm>
          <a:prstGeom prst="roundRect">
            <a:avLst>
              <a:gd name="adj" fmla="val 12500"/>
            </a:avLst>
          </a:prstGeom>
          <a:solidFill>
            <a:srgbClr val="E0A03A"/>
          </a:solidFill>
          <a:ln/>
        </p:spPr>
      </p:sp>
      <p:sp>
        <p:nvSpPr>
          <p:cNvPr id="28" name="Text 26"/>
          <p:cNvSpPr/>
          <p:nvPr/>
        </p:nvSpPr>
        <p:spPr>
          <a:xfrm>
            <a:off x="822960" y="4937760"/>
            <a:ext cx="566928" cy="365760"/>
          </a:xfrm>
          <a:prstGeom prst="rect">
            <a:avLst/>
          </a:prstGeom>
          <a:noFill/>
          <a:ln/>
        </p:spPr>
        <p:txBody>
          <a:bodyPr wrap="square" lIns="0" tIns="0" rIns="0" bIns="0" rtlCol="0" anchor="ctr"/>
          <a:lstStyle/>
          <a:p>
            <a:pPr algn="ctr" indent="0" marL="0">
              <a:buNone/>
            </a:pPr>
            <a:r>
              <a:rPr lang="en-US" sz="1250" b="1" dirty="0">
                <a:solidFill>
                  <a:srgbClr val="141A2E"/>
                </a:solidFill>
                <a:latin typeface="Yu Gothic" pitchFamily="34" charset="0"/>
                <a:ea typeface="Yu Gothic" pitchFamily="34" charset="-122"/>
                <a:cs typeface="Yu Gothic" pitchFamily="34" charset="-120"/>
              </a:rPr>
              <a:t>L5</a:t>
            </a:r>
            <a:endParaRPr lang="en-US" sz="1250" dirty="0"/>
          </a:p>
        </p:txBody>
      </p:sp>
      <p:sp>
        <p:nvSpPr>
          <p:cNvPr id="29" name="Text 27"/>
          <p:cNvSpPr/>
          <p:nvPr/>
        </p:nvSpPr>
        <p:spPr>
          <a:xfrm>
            <a:off x="1536192" y="4782312"/>
            <a:ext cx="914400" cy="676656"/>
          </a:xfrm>
          <a:prstGeom prst="rect">
            <a:avLst/>
          </a:prstGeom>
          <a:noFill/>
          <a:ln/>
        </p:spPr>
        <p:txBody>
          <a:bodyPr wrap="square" lIns="0" tIns="0" rIns="0" bIns="0" rtlCol="0" anchor="ctr"/>
          <a:lstStyle/>
          <a:p>
            <a:pPr indent="0" marL="0">
              <a:buNone/>
            </a:pPr>
            <a:r>
              <a:rPr lang="en-US" sz="1600" b="1" dirty="0">
                <a:solidFill>
                  <a:srgbClr val="141A2E"/>
                </a:solidFill>
                <a:latin typeface="Yu Gothic" pitchFamily="34" charset="0"/>
                <a:ea typeface="Yu Gothic" pitchFamily="34" charset="-122"/>
                <a:cs typeface="Yu Gothic" pitchFamily="34" charset="-120"/>
              </a:rPr>
              <a:t>営業</a:t>
            </a:r>
            <a:endParaRPr lang="en-US" sz="1600" dirty="0"/>
          </a:p>
        </p:txBody>
      </p:sp>
      <p:sp>
        <p:nvSpPr>
          <p:cNvPr id="30" name="Text 28"/>
          <p:cNvSpPr/>
          <p:nvPr/>
        </p:nvSpPr>
        <p:spPr>
          <a:xfrm>
            <a:off x="2487168" y="4782312"/>
            <a:ext cx="8833104" cy="676656"/>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ターゲットにL1〜L4をバッチ実行し「御社は競合5社中4位でした」という無料診断書を生成</a:t>
            </a:r>
            <a:endParaRPr lang="en-US" sz="1200" dirty="0"/>
          </a:p>
        </p:txBody>
      </p:sp>
      <p:sp>
        <p:nvSpPr>
          <p:cNvPr id="31" name="Shape 29"/>
          <p:cNvSpPr/>
          <p:nvPr/>
        </p:nvSpPr>
        <p:spPr>
          <a:xfrm>
            <a:off x="566928" y="5541264"/>
            <a:ext cx="11027664" cy="749808"/>
          </a:xfrm>
          <a:prstGeom prst="roundRect">
            <a:avLst>
              <a:gd name="adj" fmla="val 7317"/>
            </a:avLst>
          </a:prstGeom>
          <a:solidFill>
            <a:srgbClr val="141A2E"/>
          </a:solidFill>
          <a:ln/>
        </p:spPr>
      </p:sp>
      <p:sp>
        <p:nvSpPr>
          <p:cNvPr id="32" name="Text 30"/>
          <p:cNvSpPr/>
          <p:nvPr/>
        </p:nvSpPr>
        <p:spPr>
          <a:xfrm>
            <a:off x="877824" y="5541264"/>
            <a:ext cx="10405872" cy="749808"/>
          </a:xfrm>
          <a:prstGeom prst="rect">
            <a:avLst/>
          </a:prstGeom>
          <a:noFill/>
          <a:ln/>
        </p:spPr>
        <p:txBody>
          <a:bodyPr wrap="square" lIns="0" tIns="0" rIns="0" bIns="0" rtlCol="0" anchor="ctr"/>
          <a:lstStyle/>
          <a:p>
            <a:pPr indent="0" marL="0">
              <a:buNone/>
            </a:pPr>
            <a:r>
              <a:rPr lang="en-US" sz="1350" b="1" dirty="0">
                <a:solidFill>
                  <a:srgbClr val="FFFFFF"/>
                </a:solidFill>
                <a:latin typeface="Yu Gothic" pitchFamily="34" charset="0"/>
                <a:ea typeface="Yu Gothic" pitchFamily="34" charset="-122"/>
                <a:cs typeface="Yu Gothic" pitchFamily="34" charset="-120"/>
              </a:rPr>
              <a:t>人間が残る作業は初回商談（週2〜3件・各30分）と月次の例外対応のみ。30社運用で週の実働は約8時間。</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050" b="1" dirty="0">
                <a:solidFill>
                  <a:srgbClr val="141A2E"/>
                </a:solidFill>
                <a:latin typeface="Yu Gothic" pitchFamily="34" charset="0"/>
                <a:ea typeface="Yu Gothic" pitchFamily="34" charset="-122"/>
                <a:cs typeface="Yu Gothic" pitchFamily="34" charset="-120"/>
              </a:rPr>
              <a:t>11</a:t>
            </a:r>
            <a:endParaRPr lang="en-US" sz="105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ROADMAP</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90日ロードマップ</a:t>
            </a:r>
            <a:endParaRPr lang="en-US" sz="3200" dirty="0"/>
          </a:p>
        </p:txBody>
      </p:sp>
      <p:sp>
        <p:nvSpPr>
          <p:cNvPr id="6" name="Shape 4"/>
          <p:cNvSpPr/>
          <p:nvPr/>
        </p:nvSpPr>
        <p:spPr>
          <a:xfrm>
            <a:off x="566928" y="1783080"/>
            <a:ext cx="2724912" cy="3246120"/>
          </a:xfrm>
          <a:prstGeom prst="roundRect">
            <a:avLst>
              <a:gd name="adj" fmla="val 2013"/>
            </a:avLst>
          </a:prstGeom>
          <a:solidFill>
            <a:srgbClr val="F1F4F9"/>
          </a:solidFill>
          <a:ln/>
        </p:spPr>
      </p:sp>
      <p:sp>
        <p:nvSpPr>
          <p:cNvPr id="7" name="Text 5"/>
          <p:cNvSpPr/>
          <p:nvPr/>
        </p:nvSpPr>
        <p:spPr>
          <a:xfrm>
            <a:off x="804672" y="1975104"/>
            <a:ext cx="2249424" cy="310896"/>
          </a:xfrm>
          <a:prstGeom prst="rect">
            <a:avLst/>
          </a:prstGeom>
          <a:noFill/>
          <a:ln/>
        </p:spPr>
        <p:txBody>
          <a:bodyPr wrap="square" lIns="0" tIns="0" rIns="0" bIns="0" rtlCol="0" anchor="ctr"/>
          <a:lstStyle/>
          <a:p>
            <a:pPr indent="0" marL="0">
              <a:buNone/>
            </a:pPr>
            <a:r>
              <a:rPr lang="en-US" sz="1300" b="1" spc="100" kern="0" dirty="0">
                <a:solidFill>
                  <a:srgbClr val="9C6C1B"/>
                </a:solidFill>
                <a:latin typeface="Yu Gothic" pitchFamily="34" charset="0"/>
                <a:ea typeface="Yu Gothic" pitchFamily="34" charset="-122"/>
                <a:cs typeface="Yu Gothic" pitchFamily="34" charset="-120"/>
              </a:rPr>
              <a:t>W1–3</a:t>
            </a:r>
            <a:endParaRPr lang="en-US" sz="1300" dirty="0"/>
          </a:p>
        </p:txBody>
      </p:sp>
      <p:sp>
        <p:nvSpPr>
          <p:cNvPr id="8" name="Text 6"/>
          <p:cNvSpPr/>
          <p:nvPr/>
        </p:nvSpPr>
        <p:spPr>
          <a:xfrm>
            <a:off x="804672" y="2286000"/>
            <a:ext cx="2249424" cy="658368"/>
          </a:xfrm>
          <a:prstGeom prst="rect">
            <a:avLst/>
          </a:prstGeom>
          <a:noFill/>
          <a:ln/>
        </p:spPr>
        <p:txBody>
          <a:bodyPr wrap="square" lIns="0" tIns="0" rIns="0" bIns="0" rtlCol="0" anchor="t"/>
          <a:lstStyle/>
          <a:p>
            <a:pPr indent="0" marL="0">
              <a:lnSpc>
                <a:spcPts val="2400"/>
              </a:lnSpc>
              <a:buNone/>
            </a:pPr>
            <a:r>
              <a:rPr lang="en-US" sz="1700" b="1" dirty="0">
                <a:solidFill>
                  <a:srgbClr val="141A2E"/>
                </a:solidFill>
                <a:latin typeface="Yu Gothic" pitchFamily="34" charset="0"/>
                <a:ea typeface="Yu Gothic" pitchFamily="34" charset="-122"/>
                <a:cs typeface="Yu Gothic" pitchFamily="34" charset="-120"/>
              </a:rPr>
              <a:t>準備・検証・商品化</a:t>
            </a:r>
            <a:endParaRPr lang="en-US" sz="1700" dirty="0"/>
          </a:p>
        </p:txBody>
      </p:sp>
      <p:sp>
        <p:nvSpPr>
          <p:cNvPr id="9" name="Text 7"/>
          <p:cNvSpPr/>
          <p:nvPr/>
        </p:nvSpPr>
        <p:spPr>
          <a:xfrm>
            <a:off x="804672" y="2999232"/>
            <a:ext cx="2249424" cy="1325880"/>
          </a:xfrm>
          <a:prstGeom prst="rect">
            <a:avLst/>
          </a:prstGeom>
          <a:noFill/>
          <a:ln/>
        </p:spPr>
        <p:txBody>
          <a:bodyPr wrap="square" lIns="0" tIns="0" rIns="0" bIns="0" rtlCol="0" anchor="ctr"/>
          <a:lstStyle/>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開業届／士業100社リスト作成</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L1収集を最小構成で実装</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10社ぶんを手作業で診断</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レポート雛形・LP・契約書を整備</a:t>
            </a:r>
            <a:endParaRPr lang="en-US" sz="1100" dirty="0"/>
          </a:p>
        </p:txBody>
      </p:sp>
      <p:sp>
        <p:nvSpPr>
          <p:cNvPr id="10" name="Shape 8"/>
          <p:cNvSpPr/>
          <p:nvPr/>
        </p:nvSpPr>
        <p:spPr>
          <a:xfrm>
            <a:off x="804672" y="4407408"/>
            <a:ext cx="2249424" cy="420624"/>
          </a:xfrm>
          <a:prstGeom prst="roundRect">
            <a:avLst>
              <a:gd name="adj" fmla="val 10870"/>
            </a:avLst>
          </a:prstGeom>
          <a:solidFill>
            <a:srgbClr val="141A2E"/>
          </a:solidFill>
          <a:ln/>
        </p:spPr>
      </p:sp>
      <p:sp>
        <p:nvSpPr>
          <p:cNvPr id="11" name="Text 9"/>
          <p:cNvSpPr/>
          <p:nvPr/>
        </p:nvSpPr>
        <p:spPr>
          <a:xfrm>
            <a:off x="804672" y="4407408"/>
            <a:ext cx="22494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売れる状態</a:t>
            </a:r>
            <a:endParaRPr lang="en-US" sz="1150" dirty="0"/>
          </a:p>
        </p:txBody>
      </p:sp>
      <p:sp>
        <p:nvSpPr>
          <p:cNvPr id="12" name="Shape 10"/>
          <p:cNvSpPr/>
          <p:nvPr/>
        </p:nvSpPr>
        <p:spPr>
          <a:xfrm>
            <a:off x="3511296" y="1783080"/>
            <a:ext cx="2724912" cy="3246120"/>
          </a:xfrm>
          <a:prstGeom prst="roundRect">
            <a:avLst>
              <a:gd name="adj" fmla="val 2013"/>
            </a:avLst>
          </a:prstGeom>
          <a:solidFill>
            <a:srgbClr val="FBF1DE"/>
          </a:solidFill>
          <a:ln/>
        </p:spPr>
      </p:sp>
      <p:sp>
        <p:nvSpPr>
          <p:cNvPr id="13" name="Text 11"/>
          <p:cNvSpPr/>
          <p:nvPr/>
        </p:nvSpPr>
        <p:spPr>
          <a:xfrm>
            <a:off x="3749040" y="1975104"/>
            <a:ext cx="2249424" cy="310896"/>
          </a:xfrm>
          <a:prstGeom prst="rect">
            <a:avLst/>
          </a:prstGeom>
          <a:noFill/>
          <a:ln/>
        </p:spPr>
        <p:txBody>
          <a:bodyPr wrap="square" lIns="0" tIns="0" rIns="0" bIns="0" rtlCol="0" anchor="ctr"/>
          <a:lstStyle/>
          <a:p>
            <a:pPr indent="0" marL="0">
              <a:buNone/>
            </a:pPr>
            <a:r>
              <a:rPr lang="en-US" sz="1300" b="1" spc="100" kern="0" dirty="0">
                <a:solidFill>
                  <a:srgbClr val="9C6C1B"/>
                </a:solidFill>
                <a:latin typeface="Yu Gothic" pitchFamily="34" charset="0"/>
                <a:ea typeface="Yu Gothic" pitchFamily="34" charset="-122"/>
                <a:cs typeface="Yu Gothic" pitchFamily="34" charset="-120"/>
              </a:rPr>
              <a:t>W4–6</a:t>
            </a:r>
            <a:endParaRPr lang="en-US" sz="1300" dirty="0"/>
          </a:p>
        </p:txBody>
      </p:sp>
      <p:sp>
        <p:nvSpPr>
          <p:cNvPr id="14" name="Text 12"/>
          <p:cNvSpPr/>
          <p:nvPr/>
        </p:nvSpPr>
        <p:spPr>
          <a:xfrm>
            <a:off x="3749040" y="2286000"/>
            <a:ext cx="2249424" cy="658368"/>
          </a:xfrm>
          <a:prstGeom prst="rect">
            <a:avLst/>
          </a:prstGeom>
          <a:noFill/>
          <a:ln/>
        </p:spPr>
        <p:txBody>
          <a:bodyPr wrap="square" lIns="0" tIns="0" rIns="0" bIns="0" rtlCol="0" anchor="t"/>
          <a:lstStyle/>
          <a:p>
            <a:pPr indent="0" marL="0">
              <a:lnSpc>
                <a:spcPts val="2400"/>
              </a:lnSpc>
              <a:buNone/>
            </a:pPr>
            <a:r>
              <a:rPr lang="en-US" sz="1700" b="1" dirty="0">
                <a:solidFill>
                  <a:srgbClr val="141A2E"/>
                </a:solidFill>
                <a:latin typeface="Yu Gothic" pitchFamily="34" charset="0"/>
                <a:ea typeface="Yu Gothic" pitchFamily="34" charset="-122"/>
                <a:cs typeface="Yu Gothic" pitchFamily="34" charset="-120"/>
              </a:rPr>
              <a:t>初商談・初受注</a:t>
            </a:r>
            <a:endParaRPr lang="en-US" sz="1700" dirty="0"/>
          </a:p>
        </p:txBody>
      </p:sp>
      <p:sp>
        <p:nvSpPr>
          <p:cNvPr id="15" name="Text 13"/>
          <p:cNvSpPr/>
          <p:nvPr/>
        </p:nvSpPr>
        <p:spPr>
          <a:xfrm>
            <a:off x="3749040" y="2999232"/>
            <a:ext cx="2249424" cy="1325880"/>
          </a:xfrm>
          <a:prstGeom prst="rect">
            <a:avLst/>
          </a:prstGeom>
          <a:noFill/>
          <a:ln/>
        </p:spPr>
        <p:txBody>
          <a:bodyPr wrap="square" lIns="0" tIns="0" rIns="0" bIns="0" rtlCol="0" anchor="ctr"/>
          <a:lstStyle/>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無料診断書を10社に送付</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商談3件を実施</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単発98,000円で1〜2社受注</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手作業で全力納品し品質基準を作る</a:t>
            </a:r>
            <a:endParaRPr lang="en-US" sz="1100" dirty="0"/>
          </a:p>
        </p:txBody>
      </p:sp>
      <p:sp>
        <p:nvSpPr>
          <p:cNvPr id="16" name="Shape 14"/>
          <p:cNvSpPr/>
          <p:nvPr/>
        </p:nvSpPr>
        <p:spPr>
          <a:xfrm>
            <a:off x="3749040" y="4407408"/>
            <a:ext cx="2249424" cy="420624"/>
          </a:xfrm>
          <a:prstGeom prst="roundRect">
            <a:avLst>
              <a:gd name="adj" fmla="val 10870"/>
            </a:avLst>
          </a:prstGeom>
          <a:solidFill>
            <a:srgbClr val="E0A03A"/>
          </a:solidFill>
          <a:ln/>
        </p:spPr>
      </p:sp>
      <p:sp>
        <p:nvSpPr>
          <p:cNvPr id="17" name="Text 15"/>
          <p:cNvSpPr/>
          <p:nvPr/>
        </p:nvSpPr>
        <p:spPr>
          <a:xfrm>
            <a:off x="3749040" y="4407408"/>
            <a:ext cx="2249424" cy="420624"/>
          </a:xfrm>
          <a:prstGeom prst="rect">
            <a:avLst/>
          </a:prstGeom>
          <a:noFill/>
          <a:ln/>
        </p:spPr>
        <p:txBody>
          <a:bodyPr wrap="square" lIns="0" tIns="0" rIns="0" bIns="0" rtlCol="0" anchor="ctr"/>
          <a:lstStyle/>
          <a:p>
            <a:pPr algn="ctr" indent="0" marL="0">
              <a:buNone/>
            </a:pPr>
            <a:r>
              <a:rPr lang="en-US" sz="1150" b="1" dirty="0">
                <a:solidFill>
                  <a:srgbClr val="141A2E"/>
                </a:solidFill>
                <a:latin typeface="Yu Gothic" pitchFamily="34" charset="0"/>
                <a:ea typeface="Yu Gothic" pitchFamily="34" charset="-122"/>
                <a:cs typeface="Yu Gothic" pitchFamily="34" charset="-120"/>
              </a:rPr>
              <a:t>初売上 10〜20万円</a:t>
            </a:r>
            <a:endParaRPr lang="en-US" sz="1150" dirty="0"/>
          </a:p>
        </p:txBody>
      </p:sp>
      <p:sp>
        <p:nvSpPr>
          <p:cNvPr id="18" name="Shape 16"/>
          <p:cNvSpPr/>
          <p:nvPr/>
        </p:nvSpPr>
        <p:spPr>
          <a:xfrm>
            <a:off x="6455664" y="1783080"/>
            <a:ext cx="2724912" cy="3246120"/>
          </a:xfrm>
          <a:prstGeom prst="roundRect">
            <a:avLst>
              <a:gd name="adj" fmla="val 2013"/>
            </a:avLst>
          </a:prstGeom>
          <a:solidFill>
            <a:srgbClr val="F1F4F9"/>
          </a:solidFill>
          <a:ln/>
        </p:spPr>
      </p:sp>
      <p:sp>
        <p:nvSpPr>
          <p:cNvPr id="19" name="Text 17"/>
          <p:cNvSpPr/>
          <p:nvPr/>
        </p:nvSpPr>
        <p:spPr>
          <a:xfrm>
            <a:off x="6693408" y="1975104"/>
            <a:ext cx="2249424" cy="310896"/>
          </a:xfrm>
          <a:prstGeom prst="rect">
            <a:avLst/>
          </a:prstGeom>
          <a:noFill/>
          <a:ln/>
        </p:spPr>
        <p:txBody>
          <a:bodyPr wrap="square" lIns="0" tIns="0" rIns="0" bIns="0" rtlCol="0" anchor="ctr"/>
          <a:lstStyle/>
          <a:p>
            <a:pPr indent="0" marL="0">
              <a:buNone/>
            </a:pPr>
            <a:r>
              <a:rPr lang="en-US" sz="1300" b="1" spc="100" kern="0" dirty="0">
                <a:solidFill>
                  <a:srgbClr val="9C6C1B"/>
                </a:solidFill>
                <a:latin typeface="Yu Gothic" pitchFamily="34" charset="0"/>
                <a:ea typeface="Yu Gothic" pitchFamily="34" charset="-122"/>
                <a:cs typeface="Yu Gothic" pitchFamily="34" charset="-120"/>
              </a:rPr>
              <a:t>W7–10</a:t>
            </a:r>
            <a:endParaRPr lang="en-US" sz="1300" dirty="0"/>
          </a:p>
        </p:txBody>
      </p:sp>
      <p:sp>
        <p:nvSpPr>
          <p:cNvPr id="20" name="Text 18"/>
          <p:cNvSpPr/>
          <p:nvPr/>
        </p:nvSpPr>
        <p:spPr>
          <a:xfrm>
            <a:off x="6693408" y="2286000"/>
            <a:ext cx="2249424" cy="658368"/>
          </a:xfrm>
          <a:prstGeom prst="rect">
            <a:avLst/>
          </a:prstGeom>
          <a:noFill/>
          <a:ln/>
        </p:spPr>
        <p:txBody>
          <a:bodyPr wrap="square" lIns="0" tIns="0" rIns="0" bIns="0" rtlCol="0" anchor="t"/>
          <a:lstStyle/>
          <a:p>
            <a:pPr indent="0" marL="0">
              <a:lnSpc>
                <a:spcPts val="2400"/>
              </a:lnSpc>
              <a:buNone/>
            </a:pPr>
            <a:r>
              <a:rPr lang="en-US" sz="1700" b="1" dirty="0">
                <a:solidFill>
                  <a:srgbClr val="141A2E"/>
                </a:solidFill>
                <a:latin typeface="Yu Gothic" pitchFamily="34" charset="0"/>
                <a:ea typeface="Yu Gothic" pitchFamily="34" charset="-122"/>
                <a:cs typeface="Yu Gothic" pitchFamily="34" charset="-120"/>
              </a:rPr>
              <a:t>自動化と拡販</a:t>
            </a:r>
            <a:endParaRPr lang="en-US" sz="1700" dirty="0"/>
          </a:p>
        </p:txBody>
      </p:sp>
      <p:sp>
        <p:nvSpPr>
          <p:cNvPr id="21" name="Text 19"/>
          <p:cNvSpPr/>
          <p:nvPr/>
        </p:nvSpPr>
        <p:spPr>
          <a:xfrm>
            <a:off x="6693408" y="2999232"/>
            <a:ext cx="2249424" cy="1325880"/>
          </a:xfrm>
          <a:prstGeom prst="rect">
            <a:avLst/>
          </a:prstGeom>
          <a:noFill/>
          <a:ln/>
        </p:spPr>
        <p:txBody>
          <a:bodyPr wrap="square" lIns="0" tIns="0" rIns="0" bIns="0" rtlCol="0" anchor="ctr"/>
          <a:lstStyle/>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L2分析・L3生成をパイプライン化</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納品を1社8時間→1時間に短縮</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無料診断を50社にバッチ送付</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既存顧客を月額プランへ転換</a:t>
            </a:r>
            <a:endParaRPr lang="en-US" sz="1100" dirty="0"/>
          </a:p>
        </p:txBody>
      </p:sp>
      <p:sp>
        <p:nvSpPr>
          <p:cNvPr id="22" name="Shape 20"/>
          <p:cNvSpPr/>
          <p:nvPr/>
        </p:nvSpPr>
        <p:spPr>
          <a:xfrm>
            <a:off x="6693408" y="4407408"/>
            <a:ext cx="2249424" cy="420624"/>
          </a:xfrm>
          <a:prstGeom prst="roundRect">
            <a:avLst>
              <a:gd name="adj" fmla="val 10870"/>
            </a:avLst>
          </a:prstGeom>
          <a:solidFill>
            <a:srgbClr val="141A2E"/>
          </a:solidFill>
          <a:ln/>
        </p:spPr>
      </p:sp>
      <p:sp>
        <p:nvSpPr>
          <p:cNvPr id="23" name="Text 21"/>
          <p:cNvSpPr/>
          <p:nvPr/>
        </p:nvSpPr>
        <p:spPr>
          <a:xfrm>
            <a:off x="6693408" y="4407408"/>
            <a:ext cx="22494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月額3社＝黒字化</a:t>
            </a:r>
            <a:endParaRPr lang="en-US" sz="1150" dirty="0"/>
          </a:p>
        </p:txBody>
      </p:sp>
      <p:sp>
        <p:nvSpPr>
          <p:cNvPr id="24" name="Shape 22"/>
          <p:cNvSpPr/>
          <p:nvPr/>
        </p:nvSpPr>
        <p:spPr>
          <a:xfrm>
            <a:off x="9400032" y="1783080"/>
            <a:ext cx="2724912" cy="3246120"/>
          </a:xfrm>
          <a:prstGeom prst="roundRect">
            <a:avLst>
              <a:gd name="adj" fmla="val 2013"/>
            </a:avLst>
          </a:prstGeom>
          <a:solidFill>
            <a:srgbClr val="FBF1DE"/>
          </a:solidFill>
          <a:ln/>
        </p:spPr>
      </p:sp>
      <p:sp>
        <p:nvSpPr>
          <p:cNvPr id="25" name="Text 23"/>
          <p:cNvSpPr/>
          <p:nvPr/>
        </p:nvSpPr>
        <p:spPr>
          <a:xfrm>
            <a:off x="9637776" y="1975104"/>
            <a:ext cx="2249424" cy="310896"/>
          </a:xfrm>
          <a:prstGeom prst="rect">
            <a:avLst/>
          </a:prstGeom>
          <a:noFill/>
          <a:ln/>
        </p:spPr>
        <p:txBody>
          <a:bodyPr wrap="square" lIns="0" tIns="0" rIns="0" bIns="0" rtlCol="0" anchor="ctr"/>
          <a:lstStyle/>
          <a:p>
            <a:pPr indent="0" marL="0">
              <a:buNone/>
            </a:pPr>
            <a:r>
              <a:rPr lang="en-US" sz="1300" b="1" spc="100" kern="0" dirty="0">
                <a:solidFill>
                  <a:srgbClr val="9C6C1B"/>
                </a:solidFill>
                <a:latin typeface="Yu Gothic" pitchFamily="34" charset="0"/>
                <a:ea typeface="Yu Gothic" pitchFamily="34" charset="-122"/>
                <a:cs typeface="Yu Gothic" pitchFamily="34" charset="-120"/>
              </a:rPr>
              <a:t>W11–12</a:t>
            </a:r>
            <a:endParaRPr lang="en-US" sz="1300" dirty="0"/>
          </a:p>
        </p:txBody>
      </p:sp>
      <p:sp>
        <p:nvSpPr>
          <p:cNvPr id="26" name="Text 24"/>
          <p:cNvSpPr/>
          <p:nvPr/>
        </p:nvSpPr>
        <p:spPr>
          <a:xfrm>
            <a:off x="9637776" y="2286000"/>
            <a:ext cx="2249424" cy="658368"/>
          </a:xfrm>
          <a:prstGeom prst="rect">
            <a:avLst/>
          </a:prstGeom>
          <a:noFill/>
          <a:ln/>
        </p:spPr>
        <p:txBody>
          <a:bodyPr wrap="square" lIns="0" tIns="0" rIns="0" bIns="0" rtlCol="0" anchor="t"/>
          <a:lstStyle/>
          <a:p>
            <a:pPr indent="0" marL="0">
              <a:lnSpc>
                <a:spcPts val="2400"/>
              </a:lnSpc>
              <a:buNone/>
            </a:pPr>
            <a:r>
              <a:rPr lang="en-US" sz="1700" b="1" dirty="0">
                <a:solidFill>
                  <a:srgbClr val="141A2E"/>
                </a:solidFill>
                <a:latin typeface="Yu Gothic" pitchFamily="34" charset="0"/>
                <a:ea typeface="Yu Gothic" pitchFamily="34" charset="-122"/>
                <a:cs typeface="Yu Gothic" pitchFamily="34" charset="-120"/>
              </a:rPr>
              <a:t>無人化の完成</a:t>
            </a:r>
            <a:endParaRPr lang="en-US" sz="1700" dirty="0"/>
          </a:p>
        </p:txBody>
      </p:sp>
      <p:sp>
        <p:nvSpPr>
          <p:cNvPr id="27" name="Text 25"/>
          <p:cNvSpPr/>
          <p:nvPr/>
        </p:nvSpPr>
        <p:spPr>
          <a:xfrm>
            <a:off x="9637776" y="2999232"/>
            <a:ext cx="2249424" cy="1325880"/>
          </a:xfrm>
          <a:prstGeom prst="rect">
            <a:avLst/>
          </a:prstGeom>
          <a:noFill/>
          <a:ln/>
        </p:spPr>
        <p:txBody>
          <a:bodyPr wrap="square" lIns="0" tIns="0" rIns="0" bIns="0" rtlCol="0" anchor="ctr"/>
          <a:lstStyle/>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L4納品・L5営業を自動化</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顧客ダッシュボード公開</a:t>
            </a:r>
            <a:endParaRPr lang="en-US" sz="1100" dirty="0"/>
          </a:p>
          <a:p>
            <a:pPr indent="0" marL="0">
              <a:lnSpc>
                <a:spcPts val="1800"/>
              </a:lnSpc>
              <a:buNone/>
            </a:pPr>
            <a:r>
              <a:rPr lang="en-US" sz="1100" dirty="0">
                <a:solidFill>
                  <a:srgbClr val="242B3D"/>
                </a:solidFill>
                <a:latin typeface="Yu Gothic" pitchFamily="34" charset="0"/>
                <a:ea typeface="Yu Gothic" pitchFamily="34" charset="-122"/>
                <a:cs typeface="Yu Gothic" pitchFamily="34" charset="-120"/>
              </a:rPr>
              <a:t>士業向けウェビナー1本</a:t>
            </a:r>
            <a:endParaRPr lang="en-US" sz="1100" dirty="0"/>
          </a:p>
        </p:txBody>
      </p:sp>
      <p:sp>
        <p:nvSpPr>
          <p:cNvPr id="28" name="Shape 26"/>
          <p:cNvSpPr/>
          <p:nvPr/>
        </p:nvSpPr>
        <p:spPr>
          <a:xfrm>
            <a:off x="9637776" y="4407408"/>
            <a:ext cx="2249424" cy="420624"/>
          </a:xfrm>
          <a:prstGeom prst="roundRect">
            <a:avLst>
              <a:gd name="adj" fmla="val 10870"/>
            </a:avLst>
          </a:prstGeom>
          <a:solidFill>
            <a:srgbClr val="E0A03A"/>
          </a:solidFill>
          <a:ln/>
        </p:spPr>
      </p:sp>
      <p:sp>
        <p:nvSpPr>
          <p:cNvPr id="29" name="Text 27"/>
          <p:cNvSpPr/>
          <p:nvPr/>
        </p:nvSpPr>
        <p:spPr>
          <a:xfrm>
            <a:off x="9637776" y="4407408"/>
            <a:ext cx="2249424" cy="420624"/>
          </a:xfrm>
          <a:prstGeom prst="rect">
            <a:avLst/>
          </a:prstGeom>
          <a:noFill/>
          <a:ln/>
        </p:spPr>
        <p:txBody>
          <a:bodyPr wrap="square" lIns="0" tIns="0" rIns="0" bIns="0" rtlCol="0" anchor="ctr"/>
          <a:lstStyle/>
          <a:p>
            <a:pPr algn="ctr" indent="0" marL="0">
              <a:buNone/>
            </a:pPr>
            <a:r>
              <a:rPr lang="en-US" sz="1150" b="1" dirty="0">
                <a:solidFill>
                  <a:srgbClr val="141A2E"/>
                </a:solidFill>
                <a:latin typeface="Yu Gothic" pitchFamily="34" charset="0"/>
                <a:ea typeface="Yu Gothic" pitchFamily="34" charset="-122"/>
                <a:cs typeface="Yu Gothic" pitchFamily="34" charset="-120"/>
              </a:rPr>
              <a:t>MRR 50〜100万円</a:t>
            </a:r>
            <a:endParaRPr lang="en-US" sz="1150" dirty="0"/>
          </a:p>
        </p:txBody>
      </p:sp>
      <p:sp>
        <p:nvSpPr>
          <p:cNvPr id="30" name="Text 28"/>
          <p:cNvSpPr/>
          <p:nvPr/>
        </p:nvSpPr>
        <p:spPr>
          <a:xfrm>
            <a:off x="566928" y="5230368"/>
            <a:ext cx="10881360" cy="457200"/>
          </a:xfrm>
          <a:prstGeom prst="rect">
            <a:avLst/>
          </a:prstGeom>
          <a:noFill/>
          <a:ln/>
        </p:spPr>
        <p:txBody>
          <a:bodyPr wrap="square" lIns="0" tIns="0" rIns="0" bIns="0" rtlCol="0" anchor="ctr"/>
          <a:lstStyle/>
          <a:p>
            <a:pPr indent="0" marL="0">
              <a:buNone/>
            </a:pPr>
            <a:r>
              <a:rPr lang="en-US" sz="1300" dirty="0">
                <a:solidFill>
                  <a:srgbClr val="242B3D"/>
                </a:solidFill>
                <a:latin typeface="Yu Gothic" pitchFamily="34" charset="0"/>
                <a:ea typeface="Yu Gothic" pitchFamily="34" charset="-122"/>
                <a:cs typeface="Yu Gothic" pitchFamily="34" charset="-120"/>
              </a:rPr>
              <a:t>3か月時点の目標値：MRR 50〜100万円、累計売上 120〜200万円。W5–6の「手作業で全力納品」が、後の自動化の仕様書になる。</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050" b="1" dirty="0">
                <a:solidFill>
                  <a:srgbClr val="141A2E"/>
                </a:solidFill>
                <a:latin typeface="Yu Gothic" pitchFamily="34" charset="0"/>
                <a:ea typeface="Yu Gothic" pitchFamily="34" charset="-122"/>
                <a:cs typeface="Yu Gothic" pitchFamily="34" charset="-120"/>
              </a:rPr>
              <a:t>12</a:t>
            </a:r>
            <a:endParaRPr lang="en-US" sz="105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PROJECTION</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収益シミュレーション — 18か月で年商1億円</a:t>
            </a:r>
            <a:endParaRPr lang="en-US" sz="3200" dirty="0"/>
          </a:p>
        </p:txBody>
      </p:sp>
      <p:graphicFrame>
        <p:nvGraphicFramePr>
          <p:cNvPr id="6" name="Chart 0" descr=""/>
          <p:cNvGraphicFramePr/>
          <p:nvPr/>
        </p:nvGraphicFramePr>
        <p:xfrm>
          <a:off x="566928" y="1737360"/>
          <a:ext cx="722376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001000" y="1783080"/>
            <a:ext cx="3593592" cy="1280160"/>
          </a:xfrm>
          <a:prstGeom prst="roundRect">
            <a:avLst>
              <a:gd name="adj" fmla="val 4286"/>
            </a:avLst>
          </a:prstGeom>
          <a:solidFill>
            <a:srgbClr val="F1F4F9"/>
          </a:solidFill>
          <a:ln/>
        </p:spPr>
      </p:sp>
      <p:sp>
        <p:nvSpPr>
          <p:cNvPr id="8" name="Text 5"/>
          <p:cNvSpPr/>
          <p:nvPr/>
        </p:nvSpPr>
        <p:spPr>
          <a:xfrm>
            <a:off x="8257032" y="1911096"/>
            <a:ext cx="3108960" cy="402336"/>
          </a:xfrm>
          <a:prstGeom prst="rect">
            <a:avLst/>
          </a:prstGeom>
          <a:noFill/>
          <a:ln/>
        </p:spPr>
        <p:txBody>
          <a:bodyPr wrap="square" lIns="0" tIns="0" rIns="0" bIns="0" rtlCol="0" anchor="ctr"/>
          <a:lstStyle/>
          <a:p>
            <a:pPr indent="0" marL="0">
              <a:buNone/>
            </a:pPr>
            <a:r>
              <a:rPr lang="en-US" sz="2100" b="1" dirty="0">
                <a:solidFill>
                  <a:srgbClr val="9C6C1B"/>
                </a:solidFill>
                <a:latin typeface="Yu Gothic" pitchFamily="34" charset="0"/>
                <a:ea typeface="Yu Gothic" pitchFamily="34" charset="-122"/>
                <a:cs typeface="Yu Gothic" pitchFamily="34" charset="-120"/>
              </a:rPr>
              <a:t>18か月</a:t>
            </a:r>
            <a:endParaRPr lang="en-US" sz="2100" dirty="0"/>
          </a:p>
        </p:txBody>
      </p:sp>
      <p:sp>
        <p:nvSpPr>
          <p:cNvPr id="9" name="Text 6"/>
          <p:cNvSpPr/>
          <p:nvPr/>
        </p:nvSpPr>
        <p:spPr>
          <a:xfrm>
            <a:off x="8257032" y="2313432"/>
            <a:ext cx="3108960" cy="256032"/>
          </a:xfrm>
          <a:prstGeom prst="rect">
            <a:avLst/>
          </a:prstGeom>
          <a:noFill/>
          <a:ln/>
        </p:spPr>
        <p:txBody>
          <a:bodyPr wrap="square" lIns="0" tIns="0" rIns="0" bIns="0" rtlCol="0" anchor="ctr"/>
          <a:lstStyle/>
          <a:p>
            <a:pPr indent="0" marL="0">
              <a:buNone/>
            </a:pPr>
            <a:r>
              <a:rPr lang="en-US" sz="1150" b="1" dirty="0">
                <a:solidFill>
                  <a:srgbClr val="141A2E"/>
                </a:solidFill>
                <a:latin typeface="Yu Gothic" pitchFamily="34" charset="0"/>
                <a:ea typeface="Yu Gothic" pitchFamily="34" charset="-122"/>
                <a:cs typeface="Yu Gothic" pitchFamily="34" charset="-120"/>
              </a:rPr>
              <a:t>年商1億円の到達点</a:t>
            </a:r>
            <a:endParaRPr lang="en-US" sz="1150" dirty="0"/>
          </a:p>
        </p:txBody>
      </p:sp>
      <p:sp>
        <p:nvSpPr>
          <p:cNvPr id="10" name="Text 7"/>
          <p:cNvSpPr/>
          <p:nvPr/>
        </p:nvSpPr>
        <p:spPr>
          <a:xfrm>
            <a:off x="8257032" y="2569464"/>
            <a:ext cx="3108960" cy="402336"/>
          </a:xfrm>
          <a:prstGeom prst="rect">
            <a:avLst/>
          </a:prstGeom>
          <a:noFill/>
          <a:ln/>
        </p:spPr>
        <p:txBody>
          <a:bodyPr wrap="square" lIns="0" tIns="0" rIns="0" bIns="0" rtlCol="0" anchor="ctr"/>
          <a:lstStyle/>
          <a:p>
            <a:pPr indent="0" marL="0">
              <a:lnSpc>
                <a:spcPts val="1600"/>
              </a:lnSpc>
              <a:buNone/>
            </a:pPr>
            <a:r>
              <a:rPr lang="en-US" sz="1050" dirty="0">
                <a:solidFill>
                  <a:srgbClr val="667088"/>
                </a:solidFill>
                <a:latin typeface="Yu Gothic" pitchFamily="34" charset="0"/>
                <a:ea typeface="Yu Gothic" pitchFamily="34" charset="-122"/>
                <a:cs typeface="Yu Gothic" pitchFamily="34" charset="-120"/>
              </a:rPr>
              <a:t>サービス40社＋SaaS 600社。</a:t>
            </a:r>
            <a:endParaRPr lang="en-US" sz="1050" dirty="0"/>
          </a:p>
          <a:p>
            <a:pPr indent="0" marL="0">
              <a:lnSpc>
                <a:spcPts val="1600"/>
              </a:lnSpc>
              <a:buNone/>
            </a:pPr>
            <a:r>
              <a:rPr lang="en-US" sz="1050" dirty="0">
                <a:solidFill>
                  <a:srgbClr val="667088"/>
                </a:solidFill>
                <a:latin typeface="Yu Gothic" pitchFamily="34" charset="0"/>
                <a:ea typeface="Yu Gothic" pitchFamily="34" charset="-122"/>
                <a:cs typeface="Yu Gothic" pitchFamily="34" charset="-120"/>
              </a:rPr>
              <a:t>1億円の約半分をSaaSが担う。</a:t>
            </a:r>
            <a:endParaRPr lang="en-US" sz="1050" dirty="0"/>
          </a:p>
        </p:txBody>
      </p:sp>
      <p:sp>
        <p:nvSpPr>
          <p:cNvPr id="11" name="Shape 8"/>
          <p:cNvSpPr/>
          <p:nvPr/>
        </p:nvSpPr>
        <p:spPr>
          <a:xfrm>
            <a:off x="8001000" y="3136392"/>
            <a:ext cx="3593592" cy="1280160"/>
          </a:xfrm>
          <a:prstGeom prst="roundRect">
            <a:avLst>
              <a:gd name="adj" fmla="val 4286"/>
            </a:avLst>
          </a:prstGeom>
          <a:solidFill>
            <a:srgbClr val="F1F4F9"/>
          </a:solidFill>
          <a:ln/>
        </p:spPr>
      </p:sp>
      <p:sp>
        <p:nvSpPr>
          <p:cNvPr id="12" name="Text 9"/>
          <p:cNvSpPr/>
          <p:nvPr/>
        </p:nvSpPr>
        <p:spPr>
          <a:xfrm>
            <a:off x="8257032" y="3264408"/>
            <a:ext cx="3108960" cy="402336"/>
          </a:xfrm>
          <a:prstGeom prst="rect">
            <a:avLst/>
          </a:prstGeom>
          <a:noFill/>
          <a:ln/>
        </p:spPr>
        <p:txBody>
          <a:bodyPr wrap="square" lIns="0" tIns="0" rIns="0" bIns="0" rtlCol="0" anchor="ctr"/>
          <a:lstStyle/>
          <a:p>
            <a:pPr indent="0" marL="0">
              <a:buNone/>
            </a:pPr>
            <a:r>
              <a:rPr lang="en-US" sz="2100" b="1" dirty="0">
                <a:solidFill>
                  <a:srgbClr val="9C6C1B"/>
                </a:solidFill>
                <a:latin typeface="Yu Gothic" pitchFamily="34" charset="0"/>
                <a:ea typeface="Yu Gothic" pitchFamily="34" charset="-122"/>
                <a:cs typeface="Yu Gothic" pitchFamily="34" charset="-120"/>
              </a:rPr>
              <a:t>週8〜10h</a:t>
            </a:r>
            <a:endParaRPr lang="en-US" sz="2100" dirty="0"/>
          </a:p>
        </p:txBody>
      </p:sp>
      <p:sp>
        <p:nvSpPr>
          <p:cNvPr id="13" name="Text 10"/>
          <p:cNvSpPr/>
          <p:nvPr/>
        </p:nvSpPr>
        <p:spPr>
          <a:xfrm>
            <a:off x="8257032" y="3666744"/>
            <a:ext cx="3108960" cy="256032"/>
          </a:xfrm>
          <a:prstGeom prst="rect">
            <a:avLst/>
          </a:prstGeom>
          <a:noFill/>
          <a:ln/>
        </p:spPr>
        <p:txBody>
          <a:bodyPr wrap="square" lIns="0" tIns="0" rIns="0" bIns="0" rtlCol="0" anchor="ctr"/>
          <a:lstStyle/>
          <a:p>
            <a:pPr indent="0" marL="0">
              <a:buNone/>
            </a:pPr>
            <a:r>
              <a:rPr lang="en-US" sz="1150" b="1" dirty="0">
                <a:solidFill>
                  <a:srgbClr val="141A2E"/>
                </a:solidFill>
                <a:latin typeface="Yu Gothic" pitchFamily="34" charset="0"/>
                <a:ea typeface="Yu Gothic" pitchFamily="34" charset="-122"/>
                <a:cs typeface="Yu Gothic" pitchFamily="34" charset="-120"/>
              </a:rPr>
              <a:t>1人の稼働上限</a:t>
            </a:r>
            <a:endParaRPr lang="en-US" sz="1150" dirty="0"/>
          </a:p>
        </p:txBody>
      </p:sp>
      <p:sp>
        <p:nvSpPr>
          <p:cNvPr id="14" name="Text 11"/>
          <p:cNvSpPr/>
          <p:nvPr/>
        </p:nvSpPr>
        <p:spPr>
          <a:xfrm>
            <a:off x="8257032" y="3922776"/>
            <a:ext cx="3108960" cy="402336"/>
          </a:xfrm>
          <a:prstGeom prst="rect">
            <a:avLst/>
          </a:prstGeom>
          <a:noFill/>
          <a:ln/>
        </p:spPr>
        <p:txBody>
          <a:bodyPr wrap="square" lIns="0" tIns="0" rIns="0" bIns="0" rtlCol="0" anchor="ctr"/>
          <a:lstStyle/>
          <a:p>
            <a:pPr indent="0" marL="0">
              <a:lnSpc>
                <a:spcPts val="1600"/>
              </a:lnSpc>
              <a:buNone/>
            </a:pPr>
            <a:r>
              <a:rPr lang="en-US" sz="1050" dirty="0">
                <a:solidFill>
                  <a:srgbClr val="667088"/>
                </a:solidFill>
                <a:latin typeface="Yu Gothic" pitchFamily="34" charset="0"/>
                <a:ea typeface="Yu Gothic" pitchFamily="34" charset="-122"/>
                <a:cs typeface="Yu Gothic" pitchFamily="34" charset="-120"/>
              </a:rPr>
              <a:t>サービス契約は40社を上限とし、</a:t>
            </a:r>
            <a:endParaRPr lang="en-US" sz="1050" dirty="0"/>
          </a:p>
          <a:p>
            <a:pPr indent="0" marL="0">
              <a:lnSpc>
                <a:spcPts val="1600"/>
              </a:lnSpc>
              <a:buNone/>
            </a:pPr>
            <a:r>
              <a:rPr lang="en-US" sz="1050" dirty="0">
                <a:solidFill>
                  <a:srgbClr val="667088"/>
                </a:solidFill>
                <a:latin typeface="Yu Gothic" pitchFamily="34" charset="0"/>
                <a:ea typeface="Yu Gothic" pitchFamily="34" charset="-122"/>
                <a:cs typeface="Yu Gothic" pitchFamily="34" charset="-120"/>
              </a:rPr>
              <a:t>それ以上はSaaSへ誘導する。</a:t>
            </a:r>
            <a:endParaRPr lang="en-US" sz="1050" dirty="0"/>
          </a:p>
        </p:txBody>
      </p:sp>
      <p:sp>
        <p:nvSpPr>
          <p:cNvPr id="15" name="Shape 12"/>
          <p:cNvSpPr/>
          <p:nvPr/>
        </p:nvSpPr>
        <p:spPr>
          <a:xfrm>
            <a:off x="8001000" y="4489704"/>
            <a:ext cx="3593592" cy="1280160"/>
          </a:xfrm>
          <a:prstGeom prst="roundRect">
            <a:avLst>
              <a:gd name="adj" fmla="val 4286"/>
            </a:avLst>
          </a:prstGeom>
          <a:solidFill>
            <a:srgbClr val="F1F4F9"/>
          </a:solidFill>
          <a:ln/>
        </p:spPr>
      </p:sp>
      <p:sp>
        <p:nvSpPr>
          <p:cNvPr id="16" name="Text 13"/>
          <p:cNvSpPr/>
          <p:nvPr/>
        </p:nvSpPr>
        <p:spPr>
          <a:xfrm>
            <a:off x="8257032" y="4617720"/>
            <a:ext cx="3108960" cy="402336"/>
          </a:xfrm>
          <a:prstGeom prst="rect">
            <a:avLst/>
          </a:prstGeom>
          <a:noFill/>
          <a:ln/>
        </p:spPr>
        <p:txBody>
          <a:bodyPr wrap="square" lIns="0" tIns="0" rIns="0" bIns="0" rtlCol="0" anchor="ctr"/>
          <a:lstStyle/>
          <a:p>
            <a:pPr indent="0" marL="0">
              <a:buNone/>
            </a:pPr>
            <a:r>
              <a:rPr lang="en-US" sz="2100" b="1" dirty="0">
                <a:solidFill>
                  <a:srgbClr val="9C6C1B"/>
                </a:solidFill>
                <a:latin typeface="Yu Gothic" pitchFamily="34" charset="0"/>
                <a:ea typeface="Yu Gothic" pitchFamily="34" charset="-122"/>
                <a:cs typeface="Yu Gothic" pitchFamily="34" charset="-120"/>
              </a:rPr>
              <a:t>1.4億円</a:t>
            </a:r>
            <a:endParaRPr lang="en-US" sz="2100" dirty="0"/>
          </a:p>
        </p:txBody>
      </p:sp>
      <p:sp>
        <p:nvSpPr>
          <p:cNvPr id="17" name="Text 14"/>
          <p:cNvSpPr/>
          <p:nvPr/>
        </p:nvSpPr>
        <p:spPr>
          <a:xfrm>
            <a:off x="8257032" y="5020056"/>
            <a:ext cx="3108960" cy="256032"/>
          </a:xfrm>
          <a:prstGeom prst="rect">
            <a:avLst/>
          </a:prstGeom>
          <a:noFill/>
          <a:ln/>
        </p:spPr>
        <p:txBody>
          <a:bodyPr wrap="square" lIns="0" tIns="0" rIns="0" bIns="0" rtlCol="0" anchor="ctr"/>
          <a:lstStyle/>
          <a:p>
            <a:pPr indent="0" marL="0">
              <a:buNone/>
            </a:pPr>
            <a:r>
              <a:rPr lang="en-US" sz="1150" b="1" dirty="0">
                <a:solidFill>
                  <a:srgbClr val="141A2E"/>
                </a:solidFill>
                <a:latin typeface="Yu Gothic" pitchFamily="34" charset="0"/>
                <a:ea typeface="Yu Gothic" pitchFamily="34" charset="-122"/>
                <a:cs typeface="Yu Gothic" pitchFamily="34" charset="-120"/>
              </a:rPr>
              <a:t>保守シナリオの24か月時点</a:t>
            </a:r>
            <a:endParaRPr lang="en-US" sz="1150" dirty="0"/>
          </a:p>
        </p:txBody>
      </p:sp>
      <p:sp>
        <p:nvSpPr>
          <p:cNvPr id="18" name="Text 15"/>
          <p:cNvSpPr/>
          <p:nvPr/>
        </p:nvSpPr>
        <p:spPr>
          <a:xfrm>
            <a:off x="8257032" y="5276088"/>
            <a:ext cx="3108960" cy="402336"/>
          </a:xfrm>
          <a:prstGeom prst="rect">
            <a:avLst/>
          </a:prstGeom>
          <a:noFill/>
          <a:ln/>
        </p:spPr>
        <p:txBody>
          <a:bodyPr wrap="square" lIns="0" tIns="0" rIns="0" bIns="0" rtlCol="0" anchor="ctr"/>
          <a:lstStyle/>
          <a:p>
            <a:pPr indent="0" marL="0">
              <a:lnSpc>
                <a:spcPts val="1600"/>
              </a:lnSpc>
              <a:buNone/>
            </a:pPr>
            <a:r>
              <a:rPr lang="en-US" sz="1050" dirty="0">
                <a:solidFill>
                  <a:srgbClr val="667088"/>
                </a:solidFill>
                <a:latin typeface="Yu Gothic" pitchFamily="34" charset="0"/>
                <a:ea typeface="Yu Gothic" pitchFamily="34" charset="-122"/>
                <a:cs typeface="Yu Gothic" pitchFamily="34" charset="-120"/>
              </a:rPr>
              <a:t>SaaS転換が想定の半分でも到達。</a:t>
            </a:r>
            <a:endParaRPr lang="en-US" sz="1050" dirty="0"/>
          </a:p>
          <a:p>
            <a:pPr indent="0" marL="0">
              <a:lnSpc>
                <a:spcPts val="1600"/>
              </a:lnSpc>
              <a:buNone/>
            </a:pPr>
            <a:r>
              <a:rPr lang="en-US" sz="1050" dirty="0">
                <a:solidFill>
                  <a:srgbClr val="667088"/>
                </a:solidFill>
                <a:latin typeface="Yu Gothic" pitchFamily="34" charset="0"/>
                <a:ea typeface="Yu Gothic" pitchFamily="34" charset="-122"/>
                <a:cs typeface="Yu Gothic" pitchFamily="34" charset="-120"/>
              </a:rPr>
              <a:t>サービス単独でも年商8,100万円。</a:t>
            </a:r>
            <a:endParaRPr lang="en-US" sz="1050" dirty="0"/>
          </a:p>
        </p:txBody>
      </p:sp>
      <p:sp>
        <p:nvSpPr>
          <p:cNvPr id="19" name="Text 16"/>
          <p:cNvSpPr/>
          <p:nvPr/>
        </p:nvSpPr>
        <p:spPr>
          <a:xfrm>
            <a:off x="566928" y="6291072"/>
            <a:ext cx="11027664" cy="292608"/>
          </a:xfrm>
          <a:prstGeom prst="rect">
            <a:avLst/>
          </a:prstGeom>
          <a:noFill/>
          <a:ln/>
        </p:spPr>
        <p:txBody>
          <a:bodyPr wrap="square" lIns="0" tIns="0" rIns="0" bIns="0" rtlCol="0" anchor="ctr"/>
          <a:lstStyle/>
          <a:p>
            <a:pPr indent="0" marL="0">
              <a:buNone/>
            </a:pPr>
            <a:r>
              <a:rPr lang="en-US" sz="1000" dirty="0">
                <a:solidFill>
                  <a:srgbClr val="97A0B4"/>
                </a:solidFill>
                <a:latin typeface="Yu Gothic" pitchFamily="34" charset="0"/>
                <a:ea typeface="Yu Gothic" pitchFamily="34" charset="-122"/>
                <a:cs typeface="Yu Gothic" pitchFamily="34" charset="-120"/>
              </a:rPr>
              <a:t>前提条件付きの試算であり、収益を保証するものではありません。</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050" b="1" dirty="0">
                <a:solidFill>
                  <a:srgbClr val="141A2E"/>
                </a:solidFill>
                <a:latin typeface="Yu Gothic" pitchFamily="34" charset="0"/>
                <a:ea typeface="Yu Gothic" pitchFamily="34" charset="-122"/>
                <a:cs typeface="Yu Gothic" pitchFamily="34" charset="-120"/>
              </a:rPr>
              <a:t>13</a:t>
            </a:r>
            <a:endParaRPr lang="en-US" sz="105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INVESTMENT</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初期投資は3か月累計23万4,000円</a:t>
            </a:r>
            <a:endParaRPr lang="en-US" sz="3200" dirty="0"/>
          </a:p>
        </p:txBody>
      </p:sp>
      <p:sp>
        <p:nvSpPr>
          <p:cNvPr id="6" name="Shape 4"/>
          <p:cNvSpPr/>
          <p:nvPr/>
        </p:nvSpPr>
        <p:spPr>
          <a:xfrm>
            <a:off x="566928" y="1783080"/>
            <a:ext cx="5394960" cy="457200"/>
          </a:xfrm>
          <a:prstGeom prst="roundRect">
            <a:avLst>
              <a:gd name="adj" fmla="val 8000"/>
            </a:avLst>
          </a:prstGeom>
          <a:solidFill>
            <a:srgbClr val="F1F4F9"/>
          </a:solidFill>
          <a:ln w="12700">
            <a:solidFill>
              <a:srgbClr val="E4EAF4"/>
            </a:solidFill>
            <a:prstDash val="solid"/>
          </a:ln>
        </p:spPr>
      </p:sp>
      <p:sp>
        <p:nvSpPr>
          <p:cNvPr id="7" name="Text 5"/>
          <p:cNvSpPr/>
          <p:nvPr/>
        </p:nvSpPr>
        <p:spPr>
          <a:xfrm>
            <a:off x="822960" y="1783080"/>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Claude API / OpenAI API</a:t>
            </a:r>
            <a:endParaRPr lang="en-US" sz="1200" dirty="0"/>
          </a:p>
        </p:txBody>
      </p:sp>
      <p:sp>
        <p:nvSpPr>
          <p:cNvPr id="8" name="Text 6"/>
          <p:cNvSpPr/>
          <p:nvPr/>
        </p:nvSpPr>
        <p:spPr>
          <a:xfrm>
            <a:off x="4407408" y="1783080"/>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60,000円</a:t>
            </a:r>
            <a:endParaRPr lang="en-US" sz="1200" dirty="0"/>
          </a:p>
        </p:txBody>
      </p:sp>
      <p:sp>
        <p:nvSpPr>
          <p:cNvPr id="9" name="Shape 7"/>
          <p:cNvSpPr/>
          <p:nvPr/>
        </p:nvSpPr>
        <p:spPr>
          <a:xfrm>
            <a:off x="566928" y="2313432"/>
            <a:ext cx="5394960" cy="457200"/>
          </a:xfrm>
          <a:prstGeom prst="roundRect">
            <a:avLst>
              <a:gd name="adj" fmla="val 8000"/>
            </a:avLst>
          </a:prstGeom>
          <a:solidFill>
            <a:srgbClr val="F1F4F9"/>
          </a:solidFill>
          <a:ln w="12700">
            <a:solidFill>
              <a:srgbClr val="E4EAF4"/>
            </a:solidFill>
            <a:prstDash val="solid"/>
          </a:ln>
        </p:spPr>
      </p:sp>
      <p:sp>
        <p:nvSpPr>
          <p:cNvPr id="10" name="Text 8"/>
          <p:cNvSpPr/>
          <p:nvPr/>
        </p:nvSpPr>
        <p:spPr>
          <a:xfrm>
            <a:off x="822960" y="2313432"/>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名刺・郵送DM（100通）</a:t>
            </a:r>
            <a:endParaRPr lang="en-US" sz="1200" dirty="0"/>
          </a:p>
        </p:txBody>
      </p:sp>
      <p:sp>
        <p:nvSpPr>
          <p:cNvPr id="11" name="Text 9"/>
          <p:cNvSpPr/>
          <p:nvPr/>
        </p:nvSpPr>
        <p:spPr>
          <a:xfrm>
            <a:off x="4407408" y="2313432"/>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55,000円</a:t>
            </a:r>
            <a:endParaRPr lang="en-US" sz="1200" dirty="0"/>
          </a:p>
        </p:txBody>
      </p:sp>
      <p:sp>
        <p:nvSpPr>
          <p:cNvPr id="12" name="Shape 10"/>
          <p:cNvSpPr/>
          <p:nvPr/>
        </p:nvSpPr>
        <p:spPr>
          <a:xfrm>
            <a:off x="566928" y="2843784"/>
            <a:ext cx="5394960" cy="457200"/>
          </a:xfrm>
          <a:prstGeom prst="roundRect">
            <a:avLst>
              <a:gd name="adj" fmla="val 8000"/>
            </a:avLst>
          </a:prstGeom>
          <a:solidFill>
            <a:srgbClr val="FFFFFF"/>
          </a:solidFill>
          <a:ln w="12700">
            <a:solidFill>
              <a:srgbClr val="E4EAF4"/>
            </a:solidFill>
            <a:prstDash val="solid"/>
          </a:ln>
        </p:spPr>
      </p:sp>
      <p:sp>
        <p:nvSpPr>
          <p:cNvPr id="13" name="Text 11"/>
          <p:cNvSpPr/>
          <p:nvPr/>
        </p:nvSpPr>
        <p:spPr>
          <a:xfrm>
            <a:off x="822960" y="2843784"/>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SERP・順位取得API</a:t>
            </a:r>
            <a:endParaRPr lang="en-US" sz="1200" dirty="0"/>
          </a:p>
        </p:txBody>
      </p:sp>
      <p:sp>
        <p:nvSpPr>
          <p:cNvPr id="14" name="Text 12"/>
          <p:cNvSpPr/>
          <p:nvPr/>
        </p:nvSpPr>
        <p:spPr>
          <a:xfrm>
            <a:off x="4407408" y="2843784"/>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30,000円</a:t>
            </a:r>
            <a:endParaRPr lang="en-US" sz="1200" dirty="0"/>
          </a:p>
        </p:txBody>
      </p:sp>
      <p:sp>
        <p:nvSpPr>
          <p:cNvPr id="15" name="Shape 13"/>
          <p:cNvSpPr/>
          <p:nvPr/>
        </p:nvSpPr>
        <p:spPr>
          <a:xfrm>
            <a:off x="566928" y="3374136"/>
            <a:ext cx="5394960" cy="457200"/>
          </a:xfrm>
          <a:prstGeom prst="roundRect">
            <a:avLst>
              <a:gd name="adj" fmla="val 8000"/>
            </a:avLst>
          </a:prstGeom>
          <a:solidFill>
            <a:srgbClr val="FFFFFF"/>
          </a:solidFill>
          <a:ln w="12700">
            <a:solidFill>
              <a:srgbClr val="E4EAF4"/>
            </a:solidFill>
            <a:prstDash val="solid"/>
          </a:ln>
        </p:spPr>
      </p:sp>
      <p:sp>
        <p:nvSpPr>
          <p:cNvPr id="16" name="Text 14"/>
          <p:cNvSpPr/>
          <p:nvPr/>
        </p:nvSpPr>
        <p:spPr>
          <a:xfrm>
            <a:off x="822960" y="3374136"/>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契約書・利用規約ひな形</a:t>
            </a:r>
            <a:endParaRPr lang="en-US" sz="1200" dirty="0"/>
          </a:p>
        </p:txBody>
      </p:sp>
      <p:sp>
        <p:nvSpPr>
          <p:cNvPr id="17" name="Text 15"/>
          <p:cNvSpPr/>
          <p:nvPr/>
        </p:nvSpPr>
        <p:spPr>
          <a:xfrm>
            <a:off x="4407408" y="3374136"/>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30,000円</a:t>
            </a:r>
            <a:endParaRPr lang="en-US" sz="1200" dirty="0"/>
          </a:p>
        </p:txBody>
      </p:sp>
      <p:sp>
        <p:nvSpPr>
          <p:cNvPr id="18" name="Shape 16"/>
          <p:cNvSpPr/>
          <p:nvPr/>
        </p:nvSpPr>
        <p:spPr>
          <a:xfrm>
            <a:off x="566928" y="3904488"/>
            <a:ext cx="5394960" cy="457200"/>
          </a:xfrm>
          <a:prstGeom prst="roundRect">
            <a:avLst>
              <a:gd name="adj" fmla="val 8000"/>
            </a:avLst>
          </a:prstGeom>
          <a:solidFill>
            <a:srgbClr val="FFFFFF"/>
          </a:solidFill>
          <a:ln w="12700">
            <a:solidFill>
              <a:srgbClr val="E4EAF4"/>
            </a:solidFill>
            <a:prstDash val="solid"/>
          </a:ln>
        </p:spPr>
      </p:sp>
      <p:sp>
        <p:nvSpPr>
          <p:cNvPr id="19" name="Text 17"/>
          <p:cNvSpPr/>
          <p:nvPr/>
        </p:nvSpPr>
        <p:spPr>
          <a:xfrm>
            <a:off x="822960" y="3904488"/>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予備費</a:t>
            </a:r>
            <a:endParaRPr lang="en-US" sz="1200" dirty="0"/>
          </a:p>
        </p:txBody>
      </p:sp>
      <p:sp>
        <p:nvSpPr>
          <p:cNvPr id="20" name="Text 18"/>
          <p:cNvSpPr/>
          <p:nvPr/>
        </p:nvSpPr>
        <p:spPr>
          <a:xfrm>
            <a:off x="4407408" y="3904488"/>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30,000円</a:t>
            </a:r>
            <a:endParaRPr lang="en-US" sz="1200" dirty="0"/>
          </a:p>
        </p:txBody>
      </p:sp>
      <p:sp>
        <p:nvSpPr>
          <p:cNvPr id="21" name="Shape 19"/>
          <p:cNvSpPr/>
          <p:nvPr/>
        </p:nvSpPr>
        <p:spPr>
          <a:xfrm>
            <a:off x="6199632" y="1783080"/>
            <a:ext cx="5394960" cy="457200"/>
          </a:xfrm>
          <a:prstGeom prst="roundRect">
            <a:avLst>
              <a:gd name="adj" fmla="val 8000"/>
            </a:avLst>
          </a:prstGeom>
          <a:solidFill>
            <a:srgbClr val="F1F4F9"/>
          </a:solidFill>
          <a:ln w="12700">
            <a:solidFill>
              <a:srgbClr val="E4EAF4"/>
            </a:solidFill>
            <a:prstDash val="solid"/>
          </a:ln>
        </p:spPr>
      </p:sp>
      <p:sp>
        <p:nvSpPr>
          <p:cNvPr id="22" name="Text 20"/>
          <p:cNvSpPr/>
          <p:nvPr/>
        </p:nvSpPr>
        <p:spPr>
          <a:xfrm>
            <a:off x="6455664" y="1783080"/>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n8n（クラウド）</a:t>
            </a:r>
            <a:endParaRPr lang="en-US" sz="1200" dirty="0"/>
          </a:p>
        </p:txBody>
      </p:sp>
      <p:sp>
        <p:nvSpPr>
          <p:cNvPr id="23" name="Text 21"/>
          <p:cNvSpPr/>
          <p:nvPr/>
        </p:nvSpPr>
        <p:spPr>
          <a:xfrm>
            <a:off x="10040112" y="1783080"/>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9,000円</a:t>
            </a:r>
            <a:endParaRPr lang="en-US" sz="1200" dirty="0"/>
          </a:p>
        </p:txBody>
      </p:sp>
      <p:sp>
        <p:nvSpPr>
          <p:cNvPr id="24" name="Shape 22"/>
          <p:cNvSpPr/>
          <p:nvPr/>
        </p:nvSpPr>
        <p:spPr>
          <a:xfrm>
            <a:off x="6199632" y="2313432"/>
            <a:ext cx="5394960" cy="457200"/>
          </a:xfrm>
          <a:prstGeom prst="roundRect">
            <a:avLst>
              <a:gd name="adj" fmla="val 8000"/>
            </a:avLst>
          </a:prstGeom>
          <a:solidFill>
            <a:srgbClr val="F1F4F9"/>
          </a:solidFill>
          <a:ln w="12700">
            <a:solidFill>
              <a:srgbClr val="E4EAF4"/>
            </a:solidFill>
            <a:prstDash val="solid"/>
          </a:ln>
        </p:spPr>
      </p:sp>
      <p:sp>
        <p:nvSpPr>
          <p:cNvPr id="25" name="Text 23"/>
          <p:cNvSpPr/>
          <p:nvPr/>
        </p:nvSpPr>
        <p:spPr>
          <a:xfrm>
            <a:off x="6455664" y="2313432"/>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会計freee・請求書</a:t>
            </a:r>
            <a:endParaRPr lang="en-US" sz="1200" dirty="0"/>
          </a:p>
        </p:txBody>
      </p:sp>
      <p:sp>
        <p:nvSpPr>
          <p:cNvPr id="26" name="Text 24"/>
          <p:cNvSpPr/>
          <p:nvPr/>
        </p:nvSpPr>
        <p:spPr>
          <a:xfrm>
            <a:off x="10040112" y="2313432"/>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9,000円</a:t>
            </a:r>
            <a:endParaRPr lang="en-US" sz="1200" dirty="0"/>
          </a:p>
        </p:txBody>
      </p:sp>
      <p:sp>
        <p:nvSpPr>
          <p:cNvPr id="27" name="Shape 25"/>
          <p:cNvSpPr/>
          <p:nvPr/>
        </p:nvSpPr>
        <p:spPr>
          <a:xfrm>
            <a:off x="6199632" y="2843784"/>
            <a:ext cx="5394960" cy="457200"/>
          </a:xfrm>
          <a:prstGeom prst="roundRect">
            <a:avLst>
              <a:gd name="adj" fmla="val 8000"/>
            </a:avLst>
          </a:prstGeom>
          <a:solidFill>
            <a:srgbClr val="FFFFFF"/>
          </a:solidFill>
          <a:ln w="12700">
            <a:solidFill>
              <a:srgbClr val="E4EAF4"/>
            </a:solidFill>
            <a:prstDash val="solid"/>
          </a:ln>
        </p:spPr>
      </p:sp>
      <p:sp>
        <p:nvSpPr>
          <p:cNvPr id="28" name="Text 26"/>
          <p:cNvSpPr/>
          <p:nvPr/>
        </p:nvSpPr>
        <p:spPr>
          <a:xfrm>
            <a:off x="6455664" y="2843784"/>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Vercel / Supabase</a:t>
            </a:r>
            <a:endParaRPr lang="en-US" sz="1200" dirty="0"/>
          </a:p>
        </p:txBody>
      </p:sp>
      <p:sp>
        <p:nvSpPr>
          <p:cNvPr id="29" name="Text 27"/>
          <p:cNvSpPr/>
          <p:nvPr/>
        </p:nvSpPr>
        <p:spPr>
          <a:xfrm>
            <a:off x="10040112" y="2843784"/>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6,000円</a:t>
            </a:r>
            <a:endParaRPr lang="en-US" sz="1200" dirty="0"/>
          </a:p>
        </p:txBody>
      </p:sp>
      <p:sp>
        <p:nvSpPr>
          <p:cNvPr id="30" name="Shape 28"/>
          <p:cNvSpPr/>
          <p:nvPr/>
        </p:nvSpPr>
        <p:spPr>
          <a:xfrm>
            <a:off x="6199632" y="3374136"/>
            <a:ext cx="5394960" cy="457200"/>
          </a:xfrm>
          <a:prstGeom prst="roundRect">
            <a:avLst>
              <a:gd name="adj" fmla="val 8000"/>
            </a:avLst>
          </a:prstGeom>
          <a:solidFill>
            <a:srgbClr val="FFFFFF"/>
          </a:solidFill>
          <a:ln w="12700">
            <a:solidFill>
              <a:srgbClr val="E4EAF4"/>
            </a:solidFill>
            <a:prstDash val="solid"/>
          </a:ln>
        </p:spPr>
      </p:sp>
      <p:sp>
        <p:nvSpPr>
          <p:cNvPr id="31" name="Text 29"/>
          <p:cNvSpPr/>
          <p:nvPr/>
        </p:nvSpPr>
        <p:spPr>
          <a:xfrm>
            <a:off x="6455664" y="3374136"/>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ドメイン・LP制作（自作）</a:t>
            </a:r>
            <a:endParaRPr lang="en-US" sz="1200" dirty="0"/>
          </a:p>
        </p:txBody>
      </p:sp>
      <p:sp>
        <p:nvSpPr>
          <p:cNvPr id="32" name="Text 30"/>
          <p:cNvSpPr/>
          <p:nvPr/>
        </p:nvSpPr>
        <p:spPr>
          <a:xfrm>
            <a:off x="10040112" y="3374136"/>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3,000円</a:t>
            </a:r>
            <a:endParaRPr lang="en-US" sz="1200" dirty="0"/>
          </a:p>
        </p:txBody>
      </p:sp>
      <p:sp>
        <p:nvSpPr>
          <p:cNvPr id="33" name="Shape 31"/>
          <p:cNvSpPr/>
          <p:nvPr/>
        </p:nvSpPr>
        <p:spPr>
          <a:xfrm>
            <a:off x="6199632" y="3904488"/>
            <a:ext cx="5394960" cy="457200"/>
          </a:xfrm>
          <a:prstGeom prst="roundRect">
            <a:avLst>
              <a:gd name="adj" fmla="val 8000"/>
            </a:avLst>
          </a:prstGeom>
          <a:solidFill>
            <a:srgbClr val="FFFFFF"/>
          </a:solidFill>
          <a:ln w="12700">
            <a:solidFill>
              <a:srgbClr val="E4EAF4"/>
            </a:solidFill>
            <a:prstDash val="solid"/>
          </a:ln>
        </p:spPr>
      </p:sp>
      <p:sp>
        <p:nvSpPr>
          <p:cNvPr id="34" name="Text 32"/>
          <p:cNvSpPr/>
          <p:nvPr/>
        </p:nvSpPr>
        <p:spPr>
          <a:xfrm>
            <a:off x="6455664" y="3904488"/>
            <a:ext cx="3657600"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Stripe / Resend</a:t>
            </a:r>
            <a:endParaRPr lang="en-US" sz="1200" dirty="0"/>
          </a:p>
        </p:txBody>
      </p:sp>
      <p:sp>
        <p:nvSpPr>
          <p:cNvPr id="35" name="Text 33"/>
          <p:cNvSpPr/>
          <p:nvPr/>
        </p:nvSpPr>
        <p:spPr>
          <a:xfrm>
            <a:off x="10040112" y="3904488"/>
            <a:ext cx="1325880" cy="457200"/>
          </a:xfrm>
          <a:prstGeom prst="rect">
            <a:avLst/>
          </a:prstGeom>
          <a:noFill/>
          <a:ln/>
        </p:spPr>
        <p:txBody>
          <a:bodyPr wrap="square" lIns="0" tIns="0" rIns="0" bIns="0" rtlCol="0" anchor="ctr"/>
          <a:lstStyle/>
          <a:p>
            <a:pPr algn="r" indent="0" marL="0">
              <a:buNone/>
            </a:pPr>
            <a:r>
              <a:rPr lang="en-US" sz="1200" b="1" dirty="0">
                <a:solidFill>
                  <a:srgbClr val="141A2E"/>
                </a:solidFill>
                <a:latin typeface="Yu Gothic" pitchFamily="34" charset="0"/>
                <a:ea typeface="Yu Gothic" pitchFamily="34" charset="-122"/>
                <a:cs typeface="Yu Gothic" pitchFamily="34" charset="-120"/>
              </a:rPr>
              <a:t>2,000円</a:t>
            </a:r>
            <a:endParaRPr lang="en-US" sz="1200" dirty="0"/>
          </a:p>
        </p:txBody>
      </p:sp>
      <p:sp>
        <p:nvSpPr>
          <p:cNvPr id="36" name="Shape 34"/>
          <p:cNvSpPr/>
          <p:nvPr/>
        </p:nvSpPr>
        <p:spPr>
          <a:xfrm>
            <a:off x="566928" y="4480560"/>
            <a:ext cx="11027664" cy="914400"/>
          </a:xfrm>
          <a:prstGeom prst="roundRect">
            <a:avLst>
              <a:gd name="adj" fmla="val 6000"/>
            </a:avLst>
          </a:prstGeom>
          <a:solidFill>
            <a:srgbClr val="141A2E"/>
          </a:solidFill>
          <a:ln/>
        </p:spPr>
      </p:sp>
      <p:sp>
        <p:nvSpPr>
          <p:cNvPr id="37" name="Text 35"/>
          <p:cNvSpPr/>
          <p:nvPr/>
        </p:nvSpPr>
        <p:spPr>
          <a:xfrm>
            <a:off x="896112" y="4480560"/>
            <a:ext cx="2743200" cy="914400"/>
          </a:xfrm>
          <a:prstGeom prst="rect">
            <a:avLst/>
          </a:prstGeom>
          <a:noFill/>
          <a:ln/>
        </p:spPr>
        <p:txBody>
          <a:bodyPr wrap="square" lIns="0" tIns="0" rIns="0" bIns="0" rtlCol="0" anchor="ctr"/>
          <a:lstStyle/>
          <a:p>
            <a:pPr indent="0" marL="0">
              <a:buNone/>
            </a:pPr>
            <a:r>
              <a:rPr lang="en-US" sz="1500" b="1" dirty="0">
                <a:solidFill>
                  <a:srgbClr val="A9BEE3"/>
                </a:solidFill>
                <a:latin typeface="Yu Gothic" pitchFamily="34" charset="0"/>
                <a:ea typeface="Yu Gothic" pitchFamily="34" charset="-122"/>
                <a:cs typeface="Yu Gothic" pitchFamily="34" charset="-120"/>
              </a:rPr>
              <a:t>3か月累計</a:t>
            </a:r>
            <a:endParaRPr lang="en-US" sz="1500" dirty="0"/>
          </a:p>
        </p:txBody>
      </p:sp>
      <p:sp>
        <p:nvSpPr>
          <p:cNvPr id="38" name="Text 36"/>
          <p:cNvSpPr/>
          <p:nvPr/>
        </p:nvSpPr>
        <p:spPr>
          <a:xfrm>
            <a:off x="3493008" y="4480560"/>
            <a:ext cx="3108960" cy="914400"/>
          </a:xfrm>
          <a:prstGeom prst="rect">
            <a:avLst/>
          </a:prstGeom>
          <a:noFill/>
          <a:ln/>
        </p:spPr>
        <p:txBody>
          <a:bodyPr wrap="square" lIns="0" tIns="0" rIns="0" bIns="0" rtlCol="0" anchor="ctr"/>
          <a:lstStyle/>
          <a:p>
            <a:pPr indent="0" marL="0">
              <a:buNone/>
            </a:pPr>
            <a:r>
              <a:rPr lang="en-US" sz="3000" b="1" dirty="0">
                <a:solidFill>
                  <a:srgbClr val="E0A03A"/>
                </a:solidFill>
                <a:latin typeface="Yu Gothic" pitchFamily="34" charset="0"/>
                <a:ea typeface="Yu Gothic" pitchFamily="34" charset="-122"/>
                <a:cs typeface="Yu Gothic" pitchFamily="34" charset="-120"/>
              </a:rPr>
              <a:t>234,000円</a:t>
            </a:r>
            <a:endParaRPr lang="en-US" sz="3000" dirty="0"/>
          </a:p>
        </p:txBody>
      </p:sp>
      <p:sp>
        <p:nvSpPr>
          <p:cNvPr id="39" name="Text 37"/>
          <p:cNvSpPr/>
          <p:nvPr/>
        </p:nvSpPr>
        <p:spPr>
          <a:xfrm>
            <a:off x="6967728" y="4480560"/>
            <a:ext cx="4480560" cy="914400"/>
          </a:xfrm>
          <a:prstGeom prst="rect">
            <a:avLst/>
          </a:prstGeom>
          <a:noFill/>
          <a:ln/>
        </p:spPr>
        <p:txBody>
          <a:bodyPr wrap="square" lIns="0" tIns="0" rIns="0" bIns="0" rtlCol="0" anchor="ctr"/>
          <a:lstStyle/>
          <a:p>
            <a:pPr indent="0" marL="0">
              <a:lnSpc>
                <a:spcPts val="2000"/>
              </a:lnSpc>
              <a:buNone/>
            </a:pPr>
            <a:r>
              <a:rPr lang="en-US" sz="1250" dirty="0">
                <a:solidFill>
                  <a:srgbClr val="FFFFFF"/>
                </a:solidFill>
                <a:latin typeface="Yu Gothic" pitchFamily="34" charset="0"/>
                <a:ea typeface="Yu Gothic" pitchFamily="34" charset="-122"/>
                <a:cs typeface="Yu Gothic" pitchFamily="34" charset="-120"/>
              </a:rPr>
              <a:t>法人設立・オフィス・人材採用はすべて不要。</a:t>
            </a:r>
            <a:endParaRPr lang="en-US" sz="1250" dirty="0"/>
          </a:p>
          <a:p>
            <a:pPr indent="0" marL="0">
              <a:lnSpc>
                <a:spcPts val="2000"/>
              </a:lnSpc>
              <a:buNone/>
            </a:pPr>
            <a:r>
              <a:rPr lang="en-US" sz="1250" dirty="0">
                <a:solidFill>
                  <a:srgbClr val="FFFFFF"/>
                </a:solidFill>
                <a:latin typeface="Yu Gothic" pitchFamily="34" charset="0"/>
                <a:ea typeface="Yu Gothic" pitchFamily="34" charset="-122"/>
                <a:cs typeface="Yu Gothic" pitchFamily="34" charset="-120"/>
              </a:rPr>
              <a:t>在庫・設備・人件費はゼロ。</a:t>
            </a:r>
            <a:endParaRPr lang="en-US" sz="1250" dirty="0"/>
          </a:p>
        </p:txBody>
      </p:sp>
      <p:sp>
        <p:nvSpPr>
          <p:cNvPr id="40" name="Text 38"/>
          <p:cNvSpPr/>
          <p:nvPr/>
        </p:nvSpPr>
        <p:spPr>
          <a:xfrm>
            <a:off x="566928" y="5577840"/>
            <a:ext cx="10881360" cy="457200"/>
          </a:xfrm>
          <a:prstGeom prst="rect">
            <a:avLst/>
          </a:prstGeom>
          <a:noFill/>
          <a:ln/>
        </p:spPr>
        <p:txBody>
          <a:bodyPr wrap="square" lIns="0" tIns="0" rIns="0" bIns="0" rtlCol="0" anchor="ctr"/>
          <a:lstStyle/>
          <a:p>
            <a:pPr indent="0" marL="0">
              <a:buNone/>
            </a:pPr>
            <a:r>
              <a:rPr lang="en-US" sz="1300" dirty="0">
                <a:solidFill>
                  <a:srgbClr val="242B3D"/>
                </a:solidFill>
                <a:latin typeface="Yu Gothic" pitchFamily="34" charset="0"/>
                <a:ea typeface="Yu Gothic" pitchFamily="34" charset="-122"/>
                <a:cs typeface="Yu Gothic" pitchFamily="34" charset="-120"/>
              </a:rPr>
              <a:t>損益分岐は月額契約3社。初月の支出は94,000円で、W5–6の初受注（10〜20万円）が出た時点で回収が始まる。</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050" b="1" dirty="0">
                <a:solidFill>
                  <a:srgbClr val="141A2E"/>
                </a:solidFill>
                <a:latin typeface="Yu Gothic" pitchFamily="34" charset="0"/>
                <a:ea typeface="Yu Gothic" pitchFamily="34" charset="-122"/>
                <a:cs typeface="Yu Gothic" pitchFamily="34" charset="-120"/>
              </a:rPr>
              <a:t>14</a:t>
            </a:r>
            <a:endParaRPr lang="en-US" sz="105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667088"/>
                </a:solidFill>
                <a:latin typeface="Yu Gothic" pitchFamily="34" charset="0"/>
                <a:ea typeface="Yu Gothic" pitchFamily="34" charset="-122"/>
                <a:cs typeface="Yu Gothic" pitchFamily="34" charset="-120"/>
              </a:rPr>
              <a:t>RISK</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141A2E"/>
                </a:solidFill>
                <a:latin typeface="Yu Gothic" pitchFamily="34" charset="0"/>
                <a:ea typeface="Yu Gothic" pitchFamily="34" charset="-122"/>
                <a:cs typeface="Yu Gothic" pitchFamily="34" charset="-120"/>
              </a:rPr>
              <a:t>リスクと対策 — 先に潰しておく2つ</a:t>
            </a:r>
            <a:endParaRPr lang="en-US" sz="3200" dirty="0"/>
          </a:p>
        </p:txBody>
      </p:sp>
      <p:sp>
        <p:nvSpPr>
          <p:cNvPr id="6" name="Shape 4"/>
          <p:cNvSpPr/>
          <p:nvPr/>
        </p:nvSpPr>
        <p:spPr>
          <a:xfrm>
            <a:off x="566928" y="1783080"/>
            <a:ext cx="5394960" cy="1874520"/>
          </a:xfrm>
          <a:prstGeom prst="roundRect">
            <a:avLst>
              <a:gd name="adj" fmla="val 2927"/>
            </a:avLst>
          </a:prstGeom>
          <a:solidFill>
            <a:srgbClr val="F8E9E5"/>
          </a:solidFill>
          <a:ln/>
        </p:spPr>
      </p:sp>
      <p:sp>
        <p:nvSpPr>
          <p:cNvPr id="7" name="Shape 5"/>
          <p:cNvSpPr/>
          <p:nvPr/>
        </p:nvSpPr>
        <p:spPr>
          <a:xfrm>
            <a:off x="841248" y="2011680"/>
            <a:ext cx="365760" cy="365760"/>
          </a:xfrm>
          <a:prstGeom prst="ellipse">
            <a:avLst/>
          </a:prstGeom>
          <a:solidFill>
            <a:srgbClr val="C8503C"/>
          </a:solidFill>
          <a:ln/>
        </p:spPr>
      </p:sp>
      <p:sp>
        <p:nvSpPr>
          <p:cNvPr id="8" name="Text 6"/>
          <p:cNvSpPr/>
          <p:nvPr/>
        </p:nvSpPr>
        <p:spPr>
          <a:xfrm>
            <a:off x="841248" y="20116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a:t>
            </a:r>
            <a:endParaRPr lang="en-US" sz="1500" dirty="0"/>
          </a:p>
        </p:txBody>
      </p:sp>
      <p:sp>
        <p:nvSpPr>
          <p:cNvPr id="9" name="Text 7"/>
          <p:cNvSpPr/>
          <p:nvPr/>
        </p:nvSpPr>
        <p:spPr>
          <a:xfrm>
            <a:off x="1335024" y="1993392"/>
            <a:ext cx="4297680" cy="402336"/>
          </a:xfrm>
          <a:prstGeom prst="rect">
            <a:avLst/>
          </a:prstGeom>
          <a:noFill/>
          <a:ln/>
        </p:spPr>
        <p:txBody>
          <a:bodyPr wrap="square" lIns="0" tIns="0" rIns="0" bIns="0" rtlCol="0" anchor="ctr"/>
          <a:lstStyle/>
          <a:p>
            <a:pPr indent="0" marL="0">
              <a:buNone/>
            </a:pPr>
            <a:r>
              <a:rPr lang="en-US" sz="1700" b="1" dirty="0">
                <a:solidFill>
                  <a:srgbClr val="C8503C"/>
                </a:solidFill>
                <a:latin typeface="Yu Gothic" pitchFamily="34" charset="0"/>
                <a:ea typeface="Yu Gothic" pitchFamily="34" charset="-122"/>
                <a:cs typeface="Yu Gothic" pitchFamily="34" charset="-120"/>
              </a:rPr>
              <a:t>AI事業者の利用規約</a:t>
            </a:r>
            <a:endParaRPr lang="en-US" sz="1700" dirty="0"/>
          </a:p>
        </p:txBody>
      </p:sp>
      <p:sp>
        <p:nvSpPr>
          <p:cNvPr id="10" name="Text 8"/>
          <p:cNvSpPr/>
          <p:nvPr/>
        </p:nvSpPr>
        <p:spPr>
          <a:xfrm>
            <a:off x="859536" y="2487168"/>
            <a:ext cx="4809744" cy="1042416"/>
          </a:xfrm>
          <a:prstGeom prst="rect">
            <a:avLst/>
          </a:prstGeom>
          <a:noFill/>
          <a:ln/>
        </p:spPr>
        <p:txBody>
          <a:bodyPr wrap="square" lIns="0" tIns="0" rIns="0" bIns="0" rtlCol="0" anchor="ctr"/>
          <a:lstStyle/>
          <a:p>
            <a:pPr indent="0" marL="0">
              <a:lnSpc>
                <a:spcPts val="1900"/>
              </a:lnSpc>
              <a:buNone/>
            </a:pPr>
            <a:r>
              <a:rPr lang="en-US" sz="1150" dirty="0">
                <a:solidFill>
                  <a:srgbClr val="242B3D"/>
                </a:solidFill>
                <a:latin typeface="Yu Gothic" pitchFamily="34" charset="0"/>
                <a:ea typeface="Yu Gothic" pitchFamily="34" charset="-122"/>
                <a:cs typeface="Yu Gothic" pitchFamily="34" charset="-120"/>
              </a:rPr>
              <a:t>ChatGPT等のUIをスクレイピングで自動操作するのは規約違反リスクが高い。必ず公式API、または正規のSERP／AI Overviews取得サービスを使い、UI自動操作は行わない。コスト増（1社月3,000円）は原価に織り込み済み。</a:t>
            </a:r>
            <a:endParaRPr lang="en-US" sz="1150" dirty="0"/>
          </a:p>
        </p:txBody>
      </p:sp>
      <p:sp>
        <p:nvSpPr>
          <p:cNvPr id="11" name="Shape 9"/>
          <p:cNvSpPr/>
          <p:nvPr/>
        </p:nvSpPr>
        <p:spPr>
          <a:xfrm>
            <a:off x="6199632" y="1783080"/>
            <a:ext cx="5394960" cy="1874520"/>
          </a:xfrm>
          <a:prstGeom prst="roundRect">
            <a:avLst>
              <a:gd name="adj" fmla="val 2927"/>
            </a:avLst>
          </a:prstGeom>
          <a:solidFill>
            <a:srgbClr val="F8E9E5"/>
          </a:solidFill>
          <a:ln/>
        </p:spPr>
      </p:sp>
      <p:sp>
        <p:nvSpPr>
          <p:cNvPr id="12" name="Shape 10"/>
          <p:cNvSpPr/>
          <p:nvPr/>
        </p:nvSpPr>
        <p:spPr>
          <a:xfrm>
            <a:off x="6473952" y="2011680"/>
            <a:ext cx="365760" cy="365760"/>
          </a:xfrm>
          <a:prstGeom prst="ellipse">
            <a:avLst/>
          </a:prstGeom>
          <a:solidFill>
            <a:srgbClr val="C8503C"/>
          </a:solidFill>
          <a:ln/>
        </p:spPr>
      </p:sp>
      <p:sp>
        <p:nvSpPr>
          <p:cNvPr id="13" name="Text 11"/>
          <p:cNvSpPr/>
          <p:nvPr/>
        </p:nvSpPr>
        <p:spPr>
          <a:xfrm>
            <a:off x="6473952" y="20116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a:t>
            </a:r>
            <a:endParaRPr lang="en-US" sz="1500" dirty="0"/>
          </a:p>
        </p:txBody>
      </p:sp>
      <p:sp>
        <p:nvSpPr>
          <p:cNvPr id="14" name="Text 12"/>
          <p:cNvSpPr/>
          <p:nvPr/>
        </p:nvSpPr>
        <p:spPr>
          <a:xfrm>
            <a:off x="6967728" y="1993392"/>
            <a:ext cx="4297680" cy="402336"/>
          </a:xfrm>
          <a:prstGeom prst="rect">
            <a:avLst/>
          </a:prstGeom>
          <a:noFill/>
          <a:ln/>
        </p:spPr>
        <p:txBody>
          <a:bodyPr wrap="square" lIns="0" tIns="0" rIns="0" bIns="0" rtlCol="0" anchor="ctr"/>
          <a:lstStyle/>
          <a:p>
            <a:pPr indent="0" marL="0">
              <a:buNone/>
            </a:pPr>
            <a:r>
              <a:rPr lang="en-US" sz="1700" b="1" dirty="0">
                <a:solidFill>
                  <a:srgbClr val="C8503C"/>
                </a:solidFill>
                <a:latin typeface="Yu Gothic" pitchFamily="34" charset="0"/>
                <a:ea typeface="Yu Gothic" pitchFamily="34" charset="-122"/>
                <a:cs typeface="Yu Gothic" pitchFamily="34" charset="-120"/>
              </a:rPr>
              <a:t>特定電子メール法</a:t>
            </a:r>
            <a:endParaRPr lang="en-US" sz="1700" dirty="0"/>
          </a:p>
        </p:txBody>
      </p:sp>
      <p:sp>
        <p:nvSpPr>
          <p:cNvPr id="15" name="Text 13"/>
          <p:cNvSpPr/>
          <p:nvPr/>
        </p:nvSpPr>
        <p:spPr>
          <a:xfrm>
            <a:off x="6492240" y="2487168"/>
            <a:ext cx="4809744" cy="1042416"/>
          </a:xfrm>
          <a:prstGeom prst="rect">
            <a:avLst/>
          </a:prstGeom>
          <a:noFill/>
          <a:ln/>
        </p:spPr>
        <p:txBody>
          <a:bodyPr wrap="square" lIns="0" tIns="0" rIns="0" bIns="0" rtlCol="0" anchor="ctr"/>
          <a:lstStyle/>
          <a:p>
            <a:pPr indent="0" marL="0">
              <a:lnSpc>
                <a:spcPts val="1900"/>
              </a:lnSpc>
              <a:buNone/>
            </a:pPr>
            <a:r>
              <a:rPr lang="en-US" sz="1150" dirty="0">
                <a:solidFill>
                  <a:srgbClr val="242B3D"/>
                </a:solidFill>
                <a:latin typeface="Yu Gothic" pitchFamily="34" charset="0"/>
                <a:ea typeface="Yu Gothic" pitchFamily="34" charset="-122"/>
                <a:cs typeface="Yu Gothic" pitchFamily="34" charset="-120"/>
              </a:rPr>
              <a:t>無差別のメール営業は違法。広告メールはオプトイン取得後のみとし、初回接触は問い合わせフォーム／郵送DM／SNS DM／紹介で行う。郵送DM費用は初期投資に計上済み。</a:t>
            </a:r>
            <a:endParaRPr lang="en-US" sz="1150" dirty="0"/>
          </a:p>
        </p:txBody>
      </p:sp>
      <p:sp>
        <p:nvSpPr>
          <p:cNvPr id="16" name="Shape 14"/>
          <p:cNvSpPr/>
          <p:nvPr/>
        </p:nvSpPr>
        <p:spPr>
          <a:xfrm>
            <a:off x="566928" y="3840480"/>
            <a:ext cx="11027664" cy="457200"/>
          </a:xfrm>
          <a:prstGeom prst="roundRect">
            <a:avLst>
              <a:gd name="adj" fmla="val 8000"/>
            </a:avLst>
          </a:prstGeom>
          <a:solidFill>
            <a:srgbClr val="F1F4F9"/>
          </a:solidFill>
          <a:ln/>
        </p:spPr>
      </p:sp>
      <p:sp>
        <p:nvSpPr>
          <p:cNvPr id="17" name="Text 15"/>
          <p:cNvSpPr/>
          <p:nvPr/>
        </p:nvSpPr>
        <p:spPr>
          <a:xfrm>
            <a:off x="859536" y="3840480"/>
            <a:ext cx="3017520" cy="457200"/>
          </a:xfrm>
          <a:prstGeom prst="rect">
            <a:avLst/>
          </a:prstGeom>
          <a:noFill/>
          <a:ln/>
        </p:spPr>
        <p:txBody>
          <a:bodyPr wrap="square" lIns="0" tIns="0" rIns="0" bIns="0" rtlCol="0" anchor="ctr"/>
          <a:lstStyle/>
          <a:p>
            <a:pPr indent="0" marL="0">
              <a:buNone/>
            </a:pPr>
            <a:r>
              <a:rPr lang="en-US" sz="1200" b="1" dirty="0">
                <a:solidFill>
                  <a:srgbClr val="141A2E"/>
                </a:solidFill>
                <a:latin typeface="Yu Gothic" pitchFamily="34" charset="0"/>
                <a:ea typeface="Yu Gothic" pitchFamily="34" charset="-122"/>
                <a:cs typeface="Yu Gothic" pitchFamily="34" charset="-120"/>
              </a:rPr>
              <a:t>競合の増加（40社超）</a:t>
            </a:r>
            <a:endParaRPr lang="en-US" sz="1200" dirty="0"/>
          </a:p>
        </p:txBody>
      </p:sp>
      <p:sp>
        <p:nvSpPr>
          <p:cNvPr id="18" name="Text 16"/>
          <p:cNvSpPr/>
          <p:nvPr/>
        </p:nvSpPr>
        <p:spPr>
          <a:xfrm>
            <a:off x="4041648" y="3840480"/>
            <a:ext cx="7278624"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士業特化＋月5〜15万円の価格帯で大手と直接競合しない</a:t>
            </a:r>
            <a:endParaRPr lang="en-US" sz="1200" dirty="0"/>
          </a:p>
        </p:txBody>
      </p:sp>
      <p:sp>
        <p:nvSpPr>
          <p:cNvPr id="19" name="Shape 17"/>
          <p:cNvSpPr/>
          <p:nvPr/>
        </p:nvSpPr>
        <p:spPr>
          <a:xfrm>
            <a:off x="566928" y="4370832"/>
            <a:ext cx="11027664" cy="457200"/>
          </a:xfrm>
          <a:prstGeom prst="roundRect">
            <a:avLst>
              <a:gd name="adj" fmla="val 8000"/>
            </a:avLst>
          </a:prstGeom>
          <a:solidFill>
            <a:srgbClr val="F1F4F9"/>
          </a:solidFill>
          <a:ln/>
        </p:spPr>
      </p:sp>
      <p:sp>
        <p:nvSpPr>
          <p:cNvPr id="20" name="Text 18"/>
          <p:cNvSpPr/>
          <p:nvPr/>
        </p:nvSpPr>
        <p:spPr>
          <a:xfrm>
            <a:off x="859536" y="4370832"/>
            <a:ext cx="3017520" cy="457200"/>
          </a:xfrm>
          <a:prstGeom prst="rect">
            <a:avLst/>
          </a:prstGeom>
          <a:noFill/>
          <a:ln/>
        </p:spPr>
        <p:txBody>
          <a:bodyPr wrap="square" lIns="0" tIns="0" rIns="0" bIns="0" rtlCol="0" anchor="ctr"/>
          <a:lstStyle/>
          <a:p>
            <a:pPr indent="0" marL="0">
              <a:buNone/>
            </a:pPr>
            <a:r>
              <a:rPr lang="en-US" sz="1200" b="1" dirty="0">
                <a:solidFill>
                  <a:srgbClr val="141A2E"/>
                </a:solidFill>
                <a:latin typeface="Yu Gothic" pitchFamily="34" charset="0"/>
                <a:ea typeface="Yu Gothic" pitchFamily="34" charset="-122"/>
                <a:cs typeface="Yu Gothic" pitchFamily="34" charset="-120"/>
              </a:rPr>
              <a:t>アルゴリズム変動</a:t>
            </a:r>
            <a:endParaRPr lang="en-US" sz="1200" dirty="0"/>
          </a:p>
        </p:txBody>
      </p:sp>
      <p:sp>
        <p:nvSpPr>
          <p:cNvPr id="21" name="Text 19"/>
          <p:cNvSpPr/>
          <p:nvPr/>
        </p:nvSpPr>
        <p:spPr>
          <a:xfrm>
            <a:off x="4041648" y="4370832"/>
            <a:ext cx="7278624"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複合指標で契約し、成果保証・順位保証は書かない</a:t>
            </a:r>
            <a:endParaRPr lang="en-US" sz="1200" dirty="0"/>
          </a:p>
        </p:txBody>
      </p:sp>
      <p:sp>
        <p:nvSpPr>
          <p:cNvPr id="22" name="Shape 20"/>
          <p:cNvSpPr/>
          <p:nvPr/>
        </p:nvSpPr>
        <p:spPr>
          <a:xfrm>
            <a:off x="566928" y="4901184"/>
            <a:ext cx="11027664" cy="457200"/>
          </a:xfrm>
          <a:prstGeom prst="roundRect">
            <a:avLst>
              <a:gd name="adj" fmla="val 8000"/>
            </a:avLst>
          </a:prstGeom>
          <a:solidFill>
            <a:srgbClr val="F1F4F9"/>
          </a:solidFill>
          <a:ln/>
        </p:spPr>
      </p:sp>
      <p:sp>
        <p:nvSpPr>
          <p:cNvPr id="23" name="Text 21"/>
          <p:cNvSpPr/>
          <p:nvPr/>
        </p:nvSpPr>
        <p:spPr>
          <a:xfrm>
            <a:off x="859536" y="4901184"/>
            <a:ext cx="3017520" cy="457200"/>
          </a:xfrm>
          <a:prstGeom prst="rect">
            <a:avLst/>
          </a:prstGeom>
          <a:noFill/>
          <a:ln/>
        </p:spPr>
        <p:txBody>
          <a:bodyPr wrap="square" lIns="0" tIns="0" rIns="0" bIns="0" rtlCol="0" anchor="ctr"/>
          <a:lstStyle/>
          <a:p>
            <a:pPr indent="0" marL="0">
              <a:buNone/>
            </a:pPr>
            <a:r>
              <a:rPr lang="en-US" sz="1200" b="1" dirty="0">
                <a:solidFill>
                  <a:srgbClr val="141A2E"/>
                </a:solidFill>
                <a:latin typeface="Yu Gothic" pitchFamily="34" charset="0"/>
                <a:ea typeface="Yu Gothic" pitchFamily="34" charset="-122"/>
                <a:cs typeface="Yu Gothic" pitchFamily="34" charset="-120"/>
              </a:rPr>
              <a:t>成果不実感による解約</a:t>
            </a:r>
            <a:endParaRPr lang="en-US" sz="1200" dirty="0"/>
          </a:p>
        </p:txBody>
      </p:sp>
      <p:sp>
        <p:nvSpPr>
          <p:cNvPr id="24" name="Text 22"/>
          <p:cNvSpPr/>
          <p:nvPr/>
        </p:nvSpPr>
        <p:spPr>
          <a:xfrm>
            <a:off x="4041648" y="4901184"/>
            <a:ext cx="7278624"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指名検索数・問い合わせ数まで追い、初月に必ず可視の改善を出す</a:t>
            </a:r>
            <a:endParaRPr lang="en-US" sz="1200" dirty="0"/>
          </a:p>
        </p:txBody>
      </p:sp>
      <p:sp>
        <p:nvSpPr>
          <p:cNvPr id="25" name="Shape 23"/>
          <p:cNvSpPr/>
          <p:nvPr/>
        </p:nvSpPr>
        <p:spPr>
          <a:xfrm>
            <a:off x="566928" y="5431536"/>
            <a:ext cx="11027664" cy="457200"/>
          </a:xfrm>
          <a:prstGeom prst="roundRect">
            <a:avLst>
              <a:gd name="adj" fmla="val 8000"/>
            </a:avLst>
          </a:prstGeom>
          <a:solidFill>
            <a:srgbClr val="F1F4F9"/>
          </a:solidFill>
          <a:ln/>
        </p:spPr>
      </p:sp>
      <p:sp>
        <p:nvSpPr>
          <p:cNvPr id="26" name="Text 24"/>
          <p:cNvSpPr/>
          <p:nvPr/>
        </p:nvSpPr>
        <p:spPr>
          <a:xfrm>
            <a:off x="859536" y="5431536"/>
            <a:ext cx="3017520" cy="457200"/>
          </a:xfrm>
          <a:prstGeom prst="rect">
            <a:avLst/>
          </a:prstGeom>
          <a:noFill/>
          <a:ln/>
        </p:spPr>
        <p:txBody>
          <a:bodyPr wrap="square" lIns="0" tIns="0" rIns="0" bIns="0" rtlCol="0" anchor="ctr"/>
          <a:lstStyle/>
          <a:p>
            <a:pPr indent="0" marL="0">
              <a:buNone/>
            </a:pPr>
            <a:r>
              <a:rPr lang="en-US" sz="1200" b="1" dirty="0">
                <a:solidFill>
                  <a:srgbClr val="141A2E"/>
                </a:solidFill>
                <a:latin typeface="Yu Gothic" pitchFamily="34" charset="0"/>
                <a:ea typeface="Yu Gothic" pitchFamily="34" charset="-122"/>
                <a:cs typeface="Yu Gothic" pitchFamily="34" charset="-120"/>
              </a:rPr>
              <a:t>本業の就業規則・税務</a:t>
            </a:r>
            <a:endParaRPr lang="en-US" sz="1200" dirty="0"/>
          </a:p>
        </p:txBody>
      </p:sp>
      <p:sp>
        <p:nvSpPr>
          <p:cNvPr id="27" name="Text 25"/>
          <p:cNvSpPr/>
          <p:nvPr/>
        </p:nvSpPr>
        <p:spPr>
          <a:xfrm>
            <a:off x="4041648" y="5431536"/>
            <a:ext cx="7278624"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副業可否と競業避止を先に確認。住民税は普通徴収を選択</a:t>
            </a:r>
            <a:endParaRPr lang="en-US" sz="1200" dirty="0"/>
          </a:p>
        </p:txBody>
      </p:sp>
      <p:sp>
        <p:nvSpPr>
          <p:cNvPr id="28" name="Shape 26"/>
          <p:cNvSpPr/>
          <p:nvPr/>
        </p:nvSpPr>
        <p:spPr>
          <a:xfrm>
            <a:off x="566928" y="5961888"/>
            <a:ext cx="11027664" cy="457200"/>
          </a:xfrm>
          <a:prstGeom prst="roundRect">
            <a:avLst>
              <a:gd name="adj" fmla="val 8000"/>
            </a:avLst>
          </a:prstGeom>
          <a:solidFill>
            <a:srgbClr val="F1F4F9"/>
          </a:solidFill>
          <a:ln/>
        </p:spPr>
      </p:sp>
      <p:sp>
        <p:nvSpPr>
          <p:cNvPr id="29" name="Text 27"/>
          <p:cNvSpPr/>
          <p:nvPr/>
        </p:nvSpPr>
        <p:spPr>
          <a:xfrm>
            <a:off x="859536" y="5961888"/>
            <a:ext cx="3017520" cy="457200"/>
          </a:xfrm>
          <a:prstGeom prst="rect">
            <a:avLst/>
          </a:prstGeom>
          <a:noFill/>
          <a:ln/>
        </p:spPr>
        <p:txBody>
          <a:bodyPr wrap="square" lIns="0" tIns="0" rIns="0" bIns="0" rtlCol="0" anchor="ctr"/>
          <a:lstStyle/>
          <a:p>
            <a:pPr indent="0" marL="0">
              <a:buNone/>
            </a:pPr>
            <a:r>
              <a:rPr lang="en-US" sz="1200" b="1" dirty="0">
                <a:solidFill>
                  <a:srgbClr val="141A2E"/>
                </a:solidFill>
                <a:latin typeface="Yu Gothic" pitchFamily="34" charset="0"/>
                <a:ea typeface="Yu Gothic" pitchFamily="34" charset="-122"/>
                <a:cs typeface="Yu Gothic" pitchFamily="34" charset="-120"/>
              </a:rPr>
              <a:t>1人稼働の上限</a:t>
            </a:r>
            <a:endParaRPr lang="en-US" sz="1200" dirty="0"/>
          </a:p>
        </p:txBody>
      </p:sp>
      <p:sp>
        <p:nvSpPr>
          <p:cNvPr id="30" name="Text 28"/>
          <p:cNvSpPr/>
          <p:nvPr/>
        </p:nvSpPr>
        <p:spPr>
          <a:xfrm>
            <a:off x="4041648" y="5961888"/>
            <a:ext cx="7278624" cy="457200"/>
          </a:xfrm>
          <a:prstGeom prst="rect">
            <a:avLst/>
          </a:prstGeom>
          <a:noFill/>
          <a:ln/>
        </p:spPr>
        <p:txBody>
          <a:bodyPr wrap="square" lIns="0" tIns="0" rIns="0" bIns="0" rtlCol="0" anchor="ctr"/>
          <a:lstStyle/>
          <a:p>
            <a:pPr indent="0" marL="0">
              <a:buNone/>
            </a:pPr>
            <a:r>
              <a:rPr lang="en-US" sz="1200" dirty="0">
                <a:solidFill>
                  <a:srgbClr val="242B3D"/>
                </a:solidFill>
                <a:latin typeface="Yu Gothic" pitchFamily="34" charset="0"/>
                <a:ea typeface="Yu Gothic" pitchFamily="34" charset="-122"/>
                <a:cs typeface="Yu Gothic" pitchFamily="34" charset="-120"/>
              </a:rPr>
              <a:t>サービスは40社を上限とし、以降はSaaSへ誘導</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A2E"/>
        </a:solidFill>
      </p:bgPr>
    </p:bg>
    <p:spTree>
      <p:nvGrpSpPr>
        <p:cNvPr id="1" name=""/>
        <p:cNvGrpSpPr/>
        <p:nvPr/>
      </p:nvGrpSpPr>
      <p:grpSpPr>
        <a:xfrm>
          <a:off x="0" y="0"/>
          <a:ext cx="0" cy="0"/>
          <a:chOff x="0" y="0"/>
          <a:chExt cx="0" cy="0"/>
        </a:xfrm>
      </p:grpSpPr>
      <p:sp>
        <p:nvSpPr>
          <p:cNvPr id="2" name="Shape 0"/>
          <p:cNvSpPr/>
          <p:nvPr/>
        </p:nvSpPr>
        <p:spPr>
          <a:xfrm>
            <a:off x="566928" y="475488"/>
            <a:ext cx="310896" cy="310896"/>
          </a:xfrm>
          <a:prstGeom prst="ellipse">
            <a:avLst/>
          </a:prstGeom>
          <a:solidFill>
            <a:srgbClr val="E0A03A"/>
          </a:solidFill>
          <a:ln/>
        </p:spPr>
      </p:sp>
      <p:sp>
        <p:nvSpPr>
          <p:cNvPr id="3" name="Text 1"/>
          <p:cNvSpPr/>
          <p:nvPr/>
        </p:nvSpPr>
        <p:spPr>
          <a:xfrm>
            <a:off x="566928" y="475488"/>
            <a:ext cx="310896" cy="310896"/>
          </a:xfrm>
          <a:prstGeom prst="rect">
            <a:avLst/>
          </a:prstGeom>
          <a:noFill/>
          <a:ln/>
        </p:spPr>
        <p:txBody>
          <a:bodyPr wrap="square" lIns="0" tIns="0" rIns="0" bIns="0" rtlCol="0" anchor="ctr"/>
          <a:lstStyle/>
          <a:p>
            <a:pPr algn="ctr" indent="0" marL="0">
              <a:buNone/>
            </a:pPr>
            <a:r>
              <a:rPr lang="en-US" sz="1050" b="1" dirty="0">
                <a:solidFill>
                  <a:srgbClr val="141A2E"/>
                </a:solidFill>
                <a:latin typeface="Yu Gothic" pitchFamily="34" charset="0"/>
                <a:ea typeface="Yu Gothic" pitchFamily="34" charset="-122"/>
                <a:cs typeface="Yu Gothic" pitchFamily="34" charset="-120"/>
              </a:rPr>
              <a:t>15</a:t>
            </a:r>
            <a:endParaRPr lang="en-US" sz="1050" dirty="0"/>
          </a:p>
        </p:txBody>
      </p:sp>
      <p:sp>
        <p:nvSpPr>
          <p:cNvPr id="4" name="Text 2"/>
          <p:cNvSpPr/>
          <p:nvPr/>
        </p:nvSpPr>
        <p:spPr>
          <a:xfrm>
            <a:off x="1024128" y="475488"/>
            <a:ext cx="5486400" cy="310896"/>
          </a:xfrm>
          <a:prstGeom prst="rect">
            <a:avLst/>
          </a:prstGeom>
          <a:noFill/>
          <a:ln/>
        </p:spPr>
        <p:txBody>
          <a:bodyPr wrap="square" lIns="0" tIns="0" rIns="0" bIns="0" rtlCol="0" anchor="ctr"/>
          <a:lstStyle/>
          <a:p>
            <a:pPr indent="0" marL="0">
              <a:buNone/>
            </a:pPr>
            <a:r>
              <a:rPr lang="en-US" sz="1200" b="1" spc="200" kern="0" dirty="0">
                <a:solidFill>
                  <a:srgbClr val="A9BEE3"/>
                </a:solidFill>
                <a:latin typeface="Yu Gothic" pitchFamily="34" charset="0"/>
                <a:ea typeface="Yu Gothic" pitchFamily="34" charset="-122"/>
                <a:cs typeface="Yu Gothic" pitchFamily="34" charset="-120"/>
              </a:rPr>
              <a:t>NEXT ACTIONS</a:t>
            </a:r>
            <a:endParaRPr lang="en-US" sz="1200" dirty="0"/>
          </a:p>
        </p:txBody>
      </p:sp>
      <p:sp>
        <p:nvSpPr>
          <p:cNvPr id="5" name="Text 3"/>
          <p:cNvSpPr/>
          <p:nvPr/>
        </p:nvSpPr>
        <p:spPr>
          <a:xfrm>
            <a:off x="566928" y="914400"/>
            <a:ext cx="11027664" cy="713232"/>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今週やる5つのこと</a:t>
            </a:r>
            <a:endParaRPr lang="en-US" sz="3200" dirty="0"/>
          </a:p>
        </p:txBody>
      </p:sp>
      <p:sp>
        <p:nvSpPr>
          <p:cNvPr id="6" name="Shape 4"/>
          <p:cNvSpPr/>
          <p:nvPr/>
        </p:nvSpPr>
        <p:spPr>
          <a:xfrm>
            <a:off x="566928" y="1828800"/>
            <a:ext cx="11027664" cy="603504"/>
          </a:xfrm>
          <a:prstGeom prst="roundRect">
            <a:avLst>
              <a:gd name="adj" fmla="val 7576"/>
            </a:avLst>
          </a:prstGeom>
          <a:solidFill>
            <a:srgbClr val="212C48"/>
          </a:solidFill>
          <a:ln/>
        </p:spPr>
      </p:sp>
      <p:sp>
        <p:nvSpPr>
          <p:cNvPr id="7" name="Shape 5"/>
          <p:cNvSpPr/>
          <p:nvPr/>
        </p:nvSpPr>
        <p:spPr>
          <a:xfrm>
            <a:off x="804672" y="1947672"/>
            <a:ext cx="365760" cy="365760"/>
          </a:xfrm>
          <a:prstGeom prst="ellipse">
            <a:avLst/>
          </a:prstGeom>
          <a:solidFill>
            <a:srgbClr val="E0A03A"/>
          </a:solidFill>
          <a:ln/>
        </p:spPr>
      </p:sp>
      <p:sp>
        <p:nvSpPr>
          <p:cNvPr id="8" name="Text 6"/>
          <p:cNvSpPr/>
          <p:nvPr/>
        </p:nvSpPr>
        <p:spPr>
          <a:xfrm>
            <a:off x="804672" y="1947672"/>
            <a:ext cx="365760" cy="365760"/>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1</a:t>
            </a:r>
            <a:endParaRPr lang="en-US" sz="1300" dirty="0"/>
          </a:p>
        </p:txBody>
      </p:sp>
      <p:sp>
        <p:nvSpPr>
          <p:cNvPr id="9" name="Text 7"/>
          <p:cNvSpPr/>
          <p:nvPr/>
        </p:nvSpPr>
        <p:spPr>
          <a:xfrm>
            <a:off x="1353312" y="1828800"/>
            <a:ext cx="9930384" cy="603504"/>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本業の就業規則で副業可否を確認する（これが最初のゲート）</a:t>
            </a:r>
            <a:endParaRPr lang="en-US" sz="1400" dirty="0"/>
          </a:p>
        </p:txBody>
      </p:sp>
      <p:sp>
        <p:nvSpPr>
          <p:cNvPr id="10" name="Shape 8"/>
          <p:cNvSpPr/>
          <p:nvPr/>
        </p:nvSpPr>
        <p:spPr>
          <a:xfrm>
            <a:off x="566928" y="2505456"/>
            <a:ext cx="11027664" cy="603504"/>
          </a:xfrm>
          <a:prstGeom prst="roundRect">
            <a:avLst>
              <a:gd name="adj" fmla="val 7576"/>
            </a:avLst>
          </a:prstGeom>
          <a:solidFill>
            <a:srgbClr val="212C48"/>
          </a:solidFill>
          <a:ln/>
        </p:spPr>
      </p:sp>
      <p:sp>
        <p:nvSpPr>
          <p:cNvPr id="11" name="Shape 9"/>
          <p:cNvSpPr/>
          <p:nvPr/>
        </p:nvSpPr>
        <p:spPr>
          <a:xfrm>
            <a:off x="804672" y="2624328"/>
            <a:ext cx="365760" cy="365760"/>
          </a:xfrm>
          <a:prstGeom prst="ellipse">
            <a:avLst/>
          </a:prstGeom>
          <a:solidFill>
            <a:srgbClr val="E0A03A"/>
          </a:solidFill>
          <a:ln/>
        </p:spPr>
      </p:sp>
      <p:sp>
        <p:nvSpPr>
          <p:cNvPr id="12" name="Text 10"/>
          <p:cNvSpPr/>
          <p:nvPr/>
        </p:nvSpPr>
        <p:spPr>
          <a:xfrm>
            <a:off x="804672" y="2624328"/>
            <a:ext cx="365760" cy="365760"/>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2</a:t>
            </a:r>
            <a:endParaRPr lang="en-US" sz="1300" dirty="0"/>
          </a:p>
        </p:txBody>
      </p:sp>
      <p:sp>
        <p:nvSpPr>
          <p:cNvPr id="13" name="Text 11"/>
          <p:cNvSpPr/>
          <p:nvPr/>
        </p:nvSpPr>
        <p:spPr>
          <a:xfrm>
            <a:off x="1353312" y="2505456"/>
            <a:ext cx="9930384" cy="603504"/>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税務署に開業届を提出する（e-Taxで15分、無料）</a:t>
            </a:r>
            <a:endParaRPr lang="en-US" sz="1400" dirty="0"/>
          </a:p>
        </p:txBody>
      </p:sp>
      <p:sp>
        <p:nvSpPr>
          <p:cNvPr id="14" name="Shape 12"/>
          <p:cNvSpPr/>
          <p:nvPr/>
        </p:nvSpPr>
        <p:spPr>
          <a:xfrm>
            <a:off x="566928" y="3182112"/>
            <a:ext cx="11027664" cy="603504"/>
          </a:xfrm>
          <a:prstGeom prst="roundRect">
            <a:avLst>
              <a:gd name="adj" fmla="val 7576"/>
            </a:avLst>
          </a:prstGeom>
          <a:solidFill>
            <a:srgbClr val="212C48"/>
          </a:solidFill>
          <a:ln/>
        </p:spPr>
      </p:sp>
      <p:sp>
        <p:nvSpPr>
          <p:cNvPr id="15" name="Shape 13"/>
          <p:cNvSpPr/>
          <p:nvPr/>
        </p:nvSpPr>
        <p:spPr>
          <a:xfrm>
            <a:off x="804672" y="3300984"/>
            <a:ext cx="365760" cy="365760"/>
          </a:xfrm>
          <a:prstGeom prst="ellipse">
            <a:avLst/>
          </a:prstGeom>
          <a:solidFill>
            <a:srgbClr val="E0A03A"/>
          </a:solidFill>
          <a:ln/>
        </p:spPr>
      </p:sp>
      <p:sp>
        <p:nvSpPr>
          <p:cNvPr id="16" name="Text 14"/>
          <p:cNvSpPr/>
          <p:nvPr/>
        </p:nvSpPr>
        <p:spPr>
          <a:xfrm>
            <a:off x="804672" y="3300984"/>
            <a:ext cx="365760" cy="365760"/>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3</a:t>
            </a:r>
            <a:endParaRPr lang="en-US" sz="1300" dirty="0"/>
          </a:p>
        </p:txBody>
      </p:sp>
      <p:sp>
        <p:nvSpPr>
          <p:cNvPr id="17" name="Text 15"/>
          <p:cNvSpPr/>
          <p:nvPr/>
        </p:nvSpPr>
        <p:spPr>
          <a:xfrm>
            <a:off x="1353312" y="3182112"/>
            <a:ext cx="9930384" cy="603504"/>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身近な士業3人に「あなたの事務所名をChatGPTに聞いた結果」を手作業で作って見せる</a:t>
            </a:r>
            <a:endParaRPr lang="en-US" sz="1400" dirty="0"/>
          </a:p>
        </p:txBody>
      </p:sp>
      <p:sp>
        <p:nvSpPr>
          <p:cNvPr id="18" name="Shape 16"/>
          <p:cNvSpPr/>
          <p:nvPr/>
        </p:nvSpPr>
        <p:spPr>
          <a:xfrm>
            <a:off x="566928" y="3858768"/>
            <a:ext cx="11027664" cy="603504"/>
          </a:xfrm>
          <a:prstGeom prst="roundRect">
            <a:avLst>
              <a:gd name="adj" fmla="val 7576"/>
            </a:avLst>
          </a:prstGeom>
          <a:solidFill>
            <a:srgbClr val="212C48"/>
          </a:solidFill>
          <a:ln/>
        </p:spPr>
      </p:sp>
      <p:sp>
        <p:nvSpPr>
          <p:cNvPr id="19" name="Shape 17"/>
          <p:cNvSpPr/>
          <p:nvPr/>
        </p:nvSpPr>
        <p:spPr>
          <a:xfrm>
            <a:off x="804672" y="3977640"/>
            <a:ext cx="365760" cy="365760"/>
          </a:xfrm>
          <a:prstGeom prst="ellipse">
            <a:avLst/>
          </a:prstGeom>
          <a:solidFill>
            <a:srgbClr val="E0A03A"/>
          </a:solidFill>
          <a:ln/>
        </p:spPr>
      </p:sp>
      <p:sp>
        <p:nvSpPr>
          <p:cNvPr id="20" name="Text 18"/>
          <p:cNvSpPr/>
          <p:nvPr/>
        </p:nvSpPr>
        <p:spPr>
          <a:xfrm>
            <a:off x="804672" y="3977640"/>
            <a:ext cx="365760" cy="365760"/>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4</a:t>
            </a:r>
            <a:endParaRPr lang="en-US" sz="1300" dirty="0"/>
          </a:p>
        </p:txBody>
      </p:sp>
      <p:sp>
        <p:nvSpPr>
          <p:cNvPr id="21" name="Text 19"/>
          <p:cNvSpPr/>
          <p:nvPr/>
        </p:nvSpPr>
        <p:spPr>
          <a:xfrm>
            <a:off x="1353312" y="3858768"/>
            <a:ext cx="9930384" cy="603504"/>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OpenAI / Anthropic のAPIキーを取得し、士業向け診断プロンプトを30問書く</a:t>
            </a:r>
            <a:endParaRPr lang="en-US" sz="1400" dirty="0"/>
          </a:p>
        </p:txBody>
      </p:sp>
      <p:sp>
        <p:nvSpPr>
          <p:cNvPr id="22" name="Shape 20"/>
          <p:cNvSpPr/>
          <p:nvPr/>
        </p:nvSpPr>
        <p:spPr>
          <a:xfrm>
            <a:off x="566928" y="4535424"/>
            <a:ext cx="11027664" cy="603504"/>
          </a:xfrm>
          <a:prstGeom prst="roundRect">
            <a:avLst>
              <a:gd name="adj" fmla="val 7576"/>
            </a:avLst>
          </a:prstGeom>
          <a:solidFill>
            <a:srgbClr val="212C48"/>
          </a:solidFill>
          <a:ln/>
        </p:spPr>
      </p:sp>
      <p:sp>
        <p:nvSpPr>
          <p:cNvPr id="23" name="Shape 21"/>
          <p:cNvSpPr/>
          <p:nvPr/>
        </p:nvSpPr>
        <p:spPr>
          <a:xfrm>
            <a:off x="804672" y="4654296"/>
            <a:ext cx="365760" cy="365760"/>
          </a:xfrm>
          <a:prstGeom prst="ellipse">
            <a:avLst/>
          </a:prstGeom>
          <a:solidFill>
            <a:srgbClr val="E0A03A"/>
          </a:solidFill>
          <a:ln/>
        </p:spPr>
      </p:sp>
      <p:sp>
        <p:nvSpPr>
          <p:cNvPr id="24" name="Text 22"/>
          <p:cNvSpPr/>
          <p:nvPr/>
        </p:nvSpPr>
        <p:spPr>
          <a:xfrm>
            <a:off x="804672" y="4654296"/>
            <a:ext cx="365760" cy="365760"/>
          </a:xfrm>
          <a:prstGeom prst="rect">
            <a:avLst/>
          </a:prstGeom>
          <a:noFill/>
          <a:ln/>
        </p:spPr>
        <p:txBody>
          <a:bodyPr wrap="square" lIns="0" tIns="0" rIns="0" bIns="0" rtlCol="0" anchor="ctr"/>
          <a:lstStyle/>
          <a:p>
            <a:pPr algn="ctr" indent="0" marL="0">
              <a:buNone/>
            </a:pPr>
            <a:r>
              <a:rPr lang="en-US" sz="1300" b="1" dirty="0">
                <a:solidFill>
                  <a:srgbClr val="141A2E"/>
                </a:solidFill>
                <a:latin typeface="Yu Gothic" pitchFamily="34" charset="0"/>
                <a:ea typeface="Yu Gothic" pitchFamily="34" charset="-122"/>
                <a:cs typeface="Yu Gothic" pitchFamily="34" charset="-120"/>
              </a:rPr>
              <a:t>5</a:t>
            </a:r>
            <a:endParaRPr lang="en-US" sz="1300" dirty="0"/>
          </a:p>
        </p:txBody>
      </p:sp>
      <p:sp>
        <p:nvSpPr>
          <p:cNvPr id="25" name="Text 23"/>
          <p:cNvSpPr/>
          <p:nvPr/>
        </p:nvSpPr>
        <p:spPr>
          <a:xfrm>
            <a:off x="1353312" y="4535424"/>
            <a:ext cx="9930384" cy="603504"/>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ターゲット士業100社をリスト化する（Googleビジネスプロフィール・士業会名簿から）</a:t>
            </a:r>
            <a:endParaRPr lang="en-US" sz="1400" dirty="0"/>
          </a:p>
        </p:txBody>
      </p:sp>
      <p:sp>
        <p:nvSpPr>
          <p:cNvPr id="26" name="Shape 24"/>
          <p:cNvSpPr/>
          <p:nvPr/>
        </p:nvSpPr>
        <p:spPr>
          <a:xfrm>
            <a:off x="566928" y="5321808"/>
            <a:ext cx="11027664" cy="859536"/>
          </a:xfrm>
          <a:prstGeom prst="roundRect">
            <a:avLst>
              <a:gd name="adj" fmla="val 6383"/>
            </a:avLst>
          </a:prstGeom>
          <a:solidFill>
            <a:srgbClr val="2E3A5A"/>
          </a:solidFill>
          <a:ln/>
        </p:spPr>
      </p:sp>
      <p:sp>
        <p:nvSpPr>
          <p:cNvPr id="27" name="Text 25"/>
          <p:cNvSpPr/>
          <p:nvPr/>
        </p:nvSpPr>
        <p:spPr>
          <a:xfrm>
            <a:off x="877824" y="5321808"/>
            <a:ext cx="10405872" cy="859536"/>
          </a:xfrm>
          <a:prstGeom prst="rect">
            <a:avLst/>
          </a:prstGeom>
          <a:noFill/>
          <a:ln/>
        </p:spPr>
        <p:txBody>
          <a:bodyPr wrap="square" lIns="0" tIns="0" rIns="0" bIns="0" rtlCol="0" anchor="ctr"/>
          <a:lstStyle/>
          <a:p>
            <a:pPr indent="0" marL="0">
              <a:buNone/>
            </a:pPr>
            <a:r>
              <a:rPr lang="en-US" sz="1350" b="1" dirty="0">
                <a:solidFill>
                  <a:srgbClr val="E0A03A"/>
                </a:solidFill>
                <a:latin typeface="Yu Gothic" pitchFamily="34" charset="0"/>
                <a:ea typeface="Yu Gothic" pitchFamily="34" charset="-122"/>
                <a:cs typeface="Yu Gothic" pitchFamily="34" charset="-120"/>
              </a:rPr>
              <a:t>3の反応が鈍ければ、ターゲットをクリニックに切り替えて再検証する。</a:t>
            </a:r>
            <a:pPr indent="0" marL="0">
              <a:buNone/>
            </a:pPr>
            <a:r>
              <a:rPr lang="en-US" sz="1350" dirty="0">
                <a:solidFill>
                  <a:srgbClr val="FFFFFF"/>
                </a:solidFill>
                <a:latin typeface="Yu Gothic" pitchFamily="34" charset="0"/>
                <a:ea typeface="Yu Gothic" pitchFamily="34" charset="-122"/>
                <a:cs typeface="Yu Gothic" pitchFamily="34" charset="-120"/>
              </a:rPr>
              <a:t>　初期投資が小さいので、試行錯誤を3回回してもコストは10万円以下に収まる。</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副業ビジネス提案：AI検索可視化サービス</dc:title>
  <dc:subject>PptxGenJS Presentation</dc:subject>
  <dc:creator>Claude Code</dc:creator>
  <cp:lastModifiedBy>Claude Code</cp:lastModifiedBy>
  <cp:revision>1</cp:revision>
  <dcterms:created xsi:type="dcterms:W3CDTF">2026-08-23T03:43:41Z</dcterms:created>
  <dcterms:modified xsi:type="dcterms:W3CDTF">2026-08-23T03:43:41Z</dcterms:modified>
</cp:coreProperties>
</file>